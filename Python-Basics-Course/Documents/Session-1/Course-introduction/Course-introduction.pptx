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83D6B-F740-4F03-97CA-D0FF61CC12D0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C7642-C8FB-4A2E-9718-77E4315F2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97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687F9-FE4F-BDD3-C8B6-1595A1718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 rtl="1">
              <a:defRPr sz="5400">
                <a:solidFill>
                  <a:schemeClr val="bg1"/>
                </a:solidFill>
                <a:latin typeface="Lalezar" panose="00000500000000000000" pitchFamily="2" charset="-78"/>
                <a:cs typeface="Lalezar" panose="000005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BDBAA-B500-A0BA-8E25-457567C71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 rtl="1">
              <a:buNone/>
              <a:defRPr sz="2400">
                <a:solidFill>
                  <a:schemeClr val="bg1"/>
                </a:solidFill>
                <a:cs typeface="B Nazanin" panose="00000400000000000000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941-72D5-5CB4-BF43-FA08ACA0CE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9763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Lalezar" panose="00000500000000000000" pitchFamily="2" charset="-78"/>
                <a:cs typeface="Lalezar" panose="00000500000000000000" pitchFamily="2" charset="-78"/>
              </a:defRPr>
            </a:lvl1pPr>
          </a:lstStyle>
          <a:p>
            <a:pPr algn="ctr"/>
            <a:fld id="{38F62F65-82B2-41E9-ADA3-A2A807679032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ED954-64F3-87BF-5EC3-373847DE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76963"/>
            <a:ext cx="4114800" cy="544512"/>
          </a:xfrm>
        </p:spPr>
        <p:txBody>
          <a:bodyPr/>
          <a:lstStyle/>
          <a:p>
            <a:r>
              <a:rPr lang="fa-IR" b="1" dirty="0"/>
              <a:t>انجمن علمی دانشجویی اینترنت اشیا و هوش مصنوعی</a:t>
            </a:r>
            <a:r>
              <a:rPr lang="fa-IR" dirty="0"/>
              <a:t> </a:t>
            </a:r>
          </a:p>
          <a:p>
            <a:r>
              <a:rPr lang="fa-IR" b="1" dirty="0">
                <a:cs typeface="B Mitra" panose="00000400000000000000" pitchFamily="2" charset="-78"/>
              </a:rPr>
              <a:t>دانشگاه آزاد اسلامی واحد </a:t>
            </a:r>
            <a:r>
              <a:rPr lang="fa-IR" b="1" dirty="0" err="1">
                <a:cs typeface="B Mitra" panose="00000400000000000000" pitchFamily="2" charset="-78"/>
              </a:rPr>
              <a:t>يادگار</a:t>
            </a:r>
            <a:r>
              <a:rPr lang="fa-IR" b="1" dirty="0">
                <a:cs typeface="B Mitra" panose="00000400000000000000" pitchFamily="2" charset="-78"/>
              </a:rPr>
              <a:t> امام خمینی (ره) - شهرری</a:t>
            </a:r>
            <a:endParaRPr lang="en-US" b="1" dirty="0">
              <a:cs typeface="B Mitra" panose="00000400000000000000" pitchFamily="2" charset="-78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8BBB5-0BB7-6EAD-EEFB-26BB5128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11B119-309E-4455-8FBE-5C119A460238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98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2263-FD85-5851-4DAD-0AF02ED62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69C12-1D1C-0FE0-A225-44DE3725D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72F8D-E2F8-8D54-1058-1AE5442F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alezar" panose="00000500000000000000" pitchFamily="2" charset="-78"/>
                <a:cs typeface="Lalezar" panose="00000500000000000000" pitchFamily="2" charset="-78"/>
              </a:defRPr>
            </a:lvl1pPr>
          </a:lstStyle>
          <a:p>
            <a:fld id="{9CC4AE3A-EEDA-404C-B6D3-F9C9C1FB9EED}" type="datetime1">
              <a:rPr lang="en-US" smtClean="0"/>
              <a:t>12/14/2025</a:t>
            </a:fld>
            <a:endParaRPr lang="en-US" dirty="0">
              <a:latin typeface="Lalezar" panose="00000500000000000000" pitchFamily="2" charset="-78"/>
              <a:cs typeface="Lalezar" panose="00000500000000000000" pitchFamily="2" charset="-7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D7F2A-0C6B-A79D-E673-F7D06761E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dirty="0"/>
              <a:t>ا</a:t>
            </a:r>
            <a:r>
              <a:rPr lang="fa-IR" b="1" dirty="0"/>
              <a:t>نجمن علمی دانشجویی اینترنت اشیا و هوش مصنوعی</a:t>
            </a:r>
            <a:r>
              <a:rPr lang="fa-IR" dirty="0"/>
              <a:t> </a:t>
            </a:r>
          </a:p>
          <a:p>
            <a:r>
              <a:rPr lang="fa-IR" b="1" dirty="0">
                <a:cs typeface="B Mitra" panose="00000400000000000000" pitchFamily="2" charset="-78"/>
              </a:rPr>
              <a:t>دانشگاه آزاد اسلامی واحد </a:t>
            </a:r>
            <a:r>
              <a:rPr lang="fa-IR" b="1" dirty="0" err="1">
                <a:cs typeface="B Mitra" panose="00000400000000000000" pitchFamily="2" charset="-78"/>
              </a:rPr>
              <a:t>يادگار</a:t>
            </a:r>
            <a:r>
              <a:rPr lang="fa-IR" b="1" dirty="0">
                <a:cs typeface="B Mitra" panose="00000400000000000000" pitchFamily="2" charset="-78"/>
              </a:rPr>
              <a:t> امام خمینی (ره) - شهرری</a:t>
            </a:r>
            <a:endParaRPr lang="en-US" b="1" dirty="0">
              <a:cs typeface="B Mitra" panose="00000400000000000000" pitchFamily="2" charset="-78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2A4D7-59C8-1629-E47E-EB1DC1AB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alezar" panose="00000500000000000000" pitchFamily="2" charset="-78"/>
                <a:cs typeface="Lalezar" panose="00000500000000000000" pitchFamily="2" charset="-78"/>
              </a:defRPr>
            </a:lvl1pPr>
          </a:lstStyle>
          <a:p>
            <a:fld id="{D111B119-309E-4455-8FBE-5C119A460238}" type="slidenum">
              <a:rPr lang="en-US" smtClean="0"/>
              <a:pPr/>
              <a:t>‹#›</a:t>
            </a:fld>
            <a:endParaRPr lang="en-US" dirty="0">
              <a:latin typeface="Lalezar" panose="00000500000000000000" pitchFamily="2" charset="-78"/>
              <a:cs typeface="Lalezar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97644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117A-E828-4D52-6DFC-A20A8359A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9926E-A93B-DF53-E199-74356AFC6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148EA-EF59-4B70-FF85-F1661D85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B4213-7B2A-4527-8ABF-A3729533BA6D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164E0-61C5-3A92-2EB2-E6E39AFC6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انجمن علمی دانشجویی اینترنت اشیا و هوش مصنوعی  دانشگاه آزاد اسلامی واحد يادگار امام خمینی (ره) - شهرری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87FC1-7F71-9A01-AA3A-C8FC70441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71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CA54-C7F1-FF32-A359-69457E094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F4E1D-AD10-A6EE-5EC0-DC7E7E31C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9231A-B67D-F4E1-3C64-E9B7A108B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9FD02-9644-A492-B963-4E46D30E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88B83-D7FB-401B-A5E0-8D97799B3A69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4DDE7-8902-399A-45FE-7F48631D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انجمن علمی دانشجویی اینترنت اشیا و هوش مصنوعی  دانشگاه آزاد اسلامی واحد يادگار امام خمینی (ره) - شهرری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954DF-5502-5829-273A-B056FC516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59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A722-A01B-C0E7-F61B-D2DD1848A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1DA42-6977-6F11-72F8-1FFB119C8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4219A-3281-C85F-CBEB-4A2CD92F7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BD6983-E4A1-42E3-2868-D431D6704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4FC77-3428-4845-BD98-1B7B9FAAB8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430638-5B68-BC9B-CE58-E545AED65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91566-0874-46A6-84B6-FEF6E5594D86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7D76E-7144-0F04-3751-239D70BFF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انجمن علمی دانشجویی اینترنت اشیا و هوش مصنوعی  دانشگاه آزاد اسلامی واحد يادگار امام خمینی (ره) - شهرری 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7BA7DA-0455-7F73-201C-11DE902F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30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F5EB5-1976-0FD8-0C3A-099082C7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6D5BF-189E-A163-F6F4-26334C9A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3A9A-D3F2-40D5-9B40-D90EADBC4369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C85D9D-2E53-9C32-2253-6CC7459D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انجمن علمی دانشجویی اینترنت اشیا و هوش مصنوعی  دانشگاه آزاد اسلامی واحد يادگار امام خمینی (ره) - شهرری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C2EE8-F1F8-64F0-BFD4-9D5EE8E7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5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AC20BC-B58F-870E-DF9C-02594486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FAFB-C5DD-4C7D-AA64-B507DE26102C}" type="datetime1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4F9E49-75BA-2BB5-C977-306F7CB57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انجمن علمی دانشجویی اینترنت اشیا و هوش مصنوعی  دانشگاه آزاد اسلامی واحد يادگار امام خمینی (ره) - شهرری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2C2D0-A9D1-504E-9A3E-E98190219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65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236A0-8C4A-F637-8245-FD382853B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379A9-F447-D707-953D-0BAA38BD5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64E10-EEE9-A6B5-5231-5087A1F13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6361E-D07D-F0A2-36A4-41F2F501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6053A-677C-43A8-B32C-6B69C778B580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D79D0-9A06-1AC6-C3AE-9A232519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انجمن علمی دانشجویی اینترنت اشیا و هوش مصنوعی  دانشگاه آزاد اسلامی واحد يادگار امام خمینی (ره) - شهرری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EB6E-F03A-4370-A6BB-1C977381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4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4B5F-008B-7BE7-0687-38D007B5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8A766-5F62-508D-9802-04D67F87C3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D26F4-DB97-ADF6-85AE-8733490AE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621D8-6E26-ABBF-ED8C-09C124FD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BCA06-793B-43BD-B35C-27AB8746828E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343ED-B035-26F7-EDD9-2333EAE42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انجمن علمی دانشجویی اینترنت اشیا و هوش مصنوعی  دانشگاه آزاد اسلامی واحد يادگار امام خمینی (ره) - شهرری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4691C-0CDA-C5EC-51D6-54EBE0EA9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82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EDAA9-7C83-874D-C71E-DDA705CA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FEF10-DA39-4D1F-94E1-6B43A8242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05677-D6E2-B820-6932-6F541D378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5288-C1C2-49D4-847C-2CC4414F48EE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2857A-6AF3-6D56-4DB4-BA758D456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انجمن علمی دانشجویی اینترنت اشیا و هوش مصنوعی  دانشگاه آزاد اسلامی واحد يادگار امام خمینی (ره) - شهرری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0268D-175D-DD8B-5067-FA918FC8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8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BB1AE6-1795-9764-978C-4BBC242C5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A4E097-36DC-66AB-4CFA-99B826EA0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5B9E4-C509-B05D-9B16-FB7DCAE38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0ECF-D7D6-4F61-BF76-8494341F9D70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3C96E-9DBA-BCFE-1354-B8FB9B7B1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انجمن علمی دانشجویی اینترنت اشیا و هوش مصنوعی  دانشگاه آزاد اسلامی واحد يادگار امام خمینی (ره) - شهرری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29846-1C59-698E-10E2-4682D2E6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94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9EF3BB-CEDD-CAA8-B5DB-EBCFA178528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86ED04-9DE1-4BFA-C4FD-F6886763C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CC69B-C03E-F5E2-2C42-FDC146432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FBFE9-F8A3-CE5A-5150-5E3CC2741E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Lalezar" panose="00000500000000000000" pitchFamily="2" charset="-78"/>
                <a:cs typeface="Lalezar" panose="00000500000000000000" pitchFamily="2" charset="-78"/>
              </a:defRPr>
            </a:lvl1pPr>
          </a:lstStyle>
          <a:p>
            <a:fld id="{7FBE675D-F3F8-4D82-82C6-F1E43AAE531D}" type="datetime1">
              <a:rPr lang="en-US" smtClean="0"/>
              <a:t>12/14/2025</a:t>
            </a:fld>
            <a:endParaRPr lang="en-US" dirty="0">
              <a:latin typeface="Lalezar" panose="00000500000000000000" pitchFamily="2" charset="-78"/>
              <a:cs typeface="Lalezar" panose="00000500000000000000" pitchFamily="2" charset="-7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E0447-BCEC-5DC6-A6D6-1CCBCA062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20619"/>
            <a:ext cx="4114800" cy="5445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cs typeface="B Titr" panose="00000700000000000000" pitchFamily="2" charset="-78"/>
              </a:defRPr>
            </a:lvl1pPr>
          </a:lstStyle>
          <a:p>
            <a:r>
              <a:rPr lang="fa-IR"/>
              <a:t>انجمن علمی دانشجویی اینترنت اشیا و هوش مصنوعی  دانشگاه آزاد اسلامی واحد يادگار امام خمینی (ره) - شهرری </a:t>
            </a:r>
            <a:endParaRPr lang="en-US" b="1" dirty="0">
              <a:cs typeface="B Mitra" panose="00000400000000000000" pitchFamily="2" charset="-7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66902-0258-992A-A264-D9C049D4B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Lalezar" panose="00000500000000000000" pitchFamily="2" charset="-78"/>
                <a:cs typeface="Lalezar" panose="00000500000000000000" pitchFamily="2" charset="-78"/>
              </a:defRPr>
            </a:lvl1pPr>
          </a:lstStyle>
          <a:p>
            <a:fld id="{D111B119-309E-4455-8FBE-5C119A460238}" type="slidenum">
              <a:rPr lang="en-US" smtClean="0"/>
              <a:pPr/>
              <a:t>‹#›</a:t>
            </a:fld>
            <a:endParaRPr lang="en-US" dirty="0">
              <a:latin typeface="Lalezar" panose="00000500000000000000" pitchFamily="2" charset="-78"/>
              <a:cs typeface="Lalezar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1332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5400" kern="1200" baseline="0">
          <a:solidFill>
            <a:schemeClr val="bg1"/>
          </a:solidFill>
          <a:latin typeface="Lalezar" panose="00000500000000000000" pitchFamily="2" charset="-78"/>
          <a:ea typeface="+mj-ea"/>
          <a:cs typeface="B Titr" panose="00000700000000000000" pitchFamily="2" charset="-78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/>
          </a:solidFill>
          <a:latin typeface="+mn-lt"/>
          <a:ea typeface="+mn-ea"/>
          <a:cs typeface="B Nazanin" panose="00000400000000000000" pitchFamily="2" charset="-78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/>
          </a:solidFill>
          <a:latin typeface="+mn-lt"/>
          <a:ea typeface="+mn-ea"/>
          <a:cs typeface="B Nazanin" panose="00000400000000000000" pitchFamily="2" charset="-78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/>
          </a:solidFill>
          <a:latin typeface="+mn-lt"/>
          <a:ea typeface="+mn-ea"/>
          <a:cs typeface="B Nazanin" panose="00000400000000000000" pitchFamily="2" charset="-78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/>
          </a:solidFill>
          <a:latin typeface="+mn-lt"/>
          <a:ea typeface="+mn-ea"/>
          <a:cs typeface="B Nazanin" panose="00000400000000000000" pitchFamily="2" charset="-78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/>
          </a:solidFill>
          <a:latin typeface="+mn-lt"/>
          <a:ea typeface="+mn-ea"/>
          <a:cs typeface="B Nazanin" panose="00000400000000000000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microsoft.com/office/2007/relationships/hdphoto" Target="../media/hdphoto2.wdp"/><Relationship Id="rId4" Type="http://schemas.openxmlformats.org/officeDocument/2006/relationships/image" Target="../media/image4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EA6C-3131-2953-B7DD-E90D29713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4552" y="2715841"/>
            <a:ext cx="4182893" cy="922406"/>
          </a:xfrm>
        </p:spPr>
        <p:txBody>
          <a:bodyPr/>
          <a:lstStyle/>
          <a:p>
            <a:r>
              <a:rPr lang="fa-IR" dirty="0">
                <a:solidFill>
                  <a:srgbClr val="FFFF00"/>
                </a:solidFill>
              </a:rPr>
              <a:t>پایتون مقدماتی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F2754-847C-1242-119B-3DCCEF2BF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4552" y="3680956"/>
            <a:ext cx="3949277" cy="443572"/>
          </a:xfrm>
        </p:spPr>
        <p:txBody>
          <a:bodyPr/>
          <a:lstStyle/>
          <a:p>
            <a:pPr algn="r"/>
            <a:r>
              <a:rPr lang="fa-IR" dirty="0">
                <a:latin typeface="Lalezar" panose="00000500000000000000" pitchFamily="2" charset="-78"/>
                <a:cs typeface="Lalezar" panose="00000500000000000000" pitchFamily="2" charset="-78"/>
              </a:rPr>
              <a:t>مدرس : پوریا لاری</a:t>
            </a:r>
          </a:p>
        </p:txBody>
      </p:sp>
      <p:pic>
        <p:nvPicPr>
          <p:cNvPr id="1026" name="Picture 2" descr="صفحه اصلی - آتکوتوسعه">
            <a:extLst>
              <a:ext uri="{FF2B5EF4-FFF2-40B4-BE49-F238E27FC236}">
                <a16:creationId xmlns:a16="http://schemas.microsoft.com/office/drawing/2014/main" id="{07390A07-C8D0-D29B-6878-4C5F5A974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919" y="760802"/>
            <a:ext cx="2062162" cy="182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814DE11-CFBA-3E1F-619D-35C3BE29C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7158" y="206325"/>
            <a:ext cx="1108953" cy="110895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BC902EC-5858-7CA0-D81F-67FB3EB416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9009" y="5897217"/>
            <a:ext cx="1280920" cy="72731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7AC5287-8C0A-7FE1-CBA0-C358B557362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46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5784" y="4167237"/>
            <a:ext cx="1280427" cy="1280427"/>
          </a:xfrm>
          <a:prstGeom prst="rect">
            <a:avLst/>
          </a:prstGeom>
        </p:spPr>
      </p:pic>
      <p:pic>
        <p:nvPicPr>
          <p:cNvPr id="1028" name="Picture 4" descr="دانشگاه آزاد اسلامی - از مشتریان طراحی آنلاین">
            <a:extLst>
              <a:ext uri="{FF2B5EF4-FFF2-40B4-BE49-F238E27FC236}">
                <a16:creationId xmlns:a16="http://schemas.microsoft.com/office/drawing/2014/main" id="{6F4B784F-5E96-8E3A-76FB-0469F6ED2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350" y="0"/>
            <a:ext cx="1819637" cy="1819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E6B91F6D-02D9-8C91-8931-BD94C100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pPr/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878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5313-6937-2D4E-D9F2-4A881B3C7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صفحه اصلی - آتکوتوسعه">
            <a:extLst>
              <a:ext uri="{FF2B5EF4-FFF2-40B4-BE49-F238E27FC236}">
                <a16:creationId xmlns:a16="http://schemas.microsoft.com/office/drawing/2014/main" id="{2488F4EF-81C7-F1B3-3856-D98C0C6BF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459" y="272257"/>
            <a:ext cx="7127081" cy="631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AD1D3F-4287-73F1-C7F7-B1C6BFD67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4265" y="1215728"/>
            <a:ext cx="4182893" cy="922406"/>
          </a:xfrm>
        </p:spPr>
        <p:txBody>
          <a:bodyPr/>
          <a:lstStyle/>
          <a:p>
            <a:r>
              <a:rPr lang="fa-IR" dirty="0">
                <a:solidFill>
                  <a:srgbClr val="FFFF00"/>
                </a:solidFill>
              </a:rPr>
              <a:t>پایتون مقدماتی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84046-902A-A590-8FAC-7FAD92387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4265" y="2138134"/>
            <a:ext cx="3946650" cy="443572"/>
          </a:xfrm>
        </p:spPr>
        <p:txBody>
          <a:bodyPr/>
          <a:lstStyle/>
          <a:p>
            <a:pPr algn="r"/>
            <a:r>
              <a:rPr lang="fa-IR" dirty="0">
                <a:latin typeface="Lalezar" panose="00000500000000000000" pitchFamily="2" charset="-78"/>
                <a:cs typeface="Lalezar" panose="00000500000000000000" pitchFamily="2" charset="-78"/>
              </a:rPr>
              <a:t>مدرس : پوریا لاری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3161AFA-53D4-FD06-577A-24FC3BA82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6211" y="3156825"/>
            <a:ext cx="2020824" cy="202082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D4376A2-7412-B394-3C5B-5B8070B29B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8668" y="3429000"/>
            <a:ext cx="2743200" cy="1557623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369997A-0C96-2374-4840-CF6E3B74802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46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654" y="7253192"/>
            <a:ext cx="1280427" cy="128042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3D6F7-AF70-357B-A84A-F892C84A1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21229" cy="365125"/>
          </a:xfrm>
        </p:spPr>
        <p:txBody>
          <a:bodyPr/>
          <a:lstStyle/>
          <a:p>
            <a:pPr algn="ctr"/>
            <a:fld id="{104E6BFE-560C-4611-B2D5-1A323EFB16D7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8D5CF-3D78-EA5B-EFD1-67A1130A7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 b="1"/>
              <a:t>انجمن علمی دانشجویی اینترنت اشیا و هوش مصنوعی</a:t>
            </a:r>
            <a:r>
              <a:rPr lang="fa-IR"/>
              <a:t> </a:t>
            </a:r>
          </a:p>
          <a:p>
            <a:r>
              <a:rPr lang="fa-IR" b="1">
                <a:cs typeface="B Mitra" panose="00000400000000000000" pitchFamily="2" charset="-78"/>
              </a:rPr>
              <a:t>دانشگاه آزاد اسلامی واحد يادگار امام خمینی (ره) - شهرری</a:t>
            </a:r>
            <a:endParaRPr lang="en-US" b="1">
              <a:cs typeface="B Mitra" panose="00000400000000000000" pitchFamily="2" charset="-78"/>
            </a:endParaRP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AD8005-8B14-DB63-C8AB-14D8A5EFF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pPr/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642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صفحه اصلی - آتکوتوسعه">
            <a:extLst>
              <a:ext uri="{FF2B5EF4-FFF2-40B4-BE49-F238E27FC236}">
                <a16:creationId xmlns:a16="http://schemas.microsoft.com/office/drawing/2014/main" id="{3F9DE48A-CAF3-2584-0795-70D1BCD6F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459" y="272257"/>
            <a:ext cx="7127081" cy="631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CB29DB-F55E-B527-E509-8B5DB7AFB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err="1"/>
              <a:t>سرفصل</a:t>
            </a:r>
            <a:r>
              <a:rPr lang="fa-IR" dirty="0"/>
              <a:t> ها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9FFF5-E8F1-C165-EB83-470D06E4F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دستورات پایه</a:t>
            </a:r>
          </a:p>
          <a:p>
            <a:r>
              <a:rPr lang="fa-IR" dirty="0" err="1"/>
              <a:t>متغیرها</a:t>
            </a:r>
            <a:r>
              <a:rPr lang="fa-IR" dirty="0"/>
              <a:t> و انواع داده</a:t>
            </a:r>
          </a:p>
          <a:p>
            <a:r>
              <a:rPr lang="fa-IR" dirty="0"/>
              <a:t> </a:t>
            </a:r>
            <a:r>
              <a:rPr lang="fa-IR" dirty="0" err="1"/>
              <a:t>شرط‌ها</a:t>
            </a:r>
            <a:r>
              <a:rPr lang="fa-IR" dirty="0"/>
              <a:t> و </a:t>
            </a:r>
            <a:r>
              <a:rPr lang="fa-IR" dirty="0" err="1"/>
              <a:t>حلقه‌ها</a:t>
            </a:r>
            <a:endParaRPr lang="fa-IR" dirty="0"/>
          </a:p>
          <a:p>
            <a:r>
              <a:rPr lang="fa-IR" dirty="0"/>
              <a:t> لیست و </a:t>
            </a:r>
            <a:r>
              <a:rPr lang="fa-IR" dirty="0" err="1"/>
              <a:t>دیکشنری</a:t>
            </a:r>
            <a:endParaRPr lang="fa-IR" dirty="0"/>
          </a:p>
          <a:p>
            <a:r>
              <a:rPr lang="fa-IR" dirty="0"/>
              <a:t>مدیریت خطاها</a:t>
            </a:r>
            <a:endParaRPr lang="en-US" dirty="0"/>
          </a:p>
          <a:p>
            <a:r>
              <a:rPr lang="fa-IR" dirty="0"/>
              <a:t>تابع و متد</a:t>
            </a:r>
          </a:p>
          <a:p>
            <a:r>
              <a:rPr lang="fa-IR" dirty="0"/>
              <a:t>آشنایی با کتابخانه ها</a:t>
            </a:r>
          </a:p>
          <a:p>
            <a:r>
              <a:rPr lang="fa-IR" dirty="0"/>
              <a:t> </a:t>
            </a:r>
            <a:r>
              <a:rPr lang="fa-IR" dirty="0" err="1"/>
              <a:t>پروژه‌های</a:t>
            </a:r>
            <a:r>
              <a:rPr lang="fa-IR" dirty="0"/>
              <a:t> کوچک پایانی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0FD4E-9EC0-BE8B-4220-449E146E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C0E8-6D8C-41DD-BA1F-0518F10EB8AF}" type="datetime1">
              <a:rPr lang="en-US" smtClean="0"/>
              <a:t>12/14/2025</a:t>
            </a:fld>
            <a:endParaRPr lang="en-US" dirty="0">
              <a:latin typeface="Lalezar" panose="00000500000000000000" pitchFamily="2" charset="-78"/>
              <a:cs typeface="Lalezar" panose="00000500000000000000" pitchFamily="2" charset="-7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BE0AB-AB58-AFB1-37D1-B9753421B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</a:t>
            </a:r>
            <a:r>
              <a:rPr lang="fa-IR" b="1"/>
              <a:t>نجمن علمی دانشجویی اینترنت اشیا و هوش مصنوعی</a:t>
            </a:r>
            <a:r>
              <a:rPr lang="fa-IR"/>
              <a:t> </a:t>
            </a:r>
          </a:p>
          <a:p>
            <a:r>
              <a:rPr lang="fa-IR" b="1">
                <a:cs typeface="B Mitra" panose="00000400000000000000" pitchFamily="2" charset="-78"/>
              </a:rPr>
              <a:t>دانشگاه آزاد اسلامی واحد يادگار امام خمینی (ره) - شهرری</a:t>
            </a:r>
            <a:endParaRPr lang="en-US" b="1">
              <a:cs typeface="B Mitra" panose="00000400000000000000" pitchFamily="2" charset="-78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36A07-1D02-F8C4-722A-A4DD5982F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pPr/>
              <a:t>3</a:t>
            </a:fld>
            <a:endParaRPr lang="en-US" dirty="0">
              <a:latin typeface="Lalezar" panose="00000500000000000000" pitchFamily="2" charset="-78"/>
              <a:cs typeface="Lalezar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34112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FEEDB-9A07-06E3-17A2-5D3754067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صفحه اصلی - آتکوتوسعه">
            <a:extLst>
              <a:ext uri="{FF2B5EF4-FFF2-40B4-BE49-F238E27FC236}">
                <a16:creationId xmlns:a16="http://schemas.microsoft.com/office/drawing/2014/main" id="{7231D522-1B07-D6F8-375D-7FC00C8DB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459" y="272257"/>
            <a:ext cx="7127081" cy="631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704467-8852-6F24-202A-662C8CDBA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این دوره برای چه کسانی است؟‌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16087-4776-9D7D-D486-6B1B8A260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افرادی که این </a:t>
            </a:r>
            <a:r>
              <a:rPr lang="fa-IR" dirty="0" err="1"/>
              <a:t>ترم</a:t>
            </a:r>
            <a:r>
              <a:rPr lang="fa-IR" dirty="0"/>
              <a:t> درس مبانی </a:t>
            </a:r>
            <a:r>
              <a:rPr lang="fa-IR" dirty="0" err="1"/>
              <a:t>کامیپوتر</a:t>
            </a:r>
            <a:r>
              <a:rPr lang="fa-IR" dirty="0"/>
              <a:t> و برنامه </a:t>
            </a:r>
            <a:r>
              <a:rPr lang="fa-IR" dirty="0" err="1"/>
              <a:t>برنامه</a:t>
            </a:r>
            <a:r>
              <a:rPr lang="fa-IR" dirty="0"/>
              <a:t> سازی با زبان پایتون دارند</a:t>
            </a:r>
          </a:p>
          <a:p>
            <a:r>
              <a:rPr lang="fa-IR" dirty="0"/>
              <a:t>افرادی که هیچگونه آشنایی با </a:t>
            </a:r>
            <a:r>
              <a:rPr lang="fa-IR" dirty="0" err="1"/>
              <a:t>کامیپوتر</a:t>
            </a:r>
            <a:r>
              <a:rPr lang="fa-IR" dirty="0"/>
              <a:t> ندارند</a:t>
            </a:r>
          </a:p>
          <a:p>
            <a:r>
              <a:rPr lang="fa-IR" dirty="0"/>
              <a:t>افرادی که این درس را به طور کامل یاد نگرفتند</a:t>
            </a:r>
          </a:p>
          <a:p>
            <a:r>
              <a:rPr lang="fa-IR" dirty="0"/>
              <a:t>افرادی که قصد ورود به دنیای برنامه </a:t>
            </a:r>
            <a:r>
              <a:rPr lang="fa-IR" dirty="0" err="1"/>
              <a:t>نویسی</a:t>
            </a:r>
            <a:r>
              <a:rPr lang="fa-IR" dirty="0"/>
              <a:t> به ویژه هوش مصنوعی را دارند </a:t>
            </a:r>
          </a:p>
          <a:p>
            <a:pPr marL="0" indent="0">
              <a:buNone/>
            </a:pPr>
            <a:r>
              <a:rPr lang="fa-IR" dirty="0"/>
              <a:t>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4A290-543E-CB87-5DD1-681EE816B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C0E8-6D8C-41DD-BA1F-0518F10EB8AF}" type="datetime1">
              <a:rPr lang="en-US" smtClean="0"/>
              <a:t>12/14/2025</a:t>
            </a:fld>
            <a:endParaRPr lang="en-US" dirty="0">
              <a:latin typeface="Lalezar" panose="00000500000000000000" pitchFamily="2" charset="-78"/>
              <a:cs typeface="Lalezar" panose="00000500000000000000" pitchFamily="2" charset="-7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A8D26-442E-89C1-2BED-B311CF653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</a:t>
            </a:r>
            <a:r>
              <a:rPr lang="fa-IR" b="1"/>
              <a:t>نجمن علمی دانشجویی اینترنت اشیا و هوش مصنوعی</a:t>
            </a:r>
            <a:r>
              <a:rPr lang="fa-IR"/>
              <a:t> </a:t>
            </a:r>
          </a:p>
          <a:p>
            <a:r>
              <a:rPr lang="fa-IR" b="1">
                <a:cs typeface="B Mitra" panose="00000400000000000000" pitchFamily="2" charset="-78"/>
              </a:rPr>
              <a:t>دانشگاه آزاد اسلامی واحد يادگار امام خمینی (ره) - شهرری</a:t>
            </a:r>
            <a:endParaRPr lang="en-US" b="1">
              <a:cs typeface="B Mitra" panose="00000400000000000000" pitchFamily="2" charset="-78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1B0CB-DD49-675E-39A4-A8252201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pPr/>
              <a:t>4</a:t>
            </a:fld>
            <a:endParaRPr lang="en-US" dirty="0">
              <a:latin typeface="Lalezar" panose="00000500000000000000" pitchFamily="2" charset="-78"/>
              <a:cs typeface="Lalezar" panose="000005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D41CD-30AA-9CF0-E769-2788D17C0C03}"/>
              </a:ext>
            </a:extLst>
          </p:cNvPr>
          <p:cNvSpPr txBox="1"/>
          <p:nvPr/>
        </p:nvSpPr>
        <p:spPr>
          <a:xfrm>
            <a:off x="4719535" y="4546043"/>
            <a:ext cx="2752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5400" dirty="0">
                <a:solidFill>
                  <a:srgbClr val="C00000"/>
                </a:solidFill>
                <a:latin typeface="Lalezar" panose="00000500000000000000" pitchFamily="2" charset="-78"/>
                <a:cs typeface="Lalezar" panose="00000500000000000000" pitchFamily="2" charset="-78"/>
              </a:rPr>
              <a:t>برای همه</a:t>
            </a:r>
            <a:endParaRPr lang="en-US" sz="5400" dirty="0">
              <a:solidFill>
                <a:srgbClr val="C00000"/>
              </a:solidFill>
              <a:latin typeface="Lalezar" panose="00000500000000000000" pitchFamily="2" charset="-78"/>
              <a:cs typeface="Lalezar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17360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3DFFC-5628-A54F-F92B-C7CC7CF81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صفحه اصلی - آتکوتوسعه">
            <a:extLst>
              <a:ext uri="{FF2B5EF4-FFF2-40B4-BE49-F238E27FC236}">
                <a16:creationId xmlns:a16="http://schemas.microsoft.com/office/drawing/2014/main" id="{9FDE174D-E57E-32FF-D018-A50465E3B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459" y="272257"/>
            <a:ext cx="7127081" cy="631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F736EE-5D36-4C41-22E9-C6E11B6A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این دوره برای چه کسانی نیست؟‌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D61BD-7747-7FF1-7979-61208D822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 err="1"/>
              <a:t>پایتون</a:t>
            </a:r>
            <a:r>
              <a:rPr lang="fa-IR" dirty="0"/>
              <a:t> انتخاب بدی نیست؛ </a:t>
            </a:r>
            <a:r>
              <a:rPr lang="fa-IR" dirty="0" err="1"/>
              <a:t>انتخابِ</a:t>
            </a:r>
            <a:r>
              <a:rPr lang="fa-IR" dirty="0"/>
              <a:t> </a:t>
            </a:r>
            <a:r>
              <a:rPr lang="fa-IR" dirty="0" err="1"/>
              <a:t>نابه‌جا</a:t>
            </a:r>
            <a:r>
              <a:rPr lang="fa-IR" dirty="0"/>
              <a:t> بد است.</a:t>
            </a:r>
          </a:p>
          <a:p>
            <a:r>
              <a:rPr lang="fa-IR" dirty="0"/>
              <a:t>انتخاب شما باید بر پایه هدف باشد نه </a:t>
            </a:r>
            <a:r>
              <a:rPr lang="fa-IR"/>
              <a:t>محبوبیت زبان: </a:t>
            </a:r>
            <a:endParaRPr lang="fa-IR" dirty="0"/>
          </a:p>
          <a:p>
            <a:pPr marL="514350" indent="-514350">
              <a:buFont typeface="+mj-lt"/>
              <a:buAutoNum type="arabicPeriod"/>
            </a:pPr>
            <a:r>
              <a:rPr lang="fa-IR" dirty="0"/>
              <a:t>وقتی سرعت حرف اول را در هدف شما میزند</a:t>
            </a:r>
          </a:p>
          <a:p>
            <a:pPr marL="514350" indent="-514350">
              <a:buFont typeface="+mj-lt"/>
              <a:buAutoNum type="arabicPeriod"/>
            </a:pPr>
            <a:r>
              <a:rPr lang="fa-IR" dirty="0"/>
              <a:t>وقتی کنترل منابع باید با دقت بسیار بالاتری باشد </a:t>
            </a:r>
          </a:p>
          <a:p>
            <a:pPr marL="514350" indent="-514350">
              <a:buFont typeface="+mj-lt"/>
              <a:buAutoNum type="arabicPeriod"/>
            </a:pPr>
            <a:r>
              <a:rPr lang="fa-IR" dirty="0"/>
              <a:t>وقتی که محدودیت زمانی بسیار </a:t>
            </a:r>
            <a:r>
              <a:rPr lang="fa-IR" dirty="0" err="1"/>
              <a:t>سخت‌گیرانه</a:t>
            </a:r>
            <a:r>
              <a:rPr lang="fa-IR" dirty="0"/>
              <a:t> داریم</a:t>
            </a:r>
          </a:p>
          <a:p>
            <a:pPr marL="514350" indent="-514350">
              <a:buFont typeface="+mj-lt"/>
              <a:buAutoNum type="arabicPeriod"/>
            </a:pPr>
            <a:r>
              <a:rPr lang="fa-IR" dirty="0"/>
              <a:t>وقتی که پایداری از هر چیزی مهم تر باشد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2981-2B0A-66BB-8E08-1BD087DF0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C0E8-6D8C-41DD-BA1F-0518F10EB8AF}" type="datetime1">
              <a:rPr lang="en-US" smtClean="0"/>
              <a:t>12/14/2025</a:t>
            </a:fld>
            <a:endParaRPr lang="en-US" dirty="0">
              <a:latin typeface="Lalezar" panose="00000500000000000000" pitchFamily="2" charset="-78"/>
              <a:cs typeface="Lalezar" panose="00000500000000000000" pitchFamily="2" charset="-7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0A077-4E11-1E99-DE7C-463AAB0ED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</a:t>
            </a:r>
            <a:r>
              <a:rPr lang="fa-IR" b="1"/>
              <a:t>نجمن علمی دانشجویی اینترنت اشیا و هوش مصنوعی</a:t>
            </a:r>
            <a:r>
              <a:rPr lang="fa-IR"/>
              <a:t> </a:t>
            </a:r>
          </a:p>
          <a:p>
            <a:r>
              <a:rPr lang="fa-IR" b="1">
                <a:cs typeface="B Mitra" panose="00000400000000000000" pitchFamily="2" charset="-78"/>
              </a:rPr>
              <a:t>دانشگاه آزاد اسلامی واحد يادگار امام خمینی (ره) - شهرری</a:t>
            </a:r>
            <a:endParaRPr lang="en-US" b="1">
              <a:cs typeface="B Mitra" panose="00000400000000000000" pitchFamily="2" charset="-78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73015-FC17-33B9-C4CB-ECD44F4C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pPr/>
              <a:t>5</a:t>
            </a:fld>
            <a:endParaRPr lang="en-US" dirty="0">
              <a:latin typeface="Lalezar" panose="00000500000000000000" pitchFamily="2" charset="-78"/>
              <a:cs typeface="Lalezar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445823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9E8E-EFD7-F001-2C95-601AD8F6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صفحه اصلی - آتکوتوسعه">
            <a:extLst>
              <a:ext uri="{FF2B5EF4-FFF2-40B4-BE49-F238E27FC236}">
                <a16:creationId xmlns:a16="http://schemas.microsoft.com/office/drawing/2014/main" id="{838A2036-1D92-6D2E-DF4D-EE623A455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459" y="272257"/>
            <a:ext cx="7127081" cy="631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DCE187-9A20-1716-1905-71075C356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منابع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EFB7D-56C9-3F12-FCAE-DBB60FFF2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86119"/>
          </a:xfrm>
        </p:spPr>
        <p:txBody>
          <a:bodyPr/>
          <a:lstStyle/>
          <a:p>
            <a:r>
              <a:rPr lang="fa-IR" dirty="0" err="1"/>
              <a:t>داکیومنت</a:t>
            </a:r>
            <a:r>
              <a:rPr lang="fa-IR" dirty="0"/>
              <a:t> رسمی پایتون:</a:t>
            </a:r>
          </a:p>
          <a:p>
            <a:pPr marL="0" indent="0" algn="l" rtl="0">
              <a:buNone/>
            </a:pP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</a:t>
            </a:r>
            <a:endParaRPr lang="fa-IR" dirty="0"/>
          </a:p>
          <a:p>
            <a:r>
              <a:rPr lang="fa-IR" dirty="0"/>
              <a:t>کتاب </a:t>
            </a:r>
            <a:endParaRPr lang="en-US" dirty="0"/>
          </a:p>
          <a:p>
            <a:pPr marL="0" indent="0" algn="l" rtl="0">
              <a:buNone/>
            </a:pPr>
            <a:r>
              <a:rPr lang="en-US" b="1" dirty="0"/>
              <a:t>The professional programmer’s Deitel® guide to Python® with introductory artificial intelligence case studies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22672-153B-FF6C-5426-5491D3088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8C0E8-6D8C-41DD-BA1F-0518F10EB8AF}" type="datetime1">
              <a:rPr lang="en-US" smtClean="0"/>
              <a:t>12/14/2025</a:t>
            </a:fld>
            <a:endParaRPr lang="en-US" dirty="0">
              <a:latin typeface="Lalezar" panose="00000500000000000000" pitchFamily="2" charset="-78"/>
              <a:cs typeface="Lalezar" panose="00000500000000000000" pitchFamily="2" charset="-7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21B7C-7C62-8732-3EFA-47DAB04CD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a-IR"/>
              <a:t>ا</a:t>
            </a:r>
            <a:r>
              <a:rPr lang="fa-IR" b="1"/>
              <a:t>نجمن علمی دانشجویی اینترنت اشیا و هوش مصنوعی</a:t>
            </a:r>
            <a:r>
              <a:rPr lang="fa-IR"/>
              <a:t> </a:t>
            </a:r>
          </a:p>
          <a:p>
            <a:r>
              <a:rPr lang="fa-IR" b="1">
                <a:cs typeface="B Mitra" panose="00000400000000000000" pitchFamily="2" charset="-78"/>
              </a:rPr>
              <a:t>دانشگاه آزاد اسلامی واحد يادگار امام خمینی (ره) - شهرری</a:t>
            </a:r>
            <a:endParaRPr lang="en-US" b="1">
              <a:cs typeface="B Mitra" panose="00000400000000000000" pitchFamily="2" charset="-78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055E-2713-E9AF-FB56-DFD100E0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1B119-309E-4455-8FBE-5C119A460238}" type="slidenum">
              <a:rPr lang="en-US" smtClean="0"/>
              <a:pPr/>
              <a:t>6</a:t>
            </a:fld>
            <a:endParaRPr lang="en-US" dirty="0">
              <a:latin typeface="Lalezar" panose="00000500000000000000" pitchFamily="2" charset="-78"/>
              <a:cs typeface="Lalezar" panose="00000500000000000000" pitchFamily="2" charset="-78"/>
            </a:endParaRPr>
          </a:p>
        </p:txBody>
      </p:sp>
      <p:pic>
        <p:nvPicPr>
          <p:cNvPr id="2050" name="Picture 2" descr="Python for Programmers - Deitel &amp; Associates, Inc.">
            <a:extLst>
              <a:ext uri="{FF2B5EF4-FFF2-40B4-BE49-F238E27FC236}">
                <a16:creationId xmlns:a16="http://schemas.microsoft.com/office/drawing/2014/main" id="{07522C30-8E9E-7285-B3EA-41EF9568A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4558" y="3853293"/>
            <a:ext cx="1775283" cy="2323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1009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303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 Mitra</vt:lpstr>
      <vt:lpstr>B Nazanin</vt:lpstr>
      <vt:lpstr>Calibri</vt:lpstr>
      <vt:lpstr>Lalezar</vt:lpstr>
      <vt:lpstr>Office Theme</vt:lpstr>
      <vt:lpstr>پایتون مقدماتی</vt:lpstr>
      <vt:lpstr>پایتون مقدماتی</vt:lpstr>
      <vt:lpstr>سرفصل ها</vt:lpstr>
      <vt:lpstr>این دوره برای چه کسانی است؟‌</vt:lpstr>
      <vt:lpstr>این دوره برای چه کسانی نیست؟‌</vt:lpstr>
      <vt:lpstr>منابع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Pooria Lari</dc:creator>
  <cp:lastModifiedBy>Pooria Lari</cp:lastModifiedBy>
  <cp:revision>2</cp:revision>
  <dcterms:created xsi:type="dcterms:W3CDTF">2025-12-14T09:32:22Z</dcterms:created>
  <dcterms:modified xsi:type="dcterms:W3CDTF">2025-12-14T14:55:50Z</dcterms:modified>
</cp:coreProperties>
</file>