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21"/>
  </p:notesMasterIdLst>
  <p:handoutMasterIdLst>
    <p:handoutMasterId r:id="rId22"/>
  </p:handout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43" autoAdjust="0"/>
    <p:restoredTop sz="94595" autoAdjust="0"/>
  </p:normalViewPr>
  <p:slideViewPr>
    <p:cSldViewPr showGuides="1">
      <p:cViewPr varScale="1">
        <p:scale>
          <a:sx n="68" d="100"/>
          <a:sy n="68" d="100"/>
        </p:scale>
        <p:origin x="96" y="278"/>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81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12/11/2025</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12/11/2025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BF81A0-ADA6-4623-BE4F-40CFB8BBCB3D}" type="slidenum">
              <a:rPr lang="en-US" smtClean="0"/>
              <a:t>1</a:t>
            </a:fld>
            <a:endParaRPr lang="en-US"/>
          </a:p>
        </p:txBody>
      </p:sp>
    </p:spTree>
    <p:extLst>
      <p:ext uri="{BB962C8B-B14F-4D97-AF65-F5344CB8AC3E}">
        <p14:creationId xmlns:p14="http://schemas.microsoft.com/office/powerpoint/2010/main" val="285590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17</a:t>
            </a:fld>
            <a:endParaRPr lang="en-US"/>
          </a:p>
        </p:txBody>
      </p:sp>
    </p:spTree>
    <p:extLst>
      <p:ext uri="{BB962C8B-B14F-4D97-AF65-F5344CB8AC3E}">
        <p14:creationId xmlns:p14="http://schemas.microsoft.com/office/powerpoint/2010/main" val="25993732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descr="Stack of books"/>
          <p:cNvGrpSpPr/>
          <p:nvPr userDrawn="1"/>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26044" cy="6858000"/>
              <a:chOff x="0" y="0"/>
              <a:chExt cx="4726044" cy="6858000"/>
            </a:xfrm>
          </p:grpSpPr>
          <p:pic>
            <p:nvPicPr>
              <p:cNvPr id="9" name="Picture 8"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588884"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42E3C847-D284-421D-B330-2D43513B0F9C}" type="datetime1">
              <a:rPr lang="en-US" smtClean="0"/>
              <a:t>12/11/2025</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440517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7309" y="685800"/>
            <a:ext cx="10157354" cy="5486400"/>
          </a:xfrm>
        </p:spPr>
        <p:txBody>
          <a:bodyPr/>
          <a:lstStyle>
            <a:lvl5pPr>
              <a:defRPr/>
            </a:lvl5pPr>
            <a:lvl6pPr>
              <a:defRPr/>
            </a:lvl6pPr>
            <a:lvl7pPr>
              <a:defRPr baseline="0"/>
            </a:lvl7pPr>
            <a:lvl8pPr>
              <a:defRPr baseline="0"/>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Date Placeholder 10">
            <a:extLst>
              <a:ext uri="{FF2B5EF4-FFF2-40B4-BE49-F238E27FC236}">
                <a16:creationId xmlns:a16="http://schemas.microsoft.com/office/drawing/2014/main" id="{7CA814AD-0FFA-495D-ABE9-8AD10F434AFE}"/>
              </a:ext>
            </a:extLst>
          </p:cNvPr>
          <p:cNvSpPr>
            <a:spLocks noGrp="1"/>
          </p:cNvSpPr>
          <p:nvPr>
            <p:ph type="dt" sz="half" idx="10"/>
          </p:nvPr>
        </p:nvSpPr>
        <p:spPr/>
        <p:txBody>
          <a:bodyPr/>
          <a:lstStyle/>
          <a:p>
            <a:fld id="{72EBFD46-0FD3-4428-ADEC-1DFD6489930D}" type="datetime1">
              <a:rPr lang="en-US" smtClean="0"/>
              <a:t>12/11/2025</a:t>
            </a:fld>
            <a:endParaRPr lang="en-US"/>
          </a:p>
        </p:txBody>
      </p:sp>
      <p:sp>
        <p:nvSpPr>
          <p:cNvPr id="12" name="Footer Placeholder 11">
            <a:extLst>
              <a:ext uri="{FF2B5EF4-FFF2-40B4-BE49-F238E27FC236}">
                <a16:creationId xmlns:a16="http://schemas.microsoft.com/office/drawing/2014/main" id="{6203233C-6BB2-B6CA-27CA-D1AF37AE2662}"/>
              </a:ext>
            </a:extLst>
          </p:cNvPr>
          <p:cNvSpPr>
            <a:spLocks noGrp="1"/>
          </p:cNvSpPr>
          <p:nvPr>
            <p:ph type="ftr" sz="quarter" idx="11"/>
          </p:nvPr>
        </p:nvSpPr>
        <p:spPr/>
        <p:txBody>
          <a:bodyPr/>
          <a:lstStyle/>
          <a:p>
            <a:r>
              <a:rPr lang="en-US"/>
              <a:t>Add a footer</a:t>
            </a:r>
            <a:endParaRPr lang="en-US" dirty="0"/>
          </a:p>
        </p:txBody>
      </p:sp>
      <p:sp>
        <p:nvSpPr>
          <p:cNvPr id="13" name="Slide Number Placeholder 12">
            <a:extLst>
              <a:ext uri="{FF2B5EF4-FFF2-40B4-BE49-F238E27FC236}">
                <a16:creationId xmlns:a16="http://schemas.microsoft.com/office/drawing/2014/main" id="{0B6D0474-A374-8B49-4EAD-2013D815479C}"/>
              </a:ext>
            </a:extLst>
          </p:cNvPr>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235897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E8F41008-E89D-49CD-9BF4-E6F3FE09F7AC}" type="datetime1">
              <a:rPr lang="en-US" smtClean="0"/>
              <a:t>12/11/2025</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7272354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6C9E199F-4583-41EB-929F-5865E95EECAA}" type="datetime1">
              <a:rPr lang="en-US" smtClean="0"/>
              <a:t>12/11/2025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70174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DE652EB-356C-4482-B27C-7C8E08F5D88F}" type="datetime1">
              <a:rPr lang="en-US" smtClean="0"/>
              <a:t>12/11/2025</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4746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1B0895E-43C3-4560-B59A-90049317E860}" type="datetime1">
              <a:rPr lang="en-US" smtClean="0"/>
              <a:t>12/11/2025</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81024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778C32-B81D-4A68-A851-5185C690F024}" type="datetime1">
              <a:rPr lang="en-US" smtClean="0"/>
              <a:t>12/11/2025</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66448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1765D79-EF31-4E8F-A1BE-AF31805C2859}" type="datetime1">
              <a:rPr lang="en-US" smtClean="0"/>
              <a:t>12/11/2025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28012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32FBA3B-941F-4778-A0CB-865223FDAE69}" type="datetime1">
              <a:rPr lang="en-US" smtClean="0"/>
              <a:t>12/11/2025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147819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F6987518-40ED-4895-8580-DE2A722FC423}" type="datetime1">
              <a:rPr lang="en-US" smtClean="0"/>
              <a:t>12/11/2025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96022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1117309" y="274638"/>
            <a:ext cx="8532178" cy="58975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A8D9F34-BDBC-4273-B9BC-22458F940BE7}" type="datetime1">
              <a:rPr lang="en-US" smtClean="0"/>
              <a:t>12/11/2025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3982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72EBFD46-0FD3-4428-ADEC-1DFD6489930D}" type="datetime1">
              <a:rPr lang="en-US" smtClean="0"/>
              <a:t>12/11/2025</a:t>
            </a:fld>
            <a:endParaRPr lang="en-US"/>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dirty="0"/>
              <a:t>Add a footer</a:t>
            </a:r>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414278595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6pPr>
      <a:lvl7pPr marL="2864619"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7pPr>
      <a:lvl8pPr marL="3291264"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8pPr>
      <a:lvl9pPr marL="3474112" indent="0" algn="l" defTabSz="1218987" rtl="0" eaLnBrk="1" latinLnBrk="0" hangingPunct="1">
        <a:lnSpc>
          <a:spcPct val="95000"/>
        </a:lnSpc>
        <a:spcBef>
          <a:spcPts val="1066"/>
        </a:spcBef>
        <a:buClr>
          <a:schemeClr val="accent6">
            <a:lumMod val="50000"/>
          </a:schemeClr>
        </a:buClr>
        <a:buSzPct val="90000"/>
        <a:buFont typeface="Century Gothic" pitchFamily="34" charset="0"/>
        <a:buNone/>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rtl="1"/>
            <a:r>
              <a:rPr lang="fa-IR" dirty="0">
                <a:cs typeface="B Nazanin" panose="00000400000000000000" pitchFamily="2" charset="-78"/>
              </a:rPr>
              <a:t>کارگاه مقاله </a:t>
            </a:r>
            <a:r>
              <a:rPr lang="fa-IR" dirty="0" err="1">
                <a:cs typeface="B Nazanin" panose="00000400000000000000" pitchFamily="2" charset="-78"/>
              </a:rPr>
              <a:t>نویسی</a:t>
            </a:r>
            <a:br>
              <a:rPr lang="fa-IR" dirty="0">
                <a:cs typeface="B Nazanin" panose="00000400000000000000" pitchFamily="2" charset="-78"/>
              </a:rPr>
            </a:br>
            <a:r>
              <a:rPr lang="fa-IR" sz="3200" dirty="0">
                <a:cs typeface="B Nazanin" panose="00000400000000000000" pitchFamily="2" charset="-78"/>
              </a:rPr>
              <a:t>بخش دوم</a:t>
            </a:r>
            <a:endParaRPr lang="en-US" sz="3200" dirty="0">
              <a:cs typeface="B Nazanin" panose="00000400000000000000" pitchFamily="2" charset="-78"/>
            </a:endParaRPr>
          </a:p>
        </p:txBody>
      </p:sp>
      <p:sp>
        <p:nvSpPr>
          <p:cNvPr id="3" name="Subtitle 2"/>
          <p:cNvSpPr>
            <a:spLocks noGrp="1"/>
          </p:cNvSpPr>
          <p:nvPr>
            <p:ph type="subTitle" idx="1"/>
          </p:nvPr>
        </p:nvSpPr>
        <p:spPr/>
        <p:txBody>
          <a:bodyPr>
            <a:normAutofit/>
          </a:bodyPr>
          <a:lstStyle/>
          <a:p>
            <a:pPr algn="r" rtl="1"/>
            <a:r>
              <a:rPr lang="fa-IR" dirty="0">
                <a:cs typeface="B Nazanin" panose="00000400000000000000" pitchFamily="2" charset="-78"/>
              </a:rPr>
              <a:t>محمدرضا احمدی</a:t>
            </a:r>
          </a:p>
          <a:p>
            <a:pPr algn="r" rtl="1"/>
            <a:r>
              <a:rPr lang="fa-IR" dirty="0">
                <a:cs typeface="B Nazanin" panose="00000400000000000000" pitchFamily="2" charset="-78"/>
              </a:rPr>
              <a:t>سجاد ثقفی</a:t>
            </a:r>
            <a:endParaRPr lang="en-US" dirty="0">
              <a:cs typeface="B Nazanin" panose="00000400000000000000" pitchFamily="2" charset="-78"/>
            </a:endParaRPr>
          </a:p>
        </p:txBody>
      </p:sp>
      <p:pic>
        <p:nvPicPr>
          <p:cNvPr id="5" name="Picture 4" descr="A white symbol with a black background&#10;&#10;AI-generated content may be incorrect.">
            <a:extLst>
              <a:ext uri="{FF2B5EF4-FFF2-40B4-BE49-F238E27FC236}">
                <a16:creationId xmlns:a16="http://schemas.microsoft.com/office/drawing/2014/main" id="{1CCE4181-5CD4-1428-0B59-D7339A7BD5BF}"/>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841315" y="152400"/>
            <a:ext cx="7276228" cy="4038600"/>
          </a:xfrm>
          <a:prstGeom prst="rect">
            <a:avLst/>
          </a:prstGeom>
        </p:spPr>
      </p:pic>
      <p:pic>
        <p:nvPicPr>
          <p:cNvPr id="7" name="Picture 6" descr="A blue and black logo&#10;&#10;AI-generated content may be incorrect.">
            <a:extLst>
              <a:ext uri="{FF2B5EF4-FFF2-40B4-BE49-F238E27FC236}">
                <a16:creationId xmlns:a16="http://schemas.microsoft.com/office/drawing/2014/main" id="{DDEFDF50-489C-5D34-05C6-88F270CC06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8788" y="-253999"/>
            <a:ext cx="1752600" cy="1752600"/>
          </a:xfrm>
          <a:prstGeom prst="rect">
            <a:avLst/>
          </a:prstGeom>
        </p:spPr>
      </p:pic>
    </p:spTree>
    <p:extLst>
      <p:ext uri="{BB962C8B-B14F-4D97-AF65-F5344CB8AC3E}">
        <p14:creationId xmlns:p14="http://schemas.microsoft.com/office/powerpoint/2010/main" val="17366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4EB13-2E1D-A1BA-6345-E4955D381664}"/>
              </a:ext>
            </a:extLst>
          </p:cNvPr>
          <p:cNvSpPr>
            <a:spLocks noGrp="1"/>
          </p:cNvSpPr>
          <p:nvPr>
            <p:ph idx="1"/>
          </p:nvPr>
        </p:nvSpPr>
        <p:spPr>
          <a:xfrm>
            <a:off x="1370012" y="304800"/>
            <a:ext cx="10157354" cy="762000"/>
          </a:xfrm>
        </p:spPr>
        <p:txBody>
          <a:bodyPr>
            <a:normAutofit fontScale="92500" lnSpcReduction="20000"/>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Mitra" pitchFamily="2" charset="-78"/>
                <a:cs typeface="B Mitra" pitchFamily="2" charset="-78"/>
              </a:rPr>
              <a:t>نحوه درست نگارش مقاله</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793BF661-0600-8844-CF88-FE923CA36867}"/>
              </a:ext>
            </a:extLst>
          </p:cNvPr>
          <p:cNvSpPr txBox="1"/>
          <p:nvPr/>
        </p:nvSpPr>
        <p:spPr>
          <a:xfrm>
            <a:off x="531812" y="1066800"/>
            <a:ext cx="10995554" cy="2548390"/>
          </a:xfrm>
          <a:prstGeom prst="rect">
            <a:avLst/>
          </a:prstGeom>
          <a:noFill/>
        </p:spPr>
        <p:txBody>
          <a:bodyPr wrap="square" rtlCol="0">
            <a:spAutoFit/>
          </a:bodyPr>
          <a:lstStyle/>
          <a:p>
            <a:pPr algn="r">
              <a:lnSpc>
                <a:spcPct val="95000"/>
              </a:lnSpc>
            </a:pPr>
            <a:r>
              <a:rPr lang="fa-IR" dirty="0">
                <a:latin typeface="B Nazanin" pitchFamily="2" charset="-78"/>
                <a:cs typeface="B Nazanin" pitchFamily="2" charset="-78"/>
              </a:rPr>
              <a:t> نگارش صحیح مقاله علمی یک مهارت کلیدی برای پژوهشگران است و ساختار استانداردی دارد که رعایت آن باعث پذیرش </a:t>
            </a:r>
            <a:r>
              <a:rPr lang="fa-IR" dirty="0" err="1">
                <a:latin typeface="B Nazanin" pitchFamily="2" charset="-78"/>
                <a:cs typeface="B Nazanin" pitchFamily="2" charset="-78"/>
              </a:rPr>
              <a:t>راحت‌تر</a:t>
            </a:r>
            <a:r>
              <a:rPr lang="fa-IR" dirty="0">
                <a:latin typeface="B Nazanin" pitchFamily="2" charset="-78"/>
                <a:cs typeface="B Nazanin" pitchFamily="2" charset="-78"/>
              </a:rPr>
              <a:t> در مجلات معتبر </a:t>
            </a:r>
            <a:r>
              <a:rPr lang="fa-IR" dirty="0" err="1">
                <a:latin typeface="B Nazanin" pitchFamily="2" charset="-78"/>
                <a:cs typeface="B Nazanin" pitchFamily="2" charset="-78"/>
              </a:rPr>
              <a:t>می‌شود</a:t>
            </a:r>
            <a:r>
              <a:rPr lang="fa-IR" dirty="0">
                <a:latin typeface="B Nazanin" pitchFamily="2" charset="-78"/>
                <a:cs typeface="B Nazanin" pitchFamily="2" charset="-78"/>
              </a:rPr>
              <a:t>.</a:t>
            </a:r>
          </a:p>
          <a:p>
            <a:pPr algn="r">
              <a:lnSpc>
                <a:spcPct val="95000"/>
              </a:lnSpc>
            </a:pPr>
            <a:r>
              <a:rPr lang="fa-IR" dirty="0">
                <a:latin typeface="B Nazanin" pitchFamily="2" charset="-78"/>
                <a:cs typeface="B Nazanin" pitchFamily="2" charset="-78"/>
              </a:rPr>
              <a:t>هر مجله یا کنفرانس یک چهارچوب و فرمت مشخص را در اختیار نویسندگان قرار </a:t>
            </a:r>
            <a:r>
              <a:rPr lang="fa-IR" dirty="0" err="1">
                <a:latin typeface="B Nazanin" pitchFamily="2" charset="-78"/>
                <a:cs typeface="B Nazanin" pitchFamily="2" charset="-78"/>
              </a:rPr>
              <a:t>می‌دهد</a:t>
            </a:r>
            <a:r>
              <a:rPr lang="fa-IR" dirty="0">
                <a:latin typeface="B Nazanin" pitchFamily="2" charset="-78"/>
                <a:cs typeface="B Nazanin" pitchFamily="2" charset="-78"/>
              </a:rPr>
              <a:t> که رعایت آن برای پژوهشگران </a:t>
            </a:r>
            <a:r>
              <a:rPr lang="fa-IR" dirty="0" err="1">
                <a:latin typeface="B Nazanin" pitchFamily="2" charset="-78"/>
                <a:cs typeface="B Nazanin" pitchFamily="2" charset="-78"/>
              </a:rPr>
              <a:t>الزامی</a:t>
            </a:r>
            <a:r>
              <a:rPr lang="fa-IR" dirty="0">
                <a:latin typeface="B Nazanin" pitchFamily="2" charset="-78"/>
                <a:cs typeface="B Nazanin" pitchFamily="2" charset="-78"/>
              </a:rPr>
              <a:t> است. این چهارچوب شامل نوع </a:t>
            </a:r>
            <a:r>
              <a:rPr lang="fa-IR" dirty="0" err="1">
                <a:latin typeface="B Nazanin" pitchFamily="2" charset="-78"/>
                <a:cs typeface="B Nazanin" pitchFamily="2" charset="-78"/>
              </a:rPr>
              <a:t>فونت</a:t>
            </a:r>
            <a:r>
              <a:rPr lang="fa-IR" dirty="0">
                <a:latin typeface="B Nazanin" pitchFamily="2" charset="-78"/>
                <a:cs typeface="B Nazanin" pitchFamily="2" charset="-78"/>
              </a:rPr>
              <a:t>، اندازه </a:t>
            </a:r>
            <a:r>
              <a:rPr lang="fa-IR" dirty="0" err="1">
                <a:latin typeface="B Nazanin" pitchFamily="2" charset="-78"/>
                <a:cs typeface="B Nazanin" pitchFamily="2" charset="-78"/>
              </a:rPr>
              <a:t>فونت</a:t>
            </a:r>
            <a:r>
              <a:rPr lang="fa-IR" dirty="0">
                <a:latin typeface="B Nazanin" pitchFamily="2" charset="-78"/>
                <a:cs typeface="B Nazanin" pitchFamily="2" charset="-78"/>
              </a:rPr>
              <a:t>، محل قرارگیری جداول ، تصاویر و نمودار ها، نحوه ارجاع دهی و... </a:t>
            </a:r>
            <a:r>
              <a:rPr lang="fa-IR" dirty="0" err="1">
                <a:latin typeface="B Nazanin" pitchFamily="2" charset="-78"/>
                <a:cs typeface="B Nazanin" pitchFamily="2" charset="-78"/>
              </a:rPr>
              <a:t>می‌باشد</a:t>
            </a:r>
            <a:r>
              <a:rPr lang="fa-IR" dirty="0">
                <a:latin typeface="B Nazanin" pitchFamily="2" charset="-78"/>
                <a:cs typeface="B Nazanin" pitchFamily="2" charset="-78"/>
              </a:rPr>
              <a:t>.</a:t>
            </a:r>
          </a:p>
          <a:p>
            <a:pPr algn="r">
              <a:lnSpc>
                <a:spcPct val="95000"/>
              </a:lnSpc>
            </a:pPr>
            <a:endParaRPr lang="fa-IR" dirty="0">
              <a:latin typeface="B Nazanin" pitchFamily="2" charset="-78"/>
              <a:cs typeface="B Nazanin" pitchFamily="2" charset="-78"/>
            </a:endParaRPr>
          </a:p>
          <a:p>
            <a:pPr algn="r">
              <a:lnSpc>
                <a:spcPct val="95000"/>
              </a:lnSpc>
            </a:pPr>
            <a:endParaRPr lang="en-US" dirty="0"/>
          </a:p>
        </p:txBody>
      </p:sp>
      <p:pic>
        <p:nvPicPr>
          <p:cNvPr id="5" name="Picture 4" descr="A paper with text on it&#10;&#10;AI-generated content may be incorrect.">
            <a:extLst>
              <a:ext uri="{FF2B5EF4-FFF2-40B4-BE49-F238E27FC236}">
                <a16:creationId xmlns:a16="http://schemas.microsoft.com/office/drawing/2014/main" id="{53E07FDD-60E6-D867-7D4E-A769C094F2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8389" y="2895600"/>
            <a:ext cx="3962400" cy="3810000"/>
          </a:xfrm>
          <a:prstGeom prst="rect">
            <a:avLst/>
          </a:prstGeom>
        </p:spPr>
      </p:pic>
      <p:pic>
        <p:nvPicPr>
          <p:cNvPr id="4" name="Picture 3" descr="A white symbol with a black background&#10;&#10;AI-generated content may be incorrect.">
            <a:extLst>
              <a:ext uri="{FF2B5EF4-FFF2-40B4-BE49-F238E27FC236}">
                <a16:creationId xmlns:a16="http://schemas.microsoft.com/office/drawing/2014/main" id="{7E0DFF33-85F3-D271-1803-E7978BF08F7E}"/>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85125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77B422-94DA-4E9A-B38C-1EF39E9440A3}"/>
              </a:ext>
            </a:extLst>
          </p:cNvPr>
          <p:cNvSpPr>
            <a:spLocks noGrp="1"/>
          </p:cNvSpPr>
          <p:nvPr>
            <p:ph idx="1"/>
          </p:nvPr>
        </p:nvSpPr>
        <p:spPr>
          <a:xfrm>
            <a:off x="1446212" y="152400"/>
            <a:ext cx="10157354" cy="1066800"/>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Mitra" pitchFamily="2" charset="-78"/>
                <a:cs typeface="B Mitra" pitchFamily="2" charset="-78"/>
              </a:rPr>
              <a:t>ساختار استاندارد مقاله علمی </a:t>
            </a:r>
            <a:r>
              <a:rPr lang="en-US" sz="5400" dirty="0">
                <a:solidFill>
                  <a:schemeClr val="accent2">
                    <a:lumMod val="50000"/>
                  </a:schemeClr>
                </a:solidFill>
                <a:latin typeface="Times New Roman" panose="02020603050405020304" pitchFamily="18" charset="0"/>
                <a:cs typeface="Times New Roman" panose="02020603050405020304" pitchFamily="18" charset="0"/>
              </a:rPr>
              <a:t>(</a:t>
            </a:r>
            <a:r>
              <a:rPr lang="en-US" sz="5400" dirty="0" err="1">
                <a:solidFill>
                  <a:schemeClr val="accent2">
                    <a:lumMod val="50000"/>
                  </a:schemeClr>
                </a:solidFill>
                <a:latin typeface="Times New Roman" panose="02020603050405020304" pitchFamily="18" charset="0"/>
                <a:cs typeface="Times New Roman" panose="02020603050405020304" pitchFamily="18" charset="0"/>
              </a:rPr>
              <a:t>IMRaD</a:t>
            </a:r>
            <a:r>
              <a:rPr lang="en-US" sz="5400" dirty="0">
                <a:solidFill>
                  <a:schemeClr val="accent2">
                    <a:lumMod val="50000"/>
                  </a:schemeClr>
                </a:solidFill>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B79D430E-839A-5EEC-C9E7-1023BB0E0F37}"/>
              </a:ext>
            </a:extLst>
          </p:cNvPr>
          <p:cNvSpPr txBox="1"/>
          <p:nvPr/>
        </p:nvSpPr>
        <p:spPr>
          <a:xfrm>
            <a:off x="596635" y="1371600"/>
            <a:ext cx="10995554" cy="3254737"/>
          </a:xfrm>
          <a:prstGeom prst="rect">
            <a:avLst/>
          </a:prstGeom>
          <a:noFill/>
        </p:spPr>
        <p:txBody>
          <a:bodyPr wrap="square" rtlCol="0">
            <a:spAutoFit/>
          </a:bodyPr>
          <a:lstStyle/>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عنوان </a:t>
            </a:r>
            <a:r>
              <a:rPr lang="en-US" sz="2000" dirty="0">
                <a:latin typeface="Aptos" panose="020B0004020202020204" pitchFamily="34" charset="0"/>
                <a:cs typeface="B Nazanin" pitchFamily="2" charset="-78"/>
              </a:rPr>
              <a:t>(Title)</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چکیده </a:t>
            </a:r>
            <a:r>
              <a:rPr lang="en-US" sz="2000" dirty="0">
                <a:latin typeface="Aptos" panose="020B0004020202020204" pitchFamily="34" charset="0"/>
                <a:cs typeface="B Nazanin" pitchFamily="2" charset="-78"/>
              </a:rPr>
              <a:t>(Abstract)</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err="1">
                <a:latin typeface="B Nazanin" pitchFamily="2" charset="-78"/>
                <a:cs typeface="B Nazanin" pitchFamily="2" charset="-78"/>
              </a:rPr>
              <a:t>کلیدواژه</a:t>
            </a:r>
            <a:r>
              <a:rPr lang="fa-IR" dirty="0">
                <a:latin typeface="B Nazanin" pitchFamily="2" charset="-78"/>
                <a:cs typeface="B Nazanin" pitchFamily="2" charset="-78"/>
              </a:rPr>
              <a:t> ها </a:t>
            </a:r>
            <a:r>
              <a:rPr lang="en-US" sz="2000" dirty="0">
                <a:latin typeface="Aptos" panose="020B0004020202020204" pitchFamily="34" charset="0"/>
                <a:cs typeface="B Nazanin" pitchFamily="2" charset="-78"/>
              </a:rPr>
              <a:t>(Keywords)</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مقدمه </a:t>
            </a:r>
            <a:r>
              <a:rPr lang="en-US" sz="2000" dirty="0">
                <a:latin typeface="Aptos" panose="020B0004020202020204" pitchFamily="34" charset="0"/>
                <a:cs typeface="B Nazanin" pitchFamily="2" charset="-78"/>
              </a:rPr>
              <a:t>(Introduction)</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روش تحقیق </a:t>
            </a:r>
            <a:r>
              <a:rPr lang="en-US" sz="2000" dirty="0">
                <a:latin typeface="Aptos" panose="020B0004020202020204" pitchFamily="34" charset="0"/>
                <a:cs typeface="B Nazanin" pitchFamily="2" charset="-78"/>
              </a:rPr>
              <a:t>(Methodology)</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نتایج </a:t>
            </a:r>
            <a:r>
              <a:rPr lang="en-US" sz="2000" dirty="0">
                <a:latin typeface="Aptos" panose="020B0004020202020204" pitchFamily="34" charset="0"/>
                <a:cs typeface="B Nazanin" pitchFamily="2" charset="-78"/>
              </a:rPr>
              <a:t>(Results)</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بحث </a:t>
            </a:r>
            <a:r>
              <a:rPr lang="en-US" sz="2000" dirty="0">
                <a:latin typeface="Aptos" panose="020B0004020202020204" pitchFamily="34" charset="0"/>
                <a:cs typeface="B Nazanin" pitchFamily="2" charset="-78"/>
              </a:rPr>
              <a:t>(Discussion)</a:t>
            </a:r>
            <a:endParaRPr lang="fa-IR" sz="2000" dirty="0">
              <a:latin typeface="Aptos" panose="020B0004020202020204" pitchFamily="34" charset="0"/>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نتیجه گیری </a:t>
            </a:r>
            <a:r>
              <a:rPr lang="en-US" sz="2000" dirty="0">
                <a:latin typeface="Aptos" panose="020B0004020202020204" pitchFamily="34" charset="0"/>
                <a:cs typeface="B Nazanin" pitchFamily="2" charset="-78"/>
              </a:rPr>
              <a:t>(Conclusion)</a:t>
            </a: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مراجع </a:t>
            </a:r>
            <a:r>
              <a:rPr lang="en-US" sz="2000" dirty="0">
                <a:latin typeface="Aptos" panose="020B0004020202020204" pitchFamily="34" charset="0"/>
                <a:cs typeface="B Nazanin" pitchFamily="2" charset="-78"/>
              </a:rPr>
              <a:t>(References)</a:t>
            </a:r>
          </a:p>
        </p:txBody>
      </p:sp>
      <p:pic>
        <p:nvPicPr>
          <p:cNvPr id="7" name="Picture 6">
            <a:extLst>
              <a:ext uri="{FF2B5EF4-FFF2-40B4-BE49-F238E27FC236}">
                <a16:creationId xmlns:a16="http://schemas.microsoft.com/office/drawing/2014/main" id="{2859B71A-17D3-5976-E2D4-5C175D81F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212" y="1574800"/>
            <a:ext cx="5689600" cy="3708400"/>
          </a:xfrm>
          <a:prstGeom prst="rect">
            <a:avLst/>
          </a:prstGeom>
        </p:spPr>
      </p:pic>
      <p:pic>
        <p:nvPicPr>
          <p:cNvPr id="4" name="Picture 3" descr="A white symbol with a black background&#10;&#10;AI-generated content may be incorrect.">
            <a:extLst>
              <a:ext uri="{FF2B5EF4-FFF2-40B4-BE49-F238E27FC236}">
                <a16:creationId xmlns:a16="http://schemas.microsoft.com/office/drawing/2014/main" id="{A6BE9A59-2B5E-1033-C559-BBB181D48AAF}"/>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3273428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38FBFB-AAE2-113C-C0A4-B10BA799B2C6}"/>
              </a:ext>
            </a:extLst>
          </p:cNvPr>
          <p:cNvSpPr>
            <a:spLocks noGrp="1"/>
          </p:cNvSpPr>
          <p:nvPr>
            <p:ph idx="1"/>
          </p:nvPr>
        </p:nvSpPr>
        <p:spPr>
          <a:xfrm>
            <a:off x="1446212" y="76200"/>
            <a:ext cx="10157354" cy="54864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None/>
            </a:pPr>
            <a:r>
              <a:rPr lang="fa-IR" sz="5400" dirty="0">
                <a:solidFill>
                  <a:schemeClr val="accent2">
                    <a:lumMod val="50000"/>
                  </a:schemeClr>
                </a:solidFill>
                <a:latin typeface="B Mitra" pitchFamily="2" charset="-78"/>
                <a:cs typeface="B Mitra" pitchFamily="2" charset="-78"/>
              </a:rPr>
              <a:t>چطور نگارش مقاله را شروع کنیم؟</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3F643031-5DD3-BFAE-6D11-44B3EA7F1863}"/>
              </a:ext>
            </a:extLst>
          </p:cNvPr>
          <p:cNvSpPr txBox="1"/>
          <p:nvPr/>
        </p:nvSpPr>
        <p:spPr>
          <a:xfrm>
            <a:off x="531812" y="1143000"/>
            <a:ext cx="11071754" cy="4653582"/>
          </a:xfrm>
          <a:prstGeom prst="rect">
            <a:avLst/>
          </a:prstGeom>
          <a:noFill/>
        </p:spPr>
        <p:txBody>
          <a:bodyPr wrap="square" rtlCol="0">
            <a:spAutoFit/>
          </a:bodyPr>
          <a:lstStyle/>
          <a:p>
            <a:pPr marL="0" algn="r" defTabSz="1218987" rtl="1" eaLnBrk="1" latinLnBrk="0" hangingPunct="1">
              <a:lnSpc>
                <a:spcPct val="95000"/>
              </a:lnSpc>
            </a:pPr>
            <a:r>
              <a:rPr lang="fa-IR" dirty="0">
                <a:latin typeface="B Nazanin" pitchFamily="2" charset="-78"/>
                <a:cs typeface="B Nazanin" pitchFamily="2" charset="-78"/>
              </a:rPr>
              <a:t>برای شروع نگارش مقاله بهتر است ابتدا راهنمای نویسندگان مجله یا کنفرانس مورد نظر را مطالعه کنید. سپس با دانلود قالب </a:t>
            </a:r>
            <a:r>
              <a:rPr lang="en-US" sz="2000" dirty="0">
                <a:latin typeface="Aptos" panose="020B0004020202020204" pitchFamily="34" charset="0"/>
                <a:cs typeface="B Nazanin" pitchFamily="2" charset="-78"/>
              </a:rPr>
              <a:t>(Template)</a:t>
            </a:r>
            <a:r>
              <a:rPr lang="fa-IR" sz="2000" dirty="0">
                <a:latin typeface="Aptos" panose="020B0004020202020204" pitchFamily="34" charset="0"/>
                <a:cs typeface="B Nazanin" pitchFamily="2" charset="-78"/>
              </a:rPr>
              <a:t> </a:t>
            </a:r>
            <a:r>
              <a:rPr lang="fa-IR" dirty="0">
                <a:latin typeface="B Nazanin" pitchFamily="2" charset="-78"/>
                <a:cs typeface="B Nazanin" pitchFamily="2" charset="-78"/>
              </a:rPr>
              <a:t>توصیه شده شروع به نگارش کنید. بهتر است ابتدا با بخش های ساده تر شروع کنید. معمولا شروع با روش تحقیق </a:t>
            </a:r>
            <a:r>
              <a:rPr lang="en-US" sz="2000" dirty="0">
                <a:latin typeface="Aptos" panose="020B0004020202020204" pitchFamily="34" charset="0"/>
                <a:cs typeface="B Nazanin" pitchFamily="2" charset="-78"/>
              </a:rPr>
              <a:t>(Methodology)</a:t>
            </a:r>
            <a:r>
              <a:rPr lang="fa-IR" sz="2000" dirty="0">
                <a:latin typeface="Aptos" panose="020B0004020202020204" pitchFamily="34" charset="0"/>
                <a:cs typeface="B Nazanin" pitchFamily="2" charset="-78"/>
              </a:rPr>
              <a:t> </a:t>
            </a:r>
            <a:r>
              <a:rPr lang="fa-IR" dirty="0">
                <a:latin typeface="B Nazanin" pitchFamily="2" charset="-78"/>
                <a:cs typeface="B Nazanin" pitchFamily="2" charset="-78"/>
              </a:rPr>
              <a:t>ساده تر است، زیرا فقط گزارش تمام کاری که انجام شده است شرح داده </a:t>
            </a:r>
            <a:r>
              <a:rPr lang="fa-IR" dirty="0" err="1">
                <a:latin typeface="B Nazanin" pitchFamily="2" charset="-78"/>
                <a:cs typeface="B Nazanin" pitchFamily="2" charset="-78"/>
              </a:rPr>
              <a:t>می‌شود</a:t>
            </a:r>
            <a:r>
              <a:rPr lang="fa-IR" dirty="0">
                <a:latin typeface="B Nazanin" pitchFamily="2" charset="-78"/>
                <a:cs typeface="B Nazanin" pitchFamily="2" charset="-78"/>
              </a:rPr>
              <a:t>. سپس نگارش قسمت نتایج و بحث </a:t>
            </a:r>
            <a:r>
              <a:rPr lang="en-US" sz="2000" dirty="0">
                <a:latin typeface="Aptos" panose="020B0004020202020204" pitchFamily="34" charset="0"/>
                <a:cs typeface="B Nazanin" pitchFamily="2" charset="-78"/>
              </a:rPr>
              <a:t>(Results &amp; Discussion)</a:t>
            </a:r>
            <a:r>
              <a:rPr lang="fa-IR" sz="2000" dirty="0">
                <a:latin typeface="Aptos" panose="020B0004020202020204" pitchFamily="34" charset="0"/>
                <a:cs typeface="B Nazanin" pitchFamily="2" charset="-78"/>
              </a:rPr>
              <a:t> </a:t>
            </a:r>
            <a:r>
              <a:rPr lang="fa-IR" dirty="0">
                <a:latin typeface="B Nazanin" pitchFamily="2" charset="-78"/>
                <a:cs typeface="B Nazanin" pitchFamily="2" charset="-78"/>
              </a:rPr>
              <a:t>را آغاز کنید و تمام نتایج مستند مانند جداول، نمودار ها، تصاویر و داده ها را درج کنید. نکته ای که در این قسمت باید در نظر داشت این است که در این مرحله باید یک سیر مشخصی طی شود تا درک نتایج برای خواننده بهتر قابل درک باشد.</a:t>
            </a:r>
          </a:p>
          <a:p>
            <a:pPr marL="0" algn="r" defTabSz="1218987" rtl="1" eaLnBrk="1" latinLnBrk="0" hangingPunct="1">
              <a:lnSpc>
                <a:spcPct val="95000"/>
              </a:lnSpc>
            </a:pPr>
            <a:r>
              <a:rPr lang="fa-IR" dirty="0">
                <a:latin typeface="B Nazanin" pitchFamily="2" charset="-78"/>
                <a:cs typeface="B Nazanin" pitchFamily="2" charset="-78"/>
              </a:rPr>
              <a:t>برای این منظور میتوان برای هر بخش یک طرح کلی </a:t>
            </a:r>
            <a:r>
              <a:rPr lang="en-US" dirty="0">
                <a:latin typeface="B Nazanin" pitchFamily="2" charset="-78"/>
                <a:cs typeface="B Nazanin" pitchFamily="2" charset="-78"/>
              </a:rPr>
              <a:t>(</a:t>
            </a:r>
            <a:r>
              <a:rPr lang="en-US" sz="2000" dirty="0">
                <a:latin typeface="Aptos" panose="020B0004020202020204" pitchFamily="34" charset="0"/>
                <a:cs typeface="B Nazanin" pitchFamily="2" charset="-78"/>
              </a:rPr>
              <a:t>Outline)</a:t>
            </a:r>
            <a:r>
              <a:rPr lang="fa-IR" sz="2000" dirty="0">
                <a:latin typeface="Aptos" panose="020B0004020202020204" pitchFamily="34" charset="0"/>
                <a:cs typeface="B Nazanin" pitchFamily="2" charset="-78"/>
              </a:rPr>
              <a:t> </a:t>
            </a:r>
            <a:r>
              <a:rPr lang="fa-IR" dirty="0">
                <a:latin typeface="Aptos" panose="020B0004020202020204" pitchFamily="34" charset="0"/>
                <a:cs typeface="B Nazanin" pitchFamily="2" charset="-78"/>
              </a:rPr>
              <a:t>در نظر گرفت و بعد به شرح دقیق آن قسمت پرداخت.</a:t>
            </a:r>
          </a:p>
          <a:p>
            <a:pPr marL="0" algn="r" defTabSz="1218987" rtl="1" eaLnBrk="1" latinLnBrk="0" hangingPunct="1">
              <a:lnSpc>
                <a:spcPct val="95000"/>
              </a:lnSpc>
            </a:pPr>
            <a:r>
              <a:rPr lang="fa-IR" dirty="0">
                <a:latin typeface="Aptos" panose="020B0004020202020204" pitchFamily="34" charset="0"/>
                <a:cs typeface="B Nazanin" pitchFamily="2" charset="-78"/>
              </a:rPr>
              <a:t>نکته مهم دیگر این است که نتایج و مشخصات لازم جوری گزارش داده شود که خواننده در صورت نیاز بتواند آزمایش مورد نظر را مجددا تکرار کرده و همان نتایج را بگیرد.</a:t>
            </a:r>
          </a:p>
          <a:p>
            <a:pPr marL="0" algn="r" defTabSz="1218987" rtl="1" eaLnBrk="1" latinLnBrk="0" hangingPunct="1">
              <a:lnSpc>
                <a:spcPct val="95000"/>
              </a:lnSpc>
            </a:pPr>
            <a:r>
              <a:rPr lang="fa-IR" dirty="0">
                <a:latin typeface="Aptos" panose="020B0004020202020204" pitchFamily="34" charset="0"/>
                <a:cs typeface="B Nazanin" pitchFamily="2" charset="-78"/>
              </a:rPr>
              <a:t>بهتر است صداقت را در شرح نتایج رعایت کنید و اگر با نتایجی غیر منتظره مواجه شدید آن را به صورت دقیق و واضح بیان کنید. این امر نه تنها باعث از بین رفتن اعتبار مقاله </a:t>
            </a:r>
            <a:r>
              <a:rPr lang="fa-IR" dirty="0" err="1">
                <a:latin typeface="Aptos" panose="020B0004020202020204" pitchFamily="34" charset="0"/>
                <a:cs typeface="B Nazanin" pitchFamily="2" charset="-78"/>
              </a:rPr>
              <a:t>نمی‌شود</a:t>
            </a:r>
            <a:r>
              <a:rPr lang="fa-IR" dirty="0">
                <a:latin typeface="Aptos" panose="020B0004020202020204" pitchFamily="34" charset="0"/>
                <a:cs typeface="B Nazanin" pitchFamily="2" charset="-78"/>
              </a:rPr>
              <a:t>، بلکه اعتبار بیشتری به آن </a:t>
            </a:r>
            <a:r>
              <a:rPr lang="fa-IR" dirty="0" err="1">
                <a:latin typeface="Aptos" panose="020B0004020202020204" pitchFamily="34" charset="0"/>
                <a:cs typeface="B Nazanin" pitchFamily="2" charset="-78"/>
              </a:rPr>
              <a:t>می‌بخشد</a:t>
            </a:r>
            <a:r>
              <a:rPr lang="fa-IR" dirty="0">
                <a:latin typeface="Aptos" panose="020B0004020202020204" pitchFamily="34" charset="0"/>
                <a:cs typeface="B Nazanin" pitchFamily="2" charset="-78"/>
              </a:rPr>
              <a:t> و اخلاق حرفه ای نویسنده و پژوهشگر را نشان </a:t>
            </a:r>
            <a:r>
              <a:rPr lang="fa-IR" dirty="0" err="1">
                <a:latin typeface="Aptos" panose="020B0004020202020204" pitchFamily="34" charset="0"/>
                <a:cs typeface="B Nazanin" pitchFamily="2" charset="-78"/>
              </a:rPr>
              <a:t>می‌دهد</a:t>
            </a:r>
            <a:r>
              <a:rPr lang="fa-IR" dirty="0">
                <a:latin typeface="Aptos" panose="020B0004020202020204" pitchFamily="34" charset="0"/>
                <a:cs typeface="B Nazanin" pitchFamily="2" charset="-78"/>
              </a:rPr>
              <a:t>.</a:t>
            </a:r>
          </a:p>
          <a:p>
            <a:pPr marL="0" algn="r" defTabSz="1218987" rtl="1" eaLnBrk="1" latinLnBrk="0" hangingPunct="1">
              <a:lnSpc>
                <a:spcPct val="95000"/>
              </a:lnSpc>
            </a:pPr>
            <a:endParaRPr lang="en-US" dirty="0">
              <a:latin typeface="Aptos" panose="020B0004020202020204" pitchFamily="34" charset="0"/>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105C7935-CF1E-5270-B884-2613231F3199}"/>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61706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EA8361-2E95-A6E2-6EDE-E712963047D8}"/>
              </a:ext>
            </a:extLst>
          </p:cNvPr>
          <p:cNvSpPr>
            <a:spLocks noGrp="1"/>
          </p:cNvSpPr>
          <p:nvPr>
            <p:ph idx="1"/>
          </p:nvPr>
        </p:nvSpPr>
        <p:spPr>
          <a:xfrm>
            <a:off x="379412" y="228600"/>
            <a:ext cx="11300354" cy="6629400"/>
          </a:xfrm>
        </p:spPr>
        <p:txBody>
          <a:bodyPr>
            <a:noAutofit/>
          </a:bodyPr>
          <a:lstStyle/>
          <a:p>
            <a:pPr marL="0" indent="0" algn="r" rtl="1">
              <a:buNone/>
            </a:pPr>
            <a:r>
              <a:rPr lang="fa-IR" dirty="0" err="1">
                <a:latin typeface="B Nazanin" pitchFamily="2" charset="-78"/>
                <a:cs typeface="B Nazanin" pitchFamily="2" charset="-78"/>
              </a:rPr>
              <a:t>ساختاردهی</a:t>
            </a:r>
            <a:r>
              <a:rPr lang="fa-IR" dirty="0">
                <a:latin typeface="B Nazanin" pitchFamily="2" charset="-78"/>
                <a:cs typeface="B Nazanin" pitchFamily="2" charset="-78"/>
              </a:rPr>
              <a:t> مقدمه </a:t>
            </a:r>
            <a:r>
              <a:rPr lang="en-US" dirty="0">
                <a:latin typeface="Aptos" panose="020B0004020202020204" pitchFamily="34" charset="0"/>
                <a:cs typeface="B Nazanin" pitchFamily="2" charset="-78"/>
              </a:rPr>
              <a:t>:(Introduction)</a:t>
            </a:r>
            <a:r>
              <a:rPr lang="fa-IR" dirty="0"/>
              <a:t> </a:t>
            </a:r>
            <a:r>
              <a:rPr lang="fa-IR" dirty="0">
                <a:latin typeface="B Nazanin" pitchFamily="2" charset="-78"/>
                <a:cs typeface="B Nazanin" pitchFamily="2" charset="-78"/>
              </a:rPr>
              <a:t>مقدمه باید از کلیات شروع شود و به جزئیات برسد. یک ساختار استاندارد </a:t>
            </a:r>
            <a:r>
              <a:rPr lang="fa-IR" dirty="0" err="1">
                <a:latin typeface="B Nazanin" pitchFamily="2" charset="-78"/>
                <a:cs typeface="B Nazanin" pitchFamily="2" charset="-78"/>
              </a:rPr>
              <a:t>می‌تواند</a:t>
            </a:r>
            <a:r>
              <a:rPr lang="fa-IR" dirty="0">
                <a:latin typeface="B Nazanin" pitchFamily="2" charset="-78"/>
                <a:cs typeface="B Nazanin" pitchFamily="2" charset="-78"/>
              </a:rPr>
              <a:t> </a:t>
            </a:r>
            <a:r>
              <a:rPr lang="fa-IR" dirty="0" err="1">
                <a:latin typeface="B Nazanin" pitchFamily="2" charset="-78"/>
                <a:cs typeface="B Nazanin" pitchFamily="2" charset="-78"/>
              </a:rPr>
              <a:t>این‌گونه</a:t>
            </a:r>
            <a:r>
              <a:rPr lang="fa-IR" dirty="0">
                <a:latin typeface="B Nazanin" pitchFamily="2" charset="-78"/>
                <a:cs typeface="B Nazanin" pitchFamily="2" charset="-78"/>
              </a:rPr>
              <a:t> باشد:</a:t>
            </a:r>
          </a:p>
          <a:p>
            <a:pPr algn="r" rtl="1"/>
            <a:r>
              <a:rPr lang="fa-IR" dirty="0">
                <a:latin typeface="B Nazanin" pitchFamily="2" charset="-78"/>
                <a:cs typeface="B Nazanin" pitchFamily="2" charset="-78"/>
              </a:rPr>
              <a:t>زمینه کلی </a:t>
            </a:r>
            <a:r>
              <a:rPr lang="en-US" sz="2000" dirty="0">
                <a:latin typeface="Aptos" panose="020B0004020202020204" pitchFamily="34" charset="0"/>
                <a:cs typeface="B Nazanin" pitchFamily="2" charset="-78"/>
              </a:rPr>
              <a:t>:(Background)</a:t>
            </a:r>
          </a:p>
          <a:p>
            <a:pPr lvl="1" algn="r" rtl="1"/>
            <a:r>
              <a:rPr lang="fa-IR" sz="2400" dirty="0">
                <a:latin typeface="B Nazanin" pitchFamily="2" charset="-78"/>
                <a:cs typeface="B Nazanin" pitchFamily="2" charset="-78"/>
              </a:rPr>
              <a:t>معرفی موضوع و اهمیت آن در حوزه علمی یا کاربردی.</a:t>
            </a:r>
          </a:p>
          <a:p>
            <a:pPr lvl="1" algn="r" rtl="1"/>
            <a:r>
              <a:rPr lang="fa-IR" sz="2400" dirty="0">
                <a:latin typeface="B Nazanin" pitchFamily="2" charset="-78"/>
                <a:cs typeface="B Nazanin" pitchFamily="2" charset="-78"/>
              </a:rPr>
              <a:t>مثال: «یادگیری ماشین در </a:t>
            </a:r>
            <a:r>
              <a:rPr lang="fa-IR" sz="2400" dirty="0" err="1">
                <a:latin typeface="B Nazanin" pitchFamily="2" charset="-78"/>
                <a:cs typeface="B Nazanin" pitchFamily="2" charset="-78"/>
              </a:rPr>
              <a:t>سال‌های</a:t>
            </a:r>
            <a:r>
              <a:rPr lang="fa-IR" sz="2400" dirty="0">
                <a:latin typeface="B Nazanin" pitchFamily="2" charset="-78"/>
                <a:cs typeface="B Nazanin" pitchFamily="2" charset="-78"/>
              </a:rPr>
              <a:t> اخیر به ابزاری کلیدی برای تحلیل </a:t>
            </a:r>
            <a:r>
              <a:rPr lang="fa-IR" sz="2400" dirty="0" err="1">
                <a:latin typeface="B Nazanin" pitchFamily="2" charset="-78"/>
                <a:cs typeface="B Nazanin" pitchFamily="2" charset="-78"/>
              </a:rPr>
              <a:t>داده‌های</a:t>
            </a:r>
            <a:r>
              <a:rPr lang="fa-IR" sz="2400" dirty="0">
                <a:latin typeface="B Nazanin" pitchFamily="2" charset="-78"/>
                <a:cs typeface="B Nazanin" pitchFamily="2" charset="-78"/>
              </a:rPr>
              <a:t> پیچیده تبدیل شده است.»</a:t>
            </a:r>
          </a:p>
          <a:p>
            <a:pPr algn="r" rtl="1"/>
            <a:r>
              <a:rPr lang="fa-IR" dirty="0">
                <a:latin typeface="B Nazanin" pitchFamily="2" charset="-78"/>
                <a:cs typeface="B Nazanin" pitchFamily="2" charset="-78"/>
              </a:rPr>
              <a:t>مرور کوتاه پیشینه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:(Literature Review)</a:t>
            </a:r>
            <a:r>
              <a:rPr lang="fa-IR" dirty="0">
                <a:latin typeface="B Nazanin" pitchFamily="2" charset="-78"/>
                <a:cs typeface="B Nazanin" pitchFamily="2" charset="-78"/>
              </a:rPr>
              <a:t>اشاره به مطالعات قبلی و </a:t>
            </a:r>
            <a:r>
              <a:rPr lang="fa-IR" dirty="0" err="1">
                <a:latin typeface="B Nazanin" pitchFamily="2" charset="-78"/>
                <a:cs typeface="B Nazanin" pitchFamily="2" charset="-78"/>
              </a:rPr>
              <a:t>خلأهای</a:t>
            </a:r>
            <a:r>
              <a:rPr lang="fa-IR" dirty="0">
                <a:latin typeface="B Nazanin" pitchFamily="2" charset="-78"/>
                <a:cs typeface="B Nazanin" pitchFamily="2" charset="-78"/>
              </a:rPr>
              <a:t> موجود.</a:t>
            </a:r>
          </a:p>
          <a:p>
            <a:pPr lvl="1" algn="r" rtl="1"/>
            <a:r>
              <a:rPr lang="fa-IR" sz="2400" dirty="0">
                <a:latin typeface="B Nazanin" pitchFamily="2" charset="-78"/>
                <a:cs typeface="B Nazanin" pitchFamily="2" charset="-78"/>
              </a:rPr>
              <a:t>نشان دادن اینکه چه چیزی هنوز حل نشده یا نیازمند بررسی بیشتر است.</a:t>
            </a:r>
          </a:p>
          <a:p>
            <a:pPr algn="r" rtl="1"/>
            <a:r>
              <a:rPr lang="fa-IR" dirty="0">
                <a:latin typeface="B Nazanin" pitchFamily="2" charset="-78"/>
                <a:cs typeface="B Nazanin" pitchFamily="2" charset="-78"/>
              </a:rPr>
              <a:t>بیان مسئله </a:t>
            </a:r>
            <a:r>
              <a:rPr lang="en-US" dirty="0">
                <a:latin typeface="Aptos" panose="020B0004020202020204" pitchFamily="34" charset="0"/>
                <a:cs typeface="B Nazanin" pitchFamily="2" charset="-78"/>
              </a:rPr>
              <a:t>:</a:t>
            </a:r>
            <a:r>
              <a:rPr lang="en-US" sz="2000" dirty="0">
                <a:latin typeface="Aptos" panose="020B0004020202020204" pitchFamily="34" charset="0"/>
                <a:cs typeface="B Nazanin" pitchFamily="2" charset="-78"/>
              </a:rPr>
              <a:t>(Problem Statement)</a:t>
            </a:r>
          </a:p>
          <a:p>
            <a:pPr lvl="1" algn="r" rtl="1"/>
            <a:r>
              <a:rPr lang="fa-IR" sz="2400" dirty="0">
                <a:latin typeface="B Nazanin" pitchFamily="2" charset="-78"/>
                <a:cs typeface="B Nazanin" pitchFamily="2" charset="-78"/>
              </a:rPr>
              <a:t>مشخص کردن اینکه چه مشکلی مورد هدف قرار گرفته است.</a:t>
            </a:r>
          </a:p>
          <a:p>
            <a:pPr lvl="1" algn="r" rtl="1"/>
            <a:r>
              <a:rPr lang="fa-IR" sz="2400" dirty="0">
                <a:latin typeface="B Nazanin" pitchFamily="2" charset="-78"/>
                <a:cs typeface="B Nazanin" pitchFamily="2" charset="-78"/>
              </a:rPr>
              <a:t>این بخش باید خواننده را قانع کند که در پژوهش ضروری است.</a:t>
            </a:r>
          </a:p>
          <a:p>
            <a:pPr algn="r" rtl="1"/>
            <a:r>
              <a:rPr lang="fa-IR" dirty="0">
                <a:latin typeface="B Nazanin" pitchFamily="2" charset="-78"/>
                <a:cs typeface="B Nazanin" pitchFamily="2" charset="-78"/>
              </a:rPr>
              <a:t>هدف و فرضیه </a:t>
            </a:r>
            <a:r>
              <a:rPr lang="en-US" sz="2000" dirty="0">
                <a:latin typeface="Aptos" panose="020B0004020202020204" pitchFamily="34" charset="0"/>
                <a:cs typeface="B Nazanin" pitchFamily="2" charset="-78"/>
              </a:rPr>
              <a:t>:(Objective &amp; Hypothesis)</a:t>
            </a:r>
            <a:r>
              <a:rPr lang="fa-IR" dirty="0">
                <a:latin typeface="B Nazanin" pitchFamily="2" charset="-78"/>
                <a:cs typeface="B Nazanin" pitchFamily="2" charset="-78"/>
              </a:rPr>
              <a:t> توضیح اینکه پژوهش چه هدفی دارد و چه چیزی را </a:t>
            </a:r>
            <a:r>
              <a:rPr lang="fa-IR" dirty="0" err="1">
                <a:latin typeface="B Nazanin" pitchFamily="2" charset="-78"/>
                <a:cs typeface="B Nazanin" pitchFamily="2" charset="-78"/>
              </a:rPr>
              <a:t>پیش‌بینی</a:t>
            </a:r>
            <a:r>
              <a:rPr lang="fa-IR" dirty="0">
                <a:latin typeface="B Nazanin" pitchFamily="2" charset="-78"/>
                <a:cs typeface="B Nazanin" pitchFamily="2" charset="-78"/>
              </a:rPr>
              <a:t> یا انتظار دارید.</a:t>
            </a:r>
          </a:p>
          <a:p>
            <a:pPr marL="0" indent="0" algn="r" rtl="1">
              <a:buNone/>
            </a:pPr>
            <a:r>
              <a:rPr lang="fa-IR" dirty="0">
                <a:latin typeface="B Nazanin" pitchFamily="2" charset="-78"/>
                <a:cs typeface="B Nazanin" pitchFamily="2" charset="-78"/>
              </a:rPr>
              <a:t>. مقدمه باید از کلی (اهمیت موضوع) به جزئی (هدف تحقیق) حرکت کند.</a:t>
            </a:r>
          </a:p>
          <a:p>
            <a:pPr marL="0" indent="0" algn="r">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4BBF50CE-8D2D-39D6-9525-5FC4054D98E4}"/>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35543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E2D3AB-109D-A87A-7590-90B68B21359E}"/>
              </a:ext>
            </a:extLst>
          </p:cNvPr>
          <p:cNvSpPr>
            <a:spLocks noGrp="1"/>
          </p:cNvSpPr>
          <p:nvPr>
            <p:ph idx="1"/>
          </p:nvPr>
        </p:nvSpPr>
        <p:spPr>
          <a:xfrm>
            <a:off x="455612" y="152400"/>
            <a:ext cx="11201399" cy="6248400"/>
          </a:xfrm>
        </p:spPr>
        <p:txBody>
          <a:bodyPr>
            <a:noAutofit/>
          </a:bodyPr>
          <a:lstStyle/>
          <a:p>
            <a:pPr algn="r" rtl="1"/>
            <a:r>
              <a:rPr lang="fa-IR" dirty="0">
                <a:latin typeface="B Nazanin" pitchFamily="2" charset="-78"/>
                <a:cs typeface="B Nazanin" pitchFamily="2" charset="-78"/>
              </a:rPr>
              <a:t> روش </a:t>
            </a:r>
            <a:r>
              <a:rPr lang="fa-IR" dirty="0" err="1">
                <a:latin typeface="B Nazanin" pitchFamily="2" charset="-78"/>
                <a:cs typeface="B Nazanin" pitchFamily="2" charset="-78"/>
              </a:rPr>
              <a:t>ساختاردهی</a:t>
            </a:r>
            <a:r>
              <a:rPr lang="fa-IR" dirty="0">
                <a:latin typeface="B Nazanin" pitchFamily="2" charset="-78"/>
                <a:cs typeface="B Nazanin" pitchFamily="2" charset="-78"/>
              </a:rPr>
              <a:t> چکیده </a:t>
            </a:r>
            <a:r>
              <a:rPr lang="en-US" sz="2000" dirty="0">
                <a:latin typeface="Aptos" panose="020B0004020202020204" pitchFamily="34" charset="0"/>
                <a:cs typeface="B Nazanin" pitchFamily="2" charset="-78"/>
              </a:rPr>
              <a:t>:(Abstract)</a:t>
            </a:r>
          </a:p>
          <a:p>
            <a:pPr algn="r" rtl="1"/>
            <a:r>
              <a:rPr lang="fa-IR" dirty="0">
                <a:latin typeface="B Nazanin" pitchFamily="2" charset="-78"/>
                <a:cs typeface="B Nazanin" pitchFamily="2" charset="-78"/>
              </a:rPr>
              <a:t>چکیده باید </a:t>
            </a:r>
            <a:r>
              <a:rPr lang="fa-IR" dirty="0" err="1">
                <a:latin typeface="B Nazanin" pitchFamily="2" charset="-78"/>
                <a:cs typeface="B Nazanin" pitchFamily="2" charset="-78"/>
              </a:rPr>
              <a:t>خلاصه‌ای</a:t>
            </a:r>
            <a:r>
              <a:rPr lang="fa-IR" dirty="0">
                <a:latin typeface="B Nazanin" pitchFamily="2" charset="-78"/>
                <a:cs typeface="B Nazanin" pitchFamily="2" charset="-78"/>
              </a:rPr>
              <a:t> فشرده و کامل از کل مقاله باشد. ساختار پیشنهادی:</a:t>
            </a:r>
          </a:p>
          <a:p>
            <a:pPr algn="r" rtl="1"/>
            <a:r>
              <a:rPr lang="fa-IR" dirty="0">
                <a:latin typeface="B Nazanin" pitchFamily="2" charset="-78"/>
                <a:cs typeface="B Nazanin" pitchFamily="2" charset="-78"/>
              </a:rPr>
              <a:t>هدف </a:t>
            </a:r>
            <a:r>
              <a:rPr lang="en-US" sz="2000" dirty="0">
                <a:latin typeface="Aptos" panose="020B0004020202020204" pitchFamily="34" charset="0"/>
                <a:cs typeface="B Nazanin" pitchFamily="2" charset="-78"/>
              </a:rPr>
              <a:t>:(Purpose)</a:t>
            </a:r>
          </a:p>
          <a:p>
            <a:pPr lvl="1" algn="r" rtl="1"/>
            <a:r>
              <a:rPr lang="fa-IR" sz="2400" dirty="0">
                <a:latin typeface="B Nazanin" pitchFamily="2" charset="-78"/>
                <a:cs typeface="B Nazanin" pitchFamily="2" charset="-78"/>
              </a:rPr>
              <a:t>چرا این پژوهش انجام شد؟</a:t>
            </a:r>
          </a:p>
          <a:p>
            <a:pPr algn="r" rtl="1"/>
            <a:r>
              <a:rPr lang="fa-IR" dirty="0">
                <a:latin typeface="B Nazanin" pitchFamily="2" charset="-78"/>
                <a:cs typeface="B Nazanin" pitchFamily="2" charset="-78"/>
              </a:rPr>
              <a:t>روش </a:t>
            </a:r>
            <a:r>
              <a:rPr lang="en-US" sz="2000" dirty="0">
                <a:latin typeface="Aptos" panose="020B0004020202020204" pitchFamily="34" charset="0"/>
                <a:cs typeface="B Nazanin" pitchFamily="2" charset="-78"/>
              </a:rPr>
              <a:t>:(Methods)</a:t>
            </a:r>
          </a:p>
          <a:p>
            <a:pPr lvl="1" algn="r" rtl="1"/>
            <a:r>
              <a:rPr lang="fa-IR" sz="2400" dirty="0">
                <a:latin typeface="B Nazanin" pitchFamily="2" charset="-78"/>
                <a:cs typeface="B Nazanin" pitchFamily="2" charset="-78"/>
              </a:rPr>
              <a:t>چگونه پیش رفت؟ ابزارها، </a:t>
            </a:r>
            <a:r>
              <a:rPr lang="fa-IR" sz="2400" dirty="0" err="1">
                <a:latin typeface="B Nazanin" pitchFamily="2" charset="-78"/>
                <a:cs typeface="B Nazanin" pitchFamily="2" charset="-78"/>
              </a:rPr>
              <a:t>داده‌ها</a:t>
            </a:r>
            <a:r>
              <a:rPr lang="fa-IR" sz="2400" dirty="0">
                <a:latin typeface="B Nazanin" pitchFamily="2" charset="-78"/>
                <a:cs typeface="B Nazanin" pitchFamily="2" charset="-78"/>
              </a:rPr>
              <a:t>، طراحی مطالعه.</a:t>
            </a:r>
          </a:p>
          <a:p>
            <a:pPr algn="r" rtl="1"/>
            <a:r>
              <a:rPr lang="fa-IR" dirty="0">
                <a:latin typeface="B Nazanin" pitchFamily="2" charset="-78"/>
                <a:cs typeface="B Nazanin" pitchFamily="2" charset="-78"/>
              </a:rPr>
              <a:t>نتایج </a:t>
            </a:r>
            <a:r>
              <a:rPr lang="en-US" sz="2000" dirty="0">
                <a:latin typeface="Aptos" panose="020B0004020202020204" pitchFamily="34" charset="0"/>
                <a:cs typeface="B Nazanin" pitchFamily="2" charset="-78"/>
              </a:rPr>
              <a:t>:(Results)</a:t>
            </a:r>
          </a:p>
          <a:p>
            <a:pPr lvl="1" algn="r" rtl="1"/>
            <a:r>
              <a:rPr lang="fa-IR" sz="2400" dirty="0" err="1">
                <a:latin typeface="B Nazanin" pitchFamily="2" charset="-78"/>
                <a:cs typeface="B Nazanin" pitchFamily="2" charset="-78"/>
              </a:rPr>
              <a:t>یافته‌های</a:t>
            </a:r>
            <a:r>
              <a:rPr lang="fa-IR" sz="2400" dirty="0">
                <a:latin typeface="B Nazanin" pitchFamily="2" charset="-78"/>
                <a:cs typeface="B Nazanin" pitchFamily="2" charset="-78"/>
              </a:rPr>
              <a:t> کلیدی، بدون جزئیات اضافی.</a:t>
            </a:r>
          </a:p>
          <a:p>
            <a:pPr algn="r" rtl="1"/>
            <a:r>
              <a:rPr lang="fa-IR" dirty="0" err="1">
                <a:latin typeface="B Nazanin" pitchFamily="2" charset="-78"/>
                <a:cs typeface="B Nazanin" pitchFamily="2" charset="-78"/>
              </a:rPr>
              <a:t>نتیجه‌گیری</a:t>
            </a:r>
            <a:r>
              <a:rPr lang="fa-IR" dirty="0">
                <a:latin typeface="B Nazanin" pitchFamily="2" charset="-78"/>
                <a:cs typeface="B Nazanin" pitchFamily="2" charset="-78"/>
              </a:rPr>
              <a:t> </a:t>
            </a:r>
            <a:r>
              <a:rPr lang="en-US" sz="2000" dirty="0">
                <a:latin typeface="Aptos" panose="020B0004020202020204" pitchFamily="34" charset="0"/>
                <a:cs typeface="B Nazanin" pitchFamily="2" charset="-78"/>
              </a:rPr>
              <a:t>:(Conclusion)</a:t>
            </a:r>
          </a:p>
          <a:p>
            <a:pPr lvl="1" algn="r" rtl="1"/>
            <a:r>
              <a:rPr lang="fa-IR" sz="2400" dirty="0">
                <a:latin typeface="B Nazanin" pitchFamily="2" charset="-78"/>
                <a:cs typeface="B Nazanin" pitchFamily="2" charset="-78"/>
              </a:rPr>
              <a:t>معنای نتایج و کاربرد </a:t>
            </a:r>
            <a:r>
              <a:rPr lang="fa-IR" sz="2400" dirty="0" err="1">
                <a:latin typeface="B Nazanin" pitchFamily="2" charset="-78"/>
                <a:cs typeface="B Nazanin" pitchFamily="2" charset="-78"/>
              </a:rPr>
              <a:t>آن‌ها</a:t>
            </a:r>
            <a:r>
              <a:rPr lang="fa-IR" sz="2400" dirty="0">
                <a:latin typeface="B Nazanin" pitchFamily="2" charset="-78"/>
                <a:cs typeface="B Nazanin" pitchFamily="2" charset="-78"/>
              </a:rPr>
              <a:t>.</a:t>
            </a:r>
            <a:endParaRPr lang="en-US" sz="2400" dirty="0">
              <a:latin typeface="B Nazanin" pitchFamily="2" charset="-78"/>
              <a:cs typeface="B Nazanin" pitchFamily="2" charset="-78"/>
            </a:endParaRPr>
          </a:p>
          <a:p>
            <a:pPr lvl="1" algn="r" rtl="1"/>
            <a:r>
              <a:rPr lang="en-US" dirty="0">
                <a:latin typeface="B Nazanin" pitchFamily="2" charset="-78"/>
                <a:cs typeface="B Nazanin" pitchFamily="2" charset="-78"/>
              </a:rPr>
              <a:t> </a:t>
            </a:r>
            <a:r>
              <a:rPr lang="fa-IR" dirty="0">
                <a:latin typeface="B Nazanin" pitchFamily="2" charset="-78"/>
                <a:cs typeface="B Nazanin" pitchFamily="2" charset="-78"/>
              </a:rPr>
              <a:t>نکته: چکیده باید مستقل باشد؛ یعنی اگر کسی فقط چکیده را بخواند، بتواند تصویر کلی پژوهش را درک کند.</a:t>
            </a:r>
          </a:p>
          <a:p>
            <a:pPr marL="0" indent="0" algn="r">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240FD6E3-4B45-D2E8-E737-30BB46FAFB54}"/>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305874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F80AFF-44EB-5394-757E-77FE155DEBB6}"/>
              </a:ext>
            </a:extLst>
          </p:cNvPr>
          <p:cNvSpPr>
            <a:spLocks noGrp="1"/>
          </p:cNvSpPr>
          <p:nvPr>
            <p:ph idx="1"/>
          </p:nvPr>
        </p:nvSpPr>
        <p:spPr>
          <a:xfrm>
            <a:off x="1293812" y="152400"/>
            <a:ext cx="10157354" cy="838200"/>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Mitra" pitchFamily="2" charset="-78"/>
                <a:cs typeface="B Mitra" pitchFamily="2" charset="-78"/>
              </a:rPr>
              <a:t>نکات مهم در نگارش مقاله</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334A6EE9-8753-DF60-8196-8E8DEE28AE1C}"/>
              </a:ext>
            </a:extLst>
          </p:cNvPr>
          <p:cNvSpPr txBox="1"/>
          <p:nvPr/>
        </p:nvSpPr>
        <p:spPr>
          <a:xfrm>
            <a:off x="531812" y="1219200"/>
            <a:ext cx="10919354" cy="6357125"/>
          </a:xfrm>
          <a:prstGeom prst="rect">
            <a:avLst/>
          </a:prstGeom>
          <a:noFill/>
        </p:spPr>
        <p:txBody>
          <a:bodyPr wrap="square" rtlCol="0">
            <a:spAutoFit/>
          </a:bodyPr>
          <a:lstStyle/>
          <a:p>
            <a:pPr algn="r" rtl="1"/>
            <a:r>
              <a:rPr lang="fa-IR" dirty="0">
                <a:latin typeface="B Nazanin" pitchFamily="2" charset="-78"/>
                <a:cs typeface="B Nazanin" pitchFamily="2" charset="-78"/>
              </a:rPr>
              <a:t>۱. وضوح و انسجام متن</a:t>
            </a:r>
          </a:p>
          <a:p>
            <a:pPr algn="r" rtl="1"/>
            <a:r>
              <a:rPr lang="fa-IR" dirty="0">
                <a:latin typeface="B Nazanin" pitchFamily="2" charset="-78"/>
                <a:cs typeface="B Nazanin" pitchFamily="2" charset="-78"/>
              </a:rPr>
              <a:t>جملات کوتاه، دقیق و </a:t>
            </a:r>
            <a:r>
              <a:rPr lang="fa-IR" dirty="0" err="1">
                <a:latin typeface="B Nazanin" pitchFamily="2" charset="-78"/>
                <a:cs typeface="B Nazanin" pitchFamily="2" charset="-78"/>
              </a:rPr>
              <a:t>بی‌ابهام</a:t>
            </a:r>
            <a:r>
              <a:rPr lang="fa-IR" dirty="0">
                <a:latin typeface="B Nazanin" pitchFamily="2" charset="-78"/>
                <a:cs typeface="B Nazanin" pitchFamily="2" charset="-78"/>
              </a:rPr>
              <a:t>.</a:t>
            </a:r>
          </a:p>
          <a:p>
            <a:pPr algn="r" rtl="1"/>
            <a:r>
              <a:rPr lang="fa-IR" dirty="0">
                <a:latin typeface="B Nazanin" pitchFamily="2" charset="-78"/>
                <a:cs typeface="B Nazanin" pitchFamily="2" charset="-78"/>
              </a:rPr>
              <a:t>پرهیز از تکرار و </a:t>
            </a:r>
            <a:r>
              <a:rPr lang="fa-IR" dirty="0" err="1">
                <a:latin typeface="B Nazanin" pitchFamily="2" charset="-78"/>
                <a:cs typeface="B Nazanin" pitchFamily="2" charset="-78"/>
              </a:rPr>
              <a:t>حاشیه‌روی</a:t>
            </a:r>
            <a:r>
              <a:rPr lang="fa-IR" dirty="0">
                <a:latin typeface="B Nazanin" pitchFamily="2" charset="-78"/>
                <a:cs typeface="B Nazanin" pitchFamily="2" charset="-78"/>
              </a:rPr>
              <a:t>.</a:t>
            </a:r>
          </a:p>
          <a:p>
            <a:pPr algn="r" rtl="1"/>
            <a:r>
              <a:rPr lang="fa-IR" dirty="0">
                <a:latin typeface="B Nazanin" pitchFamily="2" charset="-78"/>
                <a:cs typeface="B Nazanin" pitchFamily="2" charset="-78"/>
              </a:rPr>
              <a:t>استفاده از واژگان علمی </a:t>
            </a:r>
            <a:r>
              <a:rPr lang="fa-IR" dirty="0" err="1">
                <a:latin typeface="B Nazanin" pitchFamily="2" charset="-78"/>
                <a:cs typeface="B Nazanin" pitchFamily="2" charset="-78"/>
              </a:rPr>
              <a:t>بی‌طرفانه</a:t>
            </a:r>
            <a:r>
              <a:rPr lang="fa-IR" dirty="0">
                <a:latin typeface="B Nazanin" pitchFamily="2" charset="-78"/>
                <a:cs typeface="B Nazanin" pitchFamily="2" charset="-78"/>
              </a:rPr>
              <a:t>.</a:t>
            </a:r>
          </a:p>
          <a:p>
            <a:pPr algn="r" rtl="1"/>
            <a:endParaRPr lang="fa-IR" dirty="0">
              <a:latin typeface="B Nazanin" pitchFamily="2" charset="-78"/>
              <a:cs typeface="B Nazanin" pitchFamily="2" charset="-78"/>
            </a:endParaRPr>
          </a:p>
          <a:p>
            <a:pPr algn="r" rtl="1"/>
            <a:r>
              <a:rPr lang="fa-IR" dirty="0">
                <a:latin typeface="B Nazanin" pitchFamily="2" charset="-78"/>
                <a:cs typeface="B Nazanin" pitchFamily="2" charset="-78"/>
              </a:rPr>
              <a:t>۲.  مدیریت منابع و </a:t>
            </a:r>
            <a:r>
              <a:rPr lang="fa-IR" dirty="0" err="1">
                <a:latin typeface="B Nazanin" pitchFamily="2" charset="-78"/>
                <a:cs typeface="B Nazanin" pitchFamily="2" charset="-78"/>
              </a:rPr>
              <a:t>ارجاع‌دهی</a:t>
            </a:r>
            <a:endParaRPr lang="fa-IR" dirty="0">
              <a:latin typeface="B Nazanin" pitchFamily="2" charset="-78"/>
              <a:cs typeface="B Nazanin" pitchFamily="2" charset="-78"/>
            </a:endParaRPr>
          </a:p>
          <a:p>
            <a:pPr algn="r" rtl="1"/>
            <a:r>
              <a:rPr lang="fa-IR" dirty="0">
                <a:latin typeface="B Nazanin" pitchFamily="2" charset="-78"/>
                <a:cs typeface="B Nazanin" pitchFamily="2" charset="-78"/>
              </a:rPr>
              <a:t>استفاده از </a:t>
            </a:r>
            <a:r>
              <a:rPr lang="fa-IR" dirty="0" err="1">
                <a:latin typeface="B Nazanin" pitchFamily="2" charset="-78"/>
                <a:cs typeface="B Nazanin" pitchFamily="2" charset="-78"/>
              </a:rPr>
              <a:t>نرم‌افزارهای</a:t>
            </a:r>
            <a:r>
              <a:rPr lang="fa-IR" dirty="0">
                <a:latin typeface="B Nazanin" pitchFamily="2" charset="-78"/>
                <a:cs typeface="B Nazanin" pitchFamily="2" charset="-78"/>
              </a:rPr>
              <a:t> مدیریت منابع </a:t>
            </a:r>
            <a:r>
              <a:rPr lang="en-US" dirty="0">
                <a:latin typeface="B Nazanin" pitchFamily="2" charset="-78"/>
                <a:cs typeface="B Nazanin" pitchFamily="2" charset="-78"/>
              </a:rPr>
              <a:t>(</a:t>
            </a:r>
            <a:r>
              <a:rPr lang="en-US" sz="2000" dirty="0">
                <a:latin typeface="Aptos" panose="020B0004020202020204" pitchFamily="34" charset="0"/>
                <a:cs typeface="B Nazanin" pitchFamily="2" charset="-78"/>
              </a:rPr>
              <a:t>Zotero</a:t>
            </a:r>
            <a:r>
              <a:rPr lang="en-US" dirty="0">
                <a:latin typeface="Aptos" panose="020B0004020202020204" pitchFamily="34" charset="0"/>
                <a:cs typeface="B Nazanin" pitchFamily="2" charset="-78"/>
              </a:rPr>
              <a:t>, </a:t>
            </a:r>
            <a:r>
              <a:rPr lang="en-US" sz="2000" dirty="0">
                <a:latin typeface="Aptos" panose="020B0004020202020204" pitchFamily="34" charset="0"/>
                <a:cs typeface="B Nazanin" pitchFamily="2" charset="-78"/>
              </a:rPr>
              <a:t>Mendeley</a:t>
            </a:r>
            <a:r>
              <a:rPr lang="en-US" dirty="0">
                <a:latin typeface="B Nazanin" pitchFamily="2" charset="-78"/>
                <a:cs typeface="B Nazanin" pitchFamily="2" charset="-78"/>
              </a:rPr>
              <a:t>).</a:t>
            </a:r>
          </a:p>
          <a:p>
            <a:pPr algn="r" rtl="1"/>
            <a:r>
              <a:rPr lang="fa-IR" dirty="0">
                <a:latin typeface="B Nazanin" pitchFamily="2" charset="-78"/>
                <a:cs typeface="B Nazanin" pitchFamily="2" charset="-78"/>
              </a:rPr>
              <a:t>رعایت سبک مجله (</a:t>
            </a:r>
            <a:r>
              <a:rPr lang="en-US" sz="2000" dirty="0">
                <a:latin typeface="Aptos" panose="020B0004020202020204" pitchFamily="34" charset="0"/>
                <a:cs typeface="B Nazanin" pitchFamily="2" charset="-78"/>
              </a:rPr>
              <a:t>APA</a:t>
            </a:r>
            <a:r>
              <a:rPr lang="en-US" dirty="0">
                <a:latin typeface="Aptos" panose="020B0004020202020204" pitchFamily="34" charset="0"/>
                <a:cs typeface="B Nazanin" pitchFamily="2" charset="-78"/>
              </a:rPr>
              <a:t>, </a:t>
            </a:r>
            <a:r>
              <a:rPr lang="en-US" sz="2000" dirty="0">
                <a:latin typeface="Aptos" panose="020B0004020202020204" pitchFamily="34" charset="0"/>
                <a:cs typeface="B Nazanin" pitchFamily="2" charset="-78"/>
              </a:rPr>
              <a:t>IEEE</a:t>
            </a:r>
            <a:r>
              <a:rPr lang="en-US" dirty="0">
                <a:latin typeface="Aptos" panose="020B0004020202020204" pitchFamily="34" charset="0"/>
                <a:cs typeface="B Nazanin" pitchFamily="2" charset="-78"/>
              </a:rPr>
              <a:t>, </a:t>
            </a:r>
            <a:r>
              <a:rPr lang="en-US" sz="2000" dirty="0">
                <a:latin typeface="Aptos" panose="020B0004020202020204" pitchFamily="34" charset="0"/>
                <a:cs typeface="B Nazanin" pitchFamily="2" charset="-78"/>
              </a:rPr>
              <a:t>Vancouver</a:t>
            </a:r>
            <a:r>
              <a:rPr lang="fa-IR" dirty="0">
                <a:latin typeface="B Nazanin" pitchFamily="2" charset="-78"/>
                <a:cs typeface="B Nazanin" pitchFamily="2" charset="-78"/>
              </a:rPr>
              <a:t>)</a:t>
            </a:r>
            <a:endParaRPr lang="en-US" dirty="0">
              <a:latin typeface="B Nazanin" pitchFamily="2" charset="-78"/>
              <a:cs typeface="B Nazanin" pitchFamily="2" charset="-78"/>
            </a:endParaRPr>
          </a:p>
          <a:p>
            <a:pPr algn="r" rtl="1"/>
            <a:r>
              <a:rPr lang="fa-IR" dirty="0">
                <a:latin typeface="B Nazanin" pitchFamily="2" charset="-78"/>
                <a:cs typeface="B Nazanin" pitchFamily="2" charset="-78"/>
              </a:rPr>
              <a:t>ارجاع دقیق به کارهای پیشین برای جلوگیری از سرقت علمی</a:t>
            </a:r>
            <a:endParaRPr lang="en-US" dirty="0">
              <a:latin typeface="B Nazanin" pitchFamily="2" charset="-78"/>
              <a:cs typeface="B Nazanin" pitchFamily="2" charset="-78"/>
            </a:endParaRPr>
          </a:p>
          <a:p>
            <a:pPr algn="r" rtl="1"/>
            <a:endParaRPr lang="en-US" dirty="0">
              <a:latin typeface="B Nazanin" pitchFamily="2" charset="-78"/>
              <a:cs typeface="B Nazanin" pitchFamily="2" charset="-78"/>
            </a:endParaRPr>
          </a:p>
          <a:p>
            <a:pPr algn="r" rtl="1"/>
            <a:r>
              <a:rPr lang="fa-IR" dirty="0">
                <a:latin typeface="B Nazanin" pitchFamily="2" charset="-78"/>
                <a:cs typeface="B Nazanin" pitchFamily="2" charset="-78"/>
              </a:rPr>
              <a:t>۳. اخلاق پژوهشی</a:t>
            </a:r>
          </a:p>
          <a:p>
            <a:pPr algn="r" rtl="1"/>
            <a:r>
              <a:rPr lang="fa-IR" dirty="0">
                <a:latin typeface="B Nazanin" pitchFamily="2" charset="-78"/>
                <a:cs typeface="B Nazanin" pitchFamily="2" charset="-78"/>
              </a:rPr>
              <a:t>پرهیز از </a:t>
            </a:r>
            <a:r>
              <a:rPr lang="fa-IR" dirty="0" err="1">
                <a:latin typeface="B Nazanin" pitchFamily="2" charset="-78"/>
                <a:cs typeface="B Nazanin" pitchFamily="2" charset="-78"/>
              </a:rPr>
              <a:t>داده‌سازی</a:t>
            </a:r>
            <a:r>
              <a:rPr lang="fa-IR" dirty="0">
                <a:latin typeface="B Nazanin" pitchFamily="2" charset="-78"/>
                <a:cs typeface="B Nazanin" pitchFamily="2" charset="-78"/>
              </a:rPr>
              <a:t> یا دستکاری نتایج.</a:t>
            </a:r>
          </a:p>
          <a:p>
            <a:pPr algn="r" rtl="1"/>
            <a:r>
              <a:rPr lang="fa-IR" dirty="0">
                <a:latin typeface="B Nazanin" pitchFamily="2" charset="-78"/>
                <a:cs typeface="B Nazanin" pitchFamily="2" charset="-78"/>
              </a:rPr>
              <a:t>ذکر نام همه نویسندگان و همکاران </a:t>
            </a:r>
            <a:r>
              <a:rPr lang="fa-IR" dirty="0" err="1">
                <a:latin typeface="B Nazanin" pitchFamily="2" charset="-78"/>
                <a:cs typeface="B Nazanin" pitchFamily="2" charset="-78"/>
              </a:rPr>
              <a:t>به‌درستی</a:t>
            </a:r>
            <a:r>
              <a:rPr lang="fa-IR" dirty="0">
                <a:latin typeface="B Nazanin" pitchFamily="2" charset="-78"/>
                <a:cs typeface="B Nazanin" pitchFamily="2" charset="-78"/>
              </a:rPr>
              <a:t>.</a:t>
            </a:r>
          </a:p>
          <a:p>
            <a:pPr algn="r" rtl="1"/>
            <a:r>
              <a:rPr lang="fa-IR" dirty="0">
                <a:latin typeface="B Nazanin" pitchFamily="2" charset="-78"/>
                <a:cs typeface="B Nazanin" pitchFamily="2" charset="-78"/>
              </a:rPr>
              <a:t>شفافیت در اعلام حمایت مالی یا تضاد منافع.</a:t>
            </a:r>
          </a:p>
          <a:p>
            <a:pPr algn="r" rtl="1"/>
            <a:endParaRPr lang="fa-IR" dirty="0">
              <a:latin typeface="B Nazanin" pitchFamily="2" charset="-78"/>
              <a:cs typeface="B Nazanin" pitchFamily="2" charset="-78"/>
            </a:endParaRPr>
          </a:p>
          <a:p>
            <a:pPr algn="r" rtl="1"/>
            <a:endParaRPr lang="fa-IR" dirty="0">
              <a:latin typeface="B Nazanin" pitchFamily="2" charset="-78"/>
              <a:cs typeface="B Nazanin" pitchFamily="2" charset="-78"/>
            </a:endParaRPr>
          </a:p>
          <a:p>
            <a:pPr marL="0" algn="r" defTabSz="1218987" rtl="1" eaLnBrk="1" latinLnBrk="0" hangingPunct="1">
              <a:lnSpc>
                <a:spcPct val="95000"/>
              </a:lnSpc>
            </a:pPr>
            <a:endParaRPr lang="en-US"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A0056C66-7CB2-B9AB-4862-E9F39D0DAA0F}"/>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3067589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DEA051-51DA-D81A-234F-5BDC22A5CEAF}"/>
              </a:ext>
            </a:extLst>
          </p:cNvPr>
          <p:cNvSpPr>
            <a:spLocks noGrp="1"/>
          </p:cNvSpPr>
          <p:nvPr>
            <p:ph idx="1"/>
          </p:nvPr>
        </p:nvSpPr>
        <p:spPr>
          <a:xfrm>
            <a:off x="531812" y="304800"/>
            <a:ext cx="10995554" cy="2590800"/>
          </a:xfrm>
        </p:spPr>
        <p:txBody>
          <a:bodyPr/>
          <a:lstStyle/>
          <a:p>
            <a:pPr marL="0" indent="0" algn="r" rtl="1">
              <a:buNone/>
            </a:pPr>
            <a:r>
              <a:rPr lang="fa-IR" dirty="0">
                <a:latin typeface="B Nazanin" pitchFamily="2" charset="-78"/>
                <a:cs typeface="B Nazanin" pitchFamily="2" charset="-78"/>
              </a:rPr>
              <a:t>۴. ویرایش و بازبینی</a:t>
            </a:r>
          </a:p>
          <a:p>
            <a:pPr marL="0" indent="0" algn="r" rtl="1">
              <a:buNone/>
            </a:pPr>
            <a:r>
              <a:rPr lang="fa-IR" dirty="0">
                <a:latin typeface="B Nazanin" pitchFamily="2" charset="-78"/>
                <a:cs typeface="B Nazanin" pitchFamily="2" charset="-78"/>
              </a:rPr>
              <a:t>چند بار بازخوانی متن برای رفع خطاهای نگارشی.</a:t>
            </a:r>
          </a:p>
          <a:p>
            <a:pPr marL="0" indent="0" algn="r" rtl="1">
              <a:buNone/>
            </a:pPr>
            <a:r>
              <a:rPr lang="fa-IR" dirty="0">
                <a:latin typeface="B Nazanin" pitchFamily="2" charset="-78"/>
                <a:cs typeface="B Nazanin" pitchFamily="2" charset="-78"/>
              </a:rPr>
              <a:t>گرفتن بازخورد از همکاران یا استاد راهنما.</a:t>
            </a:r>
          </a:p>
          <a:p>
            <a:pPr marL="0" indent="0" algn="r" rtl="1">
              <a:buNone/>
            </a:pPr>
            <a:r>
              <a:rPr lang="fa-IR" dirty="0">
                <a:latin typeface="B Nazanin" pitchFamily="2" charset="-78"/>
                <a:cs typeface="B Nazanin" pitchFamily="2" charset="-78"/>
              </a:rPr>
              <a:t>توجه به </a:t>
            </a:r>
            <a:r>
              <a:rPr lang="fa-IR" dirty="0" err="1">
                <a:latin typeface="B Nazanin" pitchFamily="2" charset="-78"/>
                <a:cs typeface="B Nazanin" pitchFamily="2" charset="-78"/>
              </a:rPr>
              <a:t>دستورالعمل‌های</a:t>
            </a:r>
            <a:r>
              <a:rPr lang="fa-IR" dirty="0">
                <a:latin typeface="B Nazanin" pitchFamily="2" charset="-78"/>
                <a:cs typeface="B Nazanin" pitchFamily="2" charset="-78"/>
              </a:rPr>
              <a:t> مجله هدف پیش از ارسال.</a:t>
            </a:r>
          </a:p>
          <a:p>
            <a:pPr marL="0" indent="0" algn="r">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CA70069A-3132-D912-66DB-914C7324D296}"/>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93854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E4E6A5-0324-DD24-1F5B-6487C5DC8497}"/>
              </a:ext>
            </a:extLst>
          </p:cNvPr>
          <p:cNvSpPr>
            <a:spLocks noGrp="1"/>
          </p:cNvSpPr>
          <p:nvPr>
            <p:ph idx="1"/>
          </p:nvPr>
        </p:nvSpPr>
        <p:spPr>
          <a:xfrm>
            <a:off x="1370012" y="304800"/>
            <a:ext cx="10157354" cy="838200"/>
          </a:xfrm>
        </p:spPr>
        <p:txBody>
          <a:bodyPr>
            <a:normAutofit fontScale="92500" lnSpcReduction="10000"/>
          </a:bodyPr>
          <a:lstStyle/>
          <a:p>
            <a:pPr marL="0" indent="0" algn="r" defTabSz="1218987" rtl="1" eaLnBrk="1" latinLnBrk="0" hangingPunct="1">
              <a:lnSpc>
                <a:spcPct val="95000"/>
              </a:lnSpc>
              <a:spcBef>
                <a:spcPts val="1866"/>
              </a:spcBef>
              <a:buClr>
                <a:schemeClr val="accent6">
                  <a:lumMod val="50000"/>
                </a:schemeClr>
              </a:buClr>
              <a:buSzPct val="100000"/>
              <a:buNone/>
            </a:pPr>
            <a:r>
              <a:rPr lang="fa-IR" sz="5400" dirty="0" err="1">
                <a:solidFill>
                  <a:schemeClr val="accent2">
                    <a:lumMod val="50000"/>
                  </a:schemeClr>
                </a:solidFill>
                <a:latin typeface="B Mitra" pitchFamily="2" charset="-78"/>
                <a:cs typeface="B Mitra" pitchFamily="2" charset="-78"/>
              </a:rPr>
              <a:t>ویرایشگر</a:t>
            </a:r>
            <a:r>
              <a:rPr lang="fa-IR" sz="5400" dirty="0">
                <a:solidFill>
                  <a:schemeClr val="accent2">
                    <a:lumMod val="50000"/>
                  </a:schemeClr>
                </a:solidFill>
                <a:latin typeface="B Mitra" pitchFamily="2" charset="-78"/>
                <a:cs typeface="B Mitra" pitchFamily="2" charset="-78"/>
              </a:rPr>
              <a:t> های متن برای مقاله </a:t>
            </a:r>
            <a:r>
              <a:rPr lang="fa-IR" sz="5400" dirty="0" err="1">
                <a:solidFill>
                  <a:schemeClr val="accent2">
                    <a:lumMod val="50000"/>
                  </a:schemeClr>
                </a:solidFill>
                <a:latin typeface="B Mitra" pitchFamily="2" charset="-78"/>
                <a:cs typeface="B Mitra" pitchFamily="2" charset="-78"/>
              </a:rPr>
              <a:t>نویسی</a:t>
            </a:r>
            <a:r>
              <a:rPr lang="fa-IR" sz="5400" dirty="0">
                <a:solidFill>
                  <a:schemeClr val="accent2">
                    <a:lumMod val="50000"/>
                  </a:schemeClr>
                </a:solidFill>
                <a:latin typeface="B Mitra" pitchFamily="2" charset="-78"/>
                <a:cs typeface="B Mitra" pitchFamily="2" charset="-78"/>
              </a:rPr>
              <a:t> علمی</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A6744CB5-63B8-5D91-AC7A-C74D9D212978}"/>
              </a:ext>
            </a:extLst>
          </p:cNvPr>
          <p:cNvSpPr txBox="1"/>
          <p:nvPr/>
        </p:nvSpPr>
        <p:spPr>
          <a:xfrm>
            <a:off x="531812" y="1524000"/>
            <a:ext cx="10995554" cy="5009064"/>
          </a:xfrm>
          <a:prstGeom prst="rect">
            <a:avLst/>
          </a:prstGeom>
          <a:noFill/>
        </p:spPr>
        <p:txBody>
          <a:bodyPr wrap="square" rtlCol="0">
            <a:spAutoFit/>
          </a:bodyPr>
          <a:lstStyle/>
          <a:p>
            <a:pPr algn="r" defTabSz="1218987" rtl="1" eaLnBrk="1" latinLnBrk="0" hangingPunct="1">
              <a:lnSpc>
                <a:spcPct val="95000"/>
              </a:lnSpc>
            </a:pPr>
            <a:r>
              <a:rPr lang="fa-IR" dirty="0">
                <a:latin typeface="Aptos" panose="020B0004020202020204" pitchFamily="34" charset="0"/>
                <a:cs typeface="B Nazanin" pitchFamily="2" charset="-78"/>
              </a:rPr>
              <a:t>۱.   </a:t>
            </a:r>
            <a:r>
              <a:rPr lang="en-US" dirty="0">
                <a:latin typeface="Aptos" panose="020B0004020202020204" pitchFamily="34" charset="0"/>
                <a:cs typeface="B Nazanin" pitchFamily="2" charset="-78"/>
              </a:rPr>
              <a:t>Microsoft Word</a:t>
            </a:r>
            <a:endParaRPr lang="fa-IR"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پر </a:t>
            </a:r>
            <a:r>
              <a:rPr lang="fa-IR" dirty="0" err="1">
                <a:latin typeface="B Nazanin" pitchFamily="2" charset="-78"/>
                <a:cs typeface="B Nazanin" pitchFamily="2" charset="-78"/>
              </a:rPr>
              <a:t>کاربردترین</a:t>
            </a:r>
            <a:r>
              <a:rPr lang="fa-IR" dirty="0">
                <a:latin typeface="B Nazanin" pitchFamily="2" charset="-78"/>
                <a:cs typeface="B Nazanin" pitchFamily="2" charset="-78"/>
              </a:rPr>
              <a:t> ابزار در نگارش علمی</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امکانات: قالب بندی، مدیریت منابع با </a:t>
            </a:r>
            <a:r>
              <a:rPr lang="fa-IR" dirty="0" err="1">
                <a:latin typeface="B Nazanin" pitchFamily="2" charset="-78"/>
                <a:cs typeface="B Nazanin" pitchFamily="2" charset="-78"/>
              </a:rPr>
              <a:t>افرونه</a:t>
            </a:r>
            <a:r>
              <a:rPr lang="fa-IR" dirty="0">
                <a:latin typeface="B Nazanin" pitchFamily="2" charset="-78"/>
                <a:cs typeface="B Nazanin" pitchFamily="2" charset="-78"/>
              </a:rPr>
              <a:t> ها، بررسی املا و دستور زبان.</a:t>
            </a:r>
          </a:p>
          <a:p>
            <a:pPr algn="r" defTabSz="1218987" rtl="1" eaLnBrk="1" latinLnBrk="0" hangingPunct="1">
              <a:lnSpc>
                <a:spcPct val="95000"/>
              </a:lnSpc>
            </a:pPr>
            <a:endParaRPr lang="fa-IR" dirty="0">
              <a:latin typeface="B Nazanin" pitchFamily="2" charset="-78"/>
              <a:cs typeface="B Nazanin" pitchFamily="2" charset="-78"/>
            </a:endParaRPr>
          </a:p>
          <a:p>
            <a:pPr algn="r" defTabSz="1218987" rtl="1" eaLnBrk="1" latinLnBrk="0" hangingPunct="1">
              <a:lnSpc>
                <a:spcPct val="95000"/>
              </a:lnSpc>
            </a:pPr>
            <a:r>
              <a:rPr lang="fa-IR" dirty="0">
                <a:latin typeface="Aptos" panose="020B0004020202020204" pitchFamily="34" charset="0"/>
                <a:cs typeface="B Nazanin" pitchFamily="2" charset="-78"/>
              </a:rPr>
              <a:t>۲. </a:t>
            </a:r>
            <a:r>
              <a:rPr lang="en-US" dirty="0">
                <a:latin typeface="Aptos" panose="020B0004020202020204" pitchFamily="34" charset="0"/>
                <a:cs typeface="B Nazanin" pitchFamily="2" charset="-78"/>
              </a:rPr>
              <a:t>Google Docs   </a:t>
            </a:r>
            <a:endParaRPr lang="fa-IR"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امکان کار گروهی و ویرایش همزمان.</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ذخیره سازی ابری و دسترسی آسان</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مناسب برای تیم های پژوهشی</a:t>
            </a:r>
          </a:p>
          <a:p>
            <a:pPr marL="342900" indent="-342900" algn="r" defTabSz="1218987" rtl="1" eaLnBrk="1" latinLnBrk="0" hangingPunct="1">
              <a:lnSpc>
                <a:spcPct val="95000"/>
              </a:lnSpc>
              <a:buFont typeface="Arial" panose="020B0604020202020204" pitchFamily="34" charset="0"/>
              <a:buChar char="•"/>
            </a:pPr>
            <a:endParaRPr lang="fa-IR" dirty="0">
              <a:latin typeface="B Nazanin" pitchFamily="2" charset="-78"/>
              <a:cs typeface="B Nazanin" pitchFamily="2" charset="-78"/>
            </a:endParaRPr>
          </a:p>
          <a:p>
            <a:pPr algn="r" defTabSz="1218987" rtl="1" eaLnBrk="1" latinLnBrk="0" hangingPunct="1">
              <a:lnSpc>
                <a:spcPct val="95000"/>
              </a:lnSpc>
            </a:pPr>
            <a:r>
              <a:rPr lang="fa-IR" dirty="0">
                <a:latin typeface="Aptos" panose="020B0004020202020204" pitchFamily="34" charset="0"/>
                <a:cs typeface="B Nazanin" pitchFamily="2" charset="-78"/>
              </a:rPr>
              <a:t>۳.    </a:t>
            </a:r>
            <a:r>
              <a:rPr lang="en-US" dirty="0">
                <a:latin typeface="Aptos" panose="020B0004020202020204" pitchFamily="34" charset="0"/>
                <a:cs typeface="B Nazanin" pitchFamily="2" charset="-78"/>
              </a:rPr>
              <a:t>LaTeX</a:t>
            </a:r>
            <a:endParaRPr lang="fa-IR"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استاندارد طلایی در ریاضیات، علوم کامپیوتر و فیزیک</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مدیریت دقیق فرمول ها</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نیازمند یادگیری اولیه، اما خروجی بسیار حرفه ای</a:t>
            </a:r>
          </a:p>
          <a:p>
            <a:pPr algn="r" defTabSz="1218987" rtl="1" eaLnBrk="1" latinLnBrk="0" hangingPunct="1">
              <a:lnSpc>
                <a:spcPct val="95000"/>
              </a:lnSpc>
            </a:pPr>
            <a:r>
              <a:rPr lang="en-US" dirty="0">
                <a:latin typeface="B Nazanin" pitchFamily="2" charset="-78"/>
                <a:cs typeface="B Nazanin" pitchFamily="2" charset="-78"/>
              </a:rPr>
              <a:t>    </a:t>
            </a:r>
            <a:endParaRPr lang="fa-IR"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51BBF85C-1508-560F-7DAB-BCA391852983}"/>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3231235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A5C7441-BA18-1A07-C775-C2F93E59F2F3}"/>
              </a:ext>
            </a:extLst>
          </p:cNvPr>
          <p:cNvGraphicFramePr>
            <a:graphicFrameLocks noGrp="1"/>
          </p:cNvGraphicFramePr>
          <p:nvPr>
            <p:ph idx="1"/>
            <p:extLst>
              <p:ext uri="{D42A27DB-BD31-4B8C-83A1-F6EECF244321}">
                <p14:modId xmlns:p14="http://schemas.microsoft.com/office/powerpoint/2010/main" val="2040141744"/>
              </p:ext>
            </p:extLst>
          </p:nvPr>
        </p:nvGraphicFramePr>
        <p:xfrm>
          <a:off x="1751012" y="1811020"/>
          <a:ext cx="8991604" cy="3235960"/>
        </p:xfrm>
        <a:graphic>
          <a:graphicData uri="http://schemas.openxmlformats.org/drawingml/2006/table">
            <a:tbl>
              <a:tblPr firstRow="1" bandRow="1">
                <a:tableStyleId>{9DCAF9ED-07DC-4A11-8D7F-57B35C25682E}</a:tableStyleId>
              </a:tblPr>
              <a:tblGrid>
                <a:gridCol w="2247901">
                  <a:extLst>
                    <a:ext uri="{9D8B030D-6E8A-4147-A177-3AD203B41FA5}">
                      <a16:colId xmlns:a16="http://schemas.microsoft.com/office/drawing/2014/main" val="3032637250"/>
                    </a:ext>
                  </a:extLst>
                </a:gridCol>
                <a:gridCol w="2247901">
                  <a:extLst>
                    <a:ext uri="{9D8B030D-6E8A-4147-A177-3AD203B41FA5}">
                      <a16:colId xmlns:a16="http://schemas.microsoft.com/office/drawing/2014/main" val="1192104002"/>
                    </a:ext>
                  </a:extLst>
                </a:gridCol>
                <a:gridCol w="2247901">
                  <a:extLst>
                    <a:ext uri="{9D8B030D-6E8A-4147-A177-3AD203B41FA5}">
                      <a16:colId xmlns:a16="http://schemas.microsoft.com/office/drawing/2014/main" val="1884302353"/>
                    </a:ext>
                  </a:extLst>
                </a:gridCol>
                <a:gridCol w="2247901">
                  <a:extLst>
                    <a:ext uri="{9D8B030D-6E8A-4147-A177-3AD203B41FA5}">
                      <a16:colId xmlns:a16="http://schemas.microsoft.com/office/drawing/2014/main" val="3640988030"/>
                    </a:ext>
                  </a:extLst>
                </a:gridCol>
              </a:tblGrid>
              <a:tr h="681807">
                <a:tc>
                  <a:txBody>
                    <a:bodyPr/>
                    <a:lstStyle/>
                    <a:p>
                      <a:pPr marL="0" algn="ctr" defTabSz="1218987" rtl="1" eaLnBrk="1" latinLnBrk="0" hangingPunct="1"/>
                      <a:r>
                        <a:rPr lang="fa-IR" dirty="0">
                          <a:latin typeface="B Nazanin" pitchFamily="2" charset="-78"/>
                          <a:cs typeface="B Nazanin" pitchFamily="2" charset="-78"/>
                        </a:rPr>
                        <a:t>بهترین کاربرد</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معایب</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مزایا</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ابزار</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3893800"/>
                  </a:ext>
                </a:extLst>
              </a:tr>
              <a:tr h="865370">
                <a:tc>
                  <a:txBody>
                    <a:bodyPr/>
                    <a:lstStyle/>
                    <a:p>
                      <a:pPr marL="0" algn="ctr" defTabSz="1218987" rtl="1" eaLnBrk="1" latinLnBrk="0" hangingPunct="1"/>
                      <a:r>
                        <a:rPr lang="fa-IR" dirty="0">
                          <a:latin typeface="B Nazanin" pitchFamily="2" charset="-78"/>
                          <a:cs typeface="B Nazanin" pitchFamily="2" charset="-78"/>
                        </a:rPr>
                        <a:t>مقالات عمومی</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محدودیت در فرمول ها</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dirty="0" err="1">
                          <a:latin typeface="B Nazanin" pitchFamily="2" charset="-78"/>
                          <a:cs typeface="B Nazanin" pitchFamily="2" charset="-78"/>
                        </a:rPr>
                        <a:t>س</a:t>
                      </a:r>
                      <a:r>
                        <a:rPr lang="fa-IR" dirty="0" err="1">
                          <a:latin typeface="B Nazanin" pitchFamily="2" charset="-78"/>
                          <a:cs typeface="B Nazanin" pitchFamily="2" charset="-78"/>
                        </a:rPr>
                        <a:t>اده</a:t>
                      </a:r>
                      <a:r>
                        <a:rPr lang="fa-IR" dirty="0">
                          <a:latin typeface="B Nazanin" pitchFamily="2" charset="-78"/>
                          <a:cs typeface="B Nazanin" pitchFamily="2" charset="-78"/>
                        </a:rPr>
                        <a:t>، رایج، پشتیبانی از افزونه ها</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0" eaLnBrk="1" latinLnBrk="0" hangingPunct="1"/>
                      <a:r>
                        <a:rPr lang="en-US" dirty="0">
                          <a:latin typeface="Aptos" panose="020B0004020202020204" pitchFamily="34" charset="0"/>
                          <a:cs typeface="B Nazanin" pitchFamily="2" charset="-78"/>
                        </a:rPr>
                        <a:t>Word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7349815"/>
                  </a:ext>
                </a:extLst>
              </a:tr>
              <a:tr h="839147">
                <a:tc>
                  <a:txBody>
                    <a:bodyPr/>
                    <a:lstStyle/>
                    <a:p>
                      <a:pPr marL="0" algn="ctr" defTabSz="1218987" rtl="1" eaLnBrk="1" latinLnBrk="0" hangingPunct="1"/>
                      <a:r>
                        <a:rPr lang="fa-IR" dirty="0">
                          <a:latin typeface="B Nazanin" pitchFamily="2" charset="-78"/>
                          <a:cs typeface="B Nazanin" pitchFamily="2" charset="-78"/>
                        </a:rPr>
                        <a:t>کار تیمی</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وابسته به اینترنت</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همکاری آنلاین</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dirty="0">
                          <a:latin typeface="Aptos" panose="020B0004020202020204" pitchFamily="34" charset="0"/>
                          <a:cs typeface="B Nazanin" pitchFamily="2" charset="-78"/>
                        </a:rPr>
                        <a:t>Google Docs</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8271118"/>
                  </a:ext>
                </a:extLst>
              </a:tr>
              <a:tr h="849636">
                <a:tc>
                  <a:txBody>
                    <a:bodyPr/>
                    <a:lstStyle/>
                    <a:p>
                      <a:pPr marL="0" algn="ctr" defTabSz="1218987" rtl="1" eaLnBrk="1" latinLnBrk="0" hangingPunct="1"/>
                      <a:r>
                        <a:rPr lang="fa-IR" dirty="0">
                          <a:latin typeface="B Nazanin" pitchFamily="2" charset="-78"/>
                          <a:cs typeface="B Nazanin" pitchFamily="2" charset="-78"/>
                        </a:rPr>
                        <a:t>علوم پایه و مهندسی</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یادگیری دشوار تر</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218987" rtl="1" eaLnBrk="1" latinLnBrk="0" hangingPunct="1"/>
                      <a:r>
                        <a:rPr lang="fa-IR" dirty="0">
                          <a:latin typeface="B Nazanin" pitchFamily="2" charset="-78"/>
                          <a:cs typeface="B Nazanin" pitchFamily="2" charset="-78"/>
                        </a:rPr>
                        <a:t>حرفه ای، دقیق، استاندارد علمی</a:t>
                      </a:r>
                      <a:endParaRPr lang="en-US" dirty="0">
                        <a:latin typeface="B Nazanin" pitchFamily="2" charset="-78"/>
                        <a:cs typeface="B Nazanin" pitchFamily="2" charset="-7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dirty="0">
                          <a:latin typeface="Aptos" panose="020B0004020202020204" pitchFamily="34" charset="0"/>
                          <a:cs typeface="B Nazanin" pitchFamily="2" charset="-78"/>
                        </a:rPr>
                        <a:t>LaTeX</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1809103"/>
                  </a:ext>
                </a:extLst>
              </a:tr>
            </a:tbl>
          </a:graphicData>
        </a:graphic>
      </p:graphicFrame>
      <p:sp>
        <p:nvSpPr>
          <p:cNvPr id="8" name="TextBox 7">
            <a:extLst>
              <a:ext uri="{FF2B5EF4-FFF2-40B4-BE49-F238E27FC236}">
                <a16:creationId xmlns:a16="http://schemas.microsoft.com/office/drawing/2014/main" id="{96E1C797-FE0A-6609-AC7B-6042E9A2912E}"/>
              </a:ext>
            </a:extLst>
          </p:cNvPr>
          <p:cNvSpPr txBox="1"/>
          <p:nvPr/>
        </p:nvSpPr>
        <p:spPr>
          <a:xfrm>
            <a:off x="1446212" y="304800"/>
            <a:ext cx="9982200" cy="892167"/>
          </a:xfrm>
          <a:prstGeom prst="rect">
            <a:avLst/>
          </a:prstGeom>
          <a:noFill/>
        </p:spPr>
        <p:txBody>
          <a:bodyPr wrap="square" rtlCol="0">
            <a:spAutoFit/>
          </a:bodyPr>
          <a:lstStyle/>
          <a:p>
            <a:pPr marL="0" algn="r" defTabSz="1218987" rtl="1" eaLnBrk="1" latinLnBrk="0" hangingPunct="1">
              <a:lnSpc>
                <a:spcPct val="95000"/>
              </a:lnSpc>
            </a:pPr>
            <a:r>
              <a:rPr lang="fa-IR" sz="5400" dirty="0">
                <a:solidFill>
                  <a:schemeClr val="accent2">
                    <a:lumMod val="50000"/>
                  </a:schemeClr>
                </a:solidFill>
                <a:latin typeface="B Mitra" pitchFamily="2" charset="-78"/>
                <a:cs typeface="B Mitra" pitchFamily="2" charset="-78"/>
              </a:rPr>
              <a:t>مقایسه </a:t>
            </a:r>
            <a:r>
              <a:rPr lang="fa-IR" sz="5400" dirty="0" err="1">
                <a:solidFill>
                  <a:schemeClr val="accent2">
                    <a:lumMod val="50000"/>
                  </a:schemeClr>
                </a:solidFill>
                <a:latin typeface="B Mitra" pitchFamily="2" charset="-78"/>
                <a:cs typeface="B Mitra" pitchFamily="2" charset="-78"/>
              </a:rPr>
              <a:t>ویرایشگر</a:t>
            </a:r>
            <a:r>
              <a:rPr lang="fa-IR" sz="5400" dirty="0">
                <a:solidFill>
                  <a:schemeClr val="accent2">
                    <a:lumMod val="50000"/>
                  </a:schemeClr>
                </a:solidFill>
                <a:latin typeface="B Mitra" pitchFamily="2" charset="-78"/>
                <a:cs typeface="B Mitra" pitchFamily="2" charset="-78"/>
              </a:rPr>
              <a:t> های متن</a:t>
            </a:r>
            <a:endParaRPr lang="en-US" sz="5400" dirty="0">
              <a:solidFill>
                <a:schemeClr val="accent2">
                  <a:lumMod val="50000"/>
                </a:schemeClr>
              </a:solidFill>
              <a:latin typeface="B Mitra" pitchFamily="2" charset="-78"/>
              <a:cs typeface="B Mitra" pitchFamily="2" charset="-78"/>
            </a:endParaRPr>
          </a:p>
        </p:txBody>
      </p:sp>
      <p:pic>
        <p:nvPicPr>
          <p:cNvPr id="2" name="Picture 1" descr="A white symbol with a black background&#10;&#10;AI-generated content may be incorrect.">
            <a:extLst>
              <a:ext uri="{FF2B5EF4-FFF2-40B4-BE49-F238E27FC236}">
                <a16:creationId xmlns:a16="http://schemas.microsoft.com/office/drawing/2014/main" id="{185D9187-D71A-5D1C-8630-F8FA672B6766}"/>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1189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1B0E1D-B454-13F7-5BDD-4466BF7D4BAD}"/>
              </a:ext>
            </a:extLst>
          </p:cNvPr>
          <p:cNvSpPr>
            <a:spLocks noGrp="1"/>
          </p:cNvSpPr>
          <p:nvPr>
            <p:ph idx="1"/>
          </p:nvPr>
        </p:nvSpPr>
        <p:spPr>
          <a:xfrm>
            <a:off x="1446212" y="228600"/>
            <a:ext cx="10157354" cy="838200"/>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None/>
            </a:pPr>
            <a:r>
              <a:rPr lang="fa-IR" sz="5400" dirty="0">
                <a:solidFill>
                  <a:schemeClr val="accent2">
                    <a:lumMod val="50000"/>
                  </a:schemeClr>
                </a:solidFill>
                <a:latin typeface="B Mitra" pitchFamily="2" charset="-78"/>
                <a:cs typeface="B Mitra" pitchFamily="2" charset="-78"/>
              </a:rPr>
              <a:t>استفاده از هوش مصنوعی در مقاله </a:t>
            </a:r>
            <a:r>
              <a:rPr lang="fa-IR" sz="5400" dirty="0" err="1">
                <a:solidFill>
                  <a:schemeClr val="accent2">
                    <a:lumMod val="50000"/>
                  </a:schemeClr>
                </a:solidFill>
                <a:latin typeface="B Mitra" pitchFamily="2" charset="-78"/>
                <a:cs typeface="B Mitra" pitchFamily="2" charset="-78"/>
              </a:rPr>
              <a:t>نویسی</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740ACF40-0934-6E12-E2B4-736532DF5004}"/>
              </a:ext>
            </a:extLst>
          </p:cNvPr>
          <p:cNvSpPr txBox="1"/>
          <p:nvPr/>
        </p:nvSpPr>
        <p:spPr>
          <a:xfrm>
            <a:off x="706966" y="1371600"/>
            <a:ext cx="10896600" cy="4658198"/>
          </a:xfrm>
          <a:prstGeom prst="rect">
            <a:avLst/>
          </a:prstGeom>
          <a:noFill/>
        </p:spPr>
        <p:txBody>
          <a:bodyPr wrap="square" rtlCol="0">
            <a:spAutoFit/>
          </a:bodyPr>
          <a:lstStyle/>
          <a:p>
            <a:pPr algn="r" rtl="1">
              <a:lnSpc>
                <a:spcPct val="95000"/>
              </a:lnSpc>
            </a:pPr>
            <a:r>
              <a:rPr lang="fa-IR" dirty="0">
                <a:latin typeface="B Nazanin" pitchFamily="2" charset="-78"/>
                <a:cs typeface="B Nazanin" pitchFamily="2" charset="-78"/>
              </a:rPr>
              <a:t> ابزارهای هوش مصنوعی در </a:t>
            </a:r>
            <a:r>
              <a:rPr lang="fa-IR" dirty="0" err="1">
                <a:latin typeface="B Nazanin" pitchFamily="2" charset="-78"/>
                <a:cs typeface="B Nazanin" pitchFamily="2" charset="-78"/>
              </a:rPr>
              <a:t>مقاله‌نویسی</a:t>
            </a:r>
            <a:r>
              <a:rPr lang="fa-IR" dirty="0">
                <a:latin typeface="B Nazanin" pitchFamily="2" charset="-78"/>
                <a:cs typeface="B Nazanin" pitchFamily="2" charset="-78"/>
              </a:rPr>
              <a:t> علمی </a:t>
            </a:r>
            <a:r>
              <a:rPr lang="fa-IR" dirty="0" err="1">
                <a:latin typeface="B Nazanin" pitchFamily="2" charset="-78"/>
                <a:cs typeface="B Nazanin" pitchFamily="2" charset="-78"/>
              </a:rPr>
              <a:t>به‌سرعت</a:t>
            </a:r>
            <a:r>
              <a:rPr lang="fa-IR" dirty="0">
                <a:latin typeface="B Nazanin" pitchFamily="2" charset="-78"/>
                <a:cs typeface="B Nazanin" pitchFamily="2" charset="-78"/>
              </a:rPr>
              <a:t> در حال تبدیل شدن به یار کمکی پژوهشگران هستند. این ابزارها </a:t>
            </a:r>
            <a:r>
              <a:rPr lang="fa-IR" dirty="0" err="1">
                <a:latin typeface="B Nazanin" pitchFamily="2" charset="-78"/>
                <a:cs typeface="B Nazanin" pitchFamily="2" charset="-78"/>
              </a:rPr>
              <a:t>می‌توانند</a:t>
            </a:r>
            <a:r>
              <a:rPr lang="fa-IR" dirty="0">
                <a:latin typeface="B Nazanin" pitchFamily="2" charset="-78"/>
                <a:cs typeface="B Nazanin" pitchFamily="2" charset="-78"/>
              </a:rPr>
              <a:t> در مراحل مختلف نگارش، از تولید متن تا ویرایش و مدیریت منابع، </a:t>
            </a:r>
            <a:r>
              <a:rPr lang="fa-IR" dirty="0" err="1">
                <a:latin typeface="B Nazanin" pitchFamily="2" charset="-78"/>
                <a:cs typeface="B Nazanin" pitchFamily="2" charset="-78"/>
              </a:rPr>
              <a:t>نقش‌آفرینی</a:t>
            </a:r>
            <a:r>
              <a:rPr lang="fa-IR" dirty="0">
                <a:latin typeface="B Nazanin" pitchFamily="2" charset="-78"/>
                <a:cs typeface="B Nazanin" pitchFamily="2" charset="-78"/>
              </a:rPr>
              <a:t> کنند.</a:t>
            </a:r>
          </a:p>
          <a:p>
            <a:pPr marL="0" algn="r" defTabSz="1218987" rtl="1" eaLnBrk="1" latinLnBrk="0" hangingPunct="1">
              <a:lnSpc>
                <a:spcPct val="95000"/>
              </a:lnSpc>
            </a:pPr>
            <a:endParaRPr lang="fa-IR" dirty="0">
              <a:latin typeface="B Nazanin" pitchFamily="2" charset="-78"/>
              <a:cs typeface="B Nazanin" pitchFamily="2" charset="-78"/>
            </a:endParaRPr>
          </a:p>
          <a:p>
            <a:pPr marL="457200" indent="-457200" algn="r" defTabSz="1218987" rtl="1" eaLnBrk="1" latinLnBrk="0" hangingPunct="1">
              <a:lnSpc>
                <a:spcPct val="95000"/>
              </a:lnSpc>
              <a:buAutoNum type="arabicPeriod"/>
            </a:pPr>
            <a:r>
              <a:rPr lang="fa-IR" dirty="0">
                <a:latin typeface="B Nazanin" pitchFamily="2" charset="-78"/>
                <a:cs typeface="B Nazanin" pitchFamily="2" charset="-78"/>
              </a:rPr>
              <a:t>ابزار های تولید و بازنویسی متن:</a:t>
            </a:r>
          </a:p>
          <a:p>
            <a:pPr marL="342900" indent="-342900" defTabSz="1218987" eaLnBrk="1" latinLnBrk="0" hangingPunct="1">
              <a:lnSpc>
                <a:spcPct val="95000"/>
              </a:lnSpc>
              <a:buFont typeface="Arial" panose="020B0604020202020204" pitchFamily="34" charset="0"/>
              <a:buChar char="•"/>
            </a:pPr>
            <a:r>
              <a:rPr lang="en-US" dirty="0">
                <a:latin typeface="Aptos" panose="020B0004020202020204" pitchFamily="34" charset="0"/>
                <a:cs typeface="B Nazanin" pitchFamily="2" charset="-78"/>
              </a:rPr>
              <a:t>ChatGPT / Copilot</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کمک در نوشتن مقدمه، چکیده، بحث و نتیجه گیری</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بازنویسی متن برای وضوح و روان بودن.</a:t>
            </a:r>
          </a:p>
          <a:p>
            <a:pPr marL="342900" indent="-342900" algn="l" defTabSz="1218987" eaLnBrk="1" latinLnBrk="0" hangingPunct="1">
              <a:lnSpc>
                <a:spcPct val="95000"/>
              </a:lnSpc>
              <a:buFont typeface="Arial" panose="020B0604020202020204" pitchFamily="34" charset="0"/>
              <a:buChar char="•"/>
            </a:pPr>
            <a:r>
              <a:rPr lang="en-US" dirty="0" err="1">
                <a:latin typeface="Aptos" panose="020B0004020202020204" pitchFamily="34" charset="0"/>
                <a:cs typeface="B Nazanin" pitchFamily="2" charset="-78"/>
              </a:rPr>
              <a:t>QuillBot</a:t>
            </a:r>
            <a:endParaRPr lang="fa-IR"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بازنویسی و ساده سازی جملات</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کاهش تکرار و بهبود سبک نگارشی</a:t>
            </a:r>
          </a:p>
          <a:p>
            <a:pPr marL="342900" indent="-342900" defTabSz="1218987" eaLnBrk="1" latinLnBrk="0" hangingPunct="1">
              <a:lnSpc>
                <a:spcPct val="95000"/>
              </a:lnSpc>
              <a:buFont typeface="Arial" panose="020B0604020202020204" pitchFamily="34" charset="0"/>
              <a:buChar char="•"/>
            </a:pPr>
            <a:r>
              <a:rPr lang="en-US" dirty="0">
                <a:latin typeface="Aptos" panose="020B0004020202020204" pitchFamily="34" charset="0"/>
                <a:cs typeface="B Nazanin" pitchFamily="2" charset="-78"/>
              </a:rPr>
              <a:t>Jasper AI / </a:t>
            </a:r>
            <a:r>
              <a:rPr lang="en-US" dirty="0" err="1">
                <a:latin typeface="Aptos" panose="020B0004020202020204" pitchFamily="34" charset="0"/>
                <a:cs typeface="B Nazanin" pitchFamily="2" charset="-78"/>
              </a:rPr>
              <a:t>Copy.ai</a:t>
            </a:r>
            <a:r>
              <a:rPr lang="en-US" dirty="0">
                <a:latin typeface="Aptos" panose="020B0004020202020204" pitchFamily="34" charset="0"/>
                <a:cs typeface="B Nazanin" pitchFamily="2" charset="-78"/>
              </a:rPr>
              <a:t> / </a:t>
            </a:r>
            <a:r>
              <a:rPr lang="en-US" dirty="0" err="1">
                <a:latin typeface="Aptos" panose="020B0004020202020204" pitchFamily="34" charset="0"/>
                <a:cs typeface="B Nazanin" pitchFamily="2" charset="-78"/>
              </a:rPr>
              <a:t>Rytr</a:t>
            </a:r>
            <a:endParaRPr lang="en-US"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تولید پیش </a:t>
            </a:r>
            <a:r>
              <a:rPr lang="fa-IR" dirty="0" err="1">
                <a:latin typeface="B Nazanin" pitchFamily="2" charset="-78"/>
                <a:cs typeface="B Nazanin" pitchFamily="2" charset="-78"/>
              </a:rPr>
              <a:t>نویس</a:t>
            </a:r>
            <a:r>
              <a:rPr lang="fa-IR" dirty="0">
                <a:latin typeface="B Nazanin" pitchFamily="2" charset="-78"/>
                <a:cs typeface="B Nazanin" pitchFamily="2" charset="-78"/>
              </a:rPr>
              <a:t> سریع برای بخش های مختلف مقاله</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پیشنهاد عنوان و چکیده</a:t>
            </a:r>
            <a:endParaRPr lang="en-US"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0409946D-DA27-06E8-C1EA-88A6D0E97E3C}"/>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26319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2B0264-FF68-3305-1E74-6D3088CA479E}"/>
              </a:ext>
            </a:extLst>
          </p:cNvPr>
          <p:cNvSpPr txBox="1"/>
          <p:nvPr/>
        </p:nvSpPr>
        <p:spPr>
          <a:xfrm>
            <a:off x="684212" y="457200"/>
            <a:ext cx="10972800" cy="6061659"/>
          </a:xfrm>
          <a:prstGeom prst="rect">
            <a:avLst/>
          </a:prstGeom>
          <a:noFill/>
        </p:spPr>
        <p:txBody>
          <a:bodyPr wrap="square" rtlCol="0">
            <a:spAutoFit/>
          </a:bodyPr>
          <a:lstStyle/>
          <a:p>
            <a:pPr marL="0" algn="r" defTabSz="1218987" rtl="1" eaLnBrk="1" latinLnBrk="0" hangingPunct="1">
              <a:lnSpc>
                <a:spcPct val="95000"/>
              </a:lnSpc>
            </a:pPr>
            <a:r>
              <a:rPr lang="fa-IR" dirty="0">
                <a:latin typeface="B Nazanin" pitchFamily="2" charset="-78"/>
                <a:cs typeface="B Nazanin" pitchFamily="2" charset="-78"/>
              </a:rPr>
              <a:t>۲. ابزار های ویرایش زبان و سبک</a:t>
            </a:r>
          </a:p>
          <a:p>
            <a:pPr marL="342900" indent="-342900" algn="l" defTabSz="1218987" eaLnBrk="1" latinLnBrk="0" hangingPunct="1">
              <a:lnSpc>
                <a:spcPct val="95000"/>
              </a:lnSpc>
              <a:buFont typeface="Arial" panose="020B0604020202020204" pitchFamily="34" charset="0"/>
              <a:buChar char="•"/>
            </a:pPr>
            <a:r>
              <a:rPr lang="en-US" dirty="0">
                <a:latin typeface="Aptos" panose="020B0004020202020204" pitchFamily="34" charset="0"/>
                <a:cs typeface="B Nazanin" pitchFamily="2" charset="-78"/>
              </a:rPr>
              <a:t>Grammarly</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اصلاح دستور زبان، املا و سبک نگارش</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پیشنهاد برای وضوح و انسجام متن</a:t>
            </a:r>
          </a:p>
          <a:p>
            <a:pPr marL="342900" indent="-342900" defTabSz="1218987" eaLnBrk="1" latinLnBrk="0" hangingPunct="1">
              <a:lnSpc>
                <a:spcPct val="95000"/>
              </a:lnSpc>
              <a:buFont typeface="Arial" panose="020B0604020202020204" pitchFamily="34" charset="0"/>
              <a:buChar char="•"/>
            </a:pPr>
            <a:r>
              <a:rPr lang="en-US" dirty="0" err="1">
                <a:latin typeface="Aptos" panose="020B0004020202020204" pitchFamily="34" charset="0"/>
                <a:cs typeface="B Nazanin" pitchFamily="2" charset="-78"/>
              </a:rPr>
              <a:t>WordTune</a:t>
            </a:r>
            <a:endParaRPr lang="en-US"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بازنویسی جملات با سبک های مختلف (رسمی، ساده، روان)</a:t>
            </a:r>
          </a:p>
          <a:p>
            <a:pPr algn="r" defTabSz="1218987" rtl="1" eaLnBrk="1" latinLnBrk="0" hangingPunct="1">
              <a:lnSpc>
                <a:spcPct val="95000"/>
              </a:lnSpc>
            </a:pPr>
            <a:endParaRPr lang="en-US" dirty="0">
              <a:latin typeface="B Nazanin" pitchFamily="2" charset="-78"/>
              <a:cs typeface="B Nazanin" pitchFamily="2" charset="-78"/>
            </a:endParaRPr>
          </a:p>
          <a:p>
            <a:pPr marL="342900" indent="-342900" defTabSz="1218987" eaLnBrk="1" latinLnBrk="0" hangingPunct="1">
              <a:lnSpc>
                <a:spcPct val="95000"/>
              </a:lnSpc>
              <a:buFont typeface="Arial" panose="020B0604020202020204" pitchFamily="34" charset="0"/>
              <a:buChar char="•"/>
            </a:pPr>
            <a:r>
              <a:rPr lang="en-US" dirty="0" err="1">
                <a:latin typeface="Aptos" panose="020B0004020202020204" pitchFamily="34" charset="0"/>
                <a:cs typeface="B Nazanin" pitchFamily="2" charset="-78"/>
              </a:rPr>
              <a:t>LanguageTool</a:t>
            </a:r>
            <a:endParaRPr lang="en-US"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بررسی چند زبانه (مناسب برای نگارش انگلیسی و فارسی)</a:t>
            </a:r>
          </a:p>
          <a:p>
            <a:pPr algn="r" defTabSz="1218987" rtl="1" eaLnBrk="1" latinLnBrk="0" hangingPunct="1">
              <a:lnSpc>
                <a:spcPct val="95000"/>
              </a:lnSpc>
            </a:pPr>
            <a:endParaRPr lang="en-US" dirty="0">
              <a:latin typeface="B Nazanin" pitchFamily="2" charset="-78"/>
              <a:cs typeface="B Nazanin" pitchFamily="2" charset="-78"/>
            </a:endParaRPr>
          </a:p>
          <a:p>
            <a:pPr algn="r" defTabSz="1218987" rtl="1" eaLnBrk="1" latinLnBrk="0" hangingPunct="1">
              <a:lnSpc>
                <a:spcPct val="95000"/>
              </a:lnSpc>
            </a:pPr>
            <a:r>
              <a:rPr lang="fa-IR" dirty="0">
                <a:latin typeface="B Nazanin" pitchFamily="2" charset="-78"/>
                <a:cs typeface="B Nazanin" pitchFamily="2" charset="-78"/>
              </a:rPr>
              <a:t>۳. ابزار های مدیریت منابع و ارجاع دهی</a:t>
            </a:r>
          </a:p>
          <a:p>
            <a:pPr marL="342900" indent="-342900" algn="l" defTabSz="1218987" eaLnBrk="1" latinLnBrk="0" hangingPunct="1">
              <a:lnSpc>
                <a:spcPct val="95000"/>
              </a:lnSpc>
              <a:buFont typeface="Arial" panose="020B0604020202020204" pitchFamily="34" charset="0"/>
              <a:buChar char="•"/>
            </a:pPr>
            <a:r>
              <a:rPr lang="en-US" dirty="0">
                <a:latin typeface="Aptos" panose="020B0004020202020204" pitchFamily="34" charset="0"/>
                <a:cs typeface="B Nazanin" pitchFamily="2" charset="-78"/>
              </a:rPr>
              <a:t>Zotero / </a:t>
            </a:r>
            <a:r>
              <a:rPr lang="en-US" dirty="0" err="1">
                <a:latin typeface="Aptos" panose="020B0004020202020204" pitchFamily="34" charset="0"/>
                <a:cs typeface="B Nazanin" pitchFamily="2" charset="-78"/>
              </a:rPr>
              <a:t>Mendely</a:t>
            </a:r>
            <a:r>
              <a:rPr lang="en-US" dirty="0">
                <a:latin typeface="Aptos" panose="020B0004020202020204" pitchFamily="34" charset="0"/>
                <a:cs typeface="B Nazanin" pitchFamily="2" charset="-78"/>
              </a:rPr>
              <a:t> / EndNote</a:t>
            </a:r>
            <a:endParaRPr lang="fa-IR"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مدیریت منابع و ارجاع دهی خودکار</a:t>
            </a: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اتصال به </a:t>
            </a:r>
            <a:r>
              <a:rPr lang="en-US" dirty="0">
                <a:latin typeface="B Nazanin" pitchFamily="2" charset="-78"/>
                <a:cs typeface="B Nazanin" pitchFamily="2" charset="-78"/>
              </a:rPr>
              <a:t>Word</a:t>
            </a:r>
            <a:r>
              <a:rPr lang="fa-IR" dirty="0">
                <a:latin typeface="B Nazanin" pitchFamily="2" charset="-78"/>
                <a:cs typeface="B Nazanin" pitchFamily="2" charset="-78"/>
              </a:rPr>
              <a:t> و </a:t>
            </a:r>
            <a:r>
              <a:rPr lang="en-US" dirty="0">
                <a:latin typeface="B Nazanin" pitchFamily="2" charset="-78"/>
                <a:cs typeface="B Nazanin" pitchFamily="2" charset="-78"/>
              </a:rPr>
              <a:t>LaTeX</a:t>
            </a:r>
            <a:endParaRPr lang="fa-IR" dirty="0">
              <a:latin typeface="B Nazanin" pitchFamily="2" charset="-78"/>
              <a:cs typeface="B Nazanin" pitchFamily="2" charset="-78"/>
            </a:endParaRPr>
          </a:p>
          <a:p>
            <a:pPr marL="342900" indent="-342900" defTabSz="1218987" eaLnBrk="1" latinLnBrk="0" hangingPunct="1">
              <a:lnSpc>
                <a:spcPct val="95000"/>
              </a:lnSpc>
              <a:buFont typeface="Arial" panose="020B0604020202020204" pitchFamily="34" charset="0"/>
              <a:buChar char="•"/>
            </a:pPr>
            <a:r>
              <a:rPr lang="en-US" dirty="0" err="1">
                <a:latin typeface="Aptos" panose="020B0004020202020204" pitchFamily="34" charset="0"/>
                <a:cs typeface="B Nazanin" pitchFamily="2" charset="-78"/>
              </a:rPr>
              <a:t>Scholarcy</a:t>
            </a:r>
            <a:endParaRPr lang="en-US" dirty="0">
              <a:latin typeface="Aptos" panose="020B0004020202020204" pitchFamily="34" charset="0"/>
              <a:cs typeface="B Nazanin" pitchFamily="2" charset="-78"/>
            </a:endParaRPr>
          </a:p>
          <a:p>
            <a:pPr marL="342900" indent="-342900" algn="r" defTabSz="1218987" rtl="1" eaLnBrk="1" latinLnBrk="0" hangingPunct="1">
              <a:lnSpc>
                <a:spcPct val="95000"/>
              </a:lnSpc>
              <a:buFont typeface="Arial" panose="020B0604020202020204" pitchFamily="34" charset="0"/>
              <a:buChar char="•"/>
            </a:pPr>
            <a:r>
              <a:rPr lang="fa-IR" dirty="0">
                <a:latin typeface="B Nazanin" pitchFamily="2" charset="-78"/>
                <a:cs typeface="B Nazanin" pitchFamily="2" charset="-78"/>
              </a:rPr>
              <a:t>خلاصه سازی مقالات و استخراج منابع کلیدی</a:t>
            </a:r>
          </a:p>
          <a:p>
            <a:pPr algn="r" defTabSz="1218987" rtl="1" eaLnBrk="1" latinLnBrk="0" hangingPunct="1">
              <a:lnSpc>
                <a:spcPct val="95000"/>
              </a:lnSpc>
            </a:pPr>
            <a:endParaRPr lang="en-US" dirty="0">
              <a:latin typeface="B Nazanin" pitchFamily="2" charset="-78"/>
              <a:cs typeface="B Nazanin" pitchFamily="2" charset="-78"/>
            </a:endParaRPr>
          </a:p>
        </p:txBody>
      </p:sp>
      <p:pic>
        <p:nvPicPr>
          <p:cNvPr id="2" name="Picture 1" descr="A white symbol with a black background&#10;&#10;AI-generated content may be incorrect.">
            <a:extLst>
              <a:ext uri="{FF2B5EF4-FFF2-40B4-BE49-F238E27FC236}">
                <a16:creationId xmlns:a16="http://schemas.microsoft.com/office/drawing/2014/main" id="{A575B5F0-672C-F23D-361C-32A4BA6E9D20}"/>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428667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AB6729-FBCF-82E4-0422-AF94B108767B}"/>
              </a:ext>
            </a:extLst>
          </p:cNvPr>
          <p:cNvSpPr>
            <a:spLocks noGrp="1"/>
          </p:cNvSpPr>
          <p:nvPr>
            <p:ph idx="1"/>
          </p:nvPr>
        </p:nvSpPr>
        <p:spPr>
          <a:xfrm>
            <a:off x="531812" y="152400"/>
            <a:ext cx="11125200" cy="762000"/>
          </a:xfrm>
        </p:spPr>
        <p:txBody>
          <a:bodyPr>
            <a:normAutofit fontScale="92500"/>
          </a:bodyPr>
          <a:lstStyle/>
          <a:p>
            <a:pPr marL="0" indent="0" algn="r" defTabSz="1218987" rtl="1" eaLnBrk="1" latinLnBrk="0" hangingPunct="1">
              <a:lnSpc>
                <a:spcPct val="95000"/>
              </a:lnSpc>
              <a:spcBef>
                <a:spcPts val="1866"/>
              </a:spcBef>
              <a:buClr>
                <a:schemeClr val="accent6">
                  <a:lumMod val="50000"/>
                </a:schemeClr>
              </a:buClr>
              <a:buSzPct val="100000"/>
              <a:buNone/>
            </a:pPr>
            <a:r>
              <a:rPr lang="fa-IR" sz="4000" dirty="0">
                <a:solidFill>
                  <a:schemeClr val="accent2">
                    <a:lumMod val="50000"/>
                  </a:schemeClr>
                </a:solidFill>
                <a:latin typeface="B Mitra" pitchFamily="2" charset="-78"/>
                <a:cs typeface="B Mitra" pitchFamily="2" charset="-78"/>
              </a:rPr>
              <a:t>کد های اخلاقی در استفاده از هوش مصنوعی در پژوهش و مقاله </a:t>
            </a:r>
            <a:r>
              <a:rPr lang="fa-IR" sz="4000" dirty="0" err="1">
                <a:solidFill>
                  <a:schemeClr val="accent2">
                    <a:lumMod val="50000"/>
                  </a:schemeClr>
                </a:solidFill>
                <a:latin typeface="B Mitra" pitchFamily="2" charset="-78"/>
                <a:cs typeface="B Mitra" pitchFamily="2" charset="-78"/>
              </a:rPr>
              <a:t>نویسی</a:t>
            </a:r>
            <a:endParaRPr lang="en-US" sz="40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38EDC188-4CDF-21F9-66C8-5EE7A2511E84}"/>
              </a:ext>
            </a:extLst>
          </p:cNvPr>
          <p:cNvSpPr txBox="1"/>
          <p:nvPr/>
        </p:nvSpPr>
        <p:spPr>
          <a:xfrm>
            <a:off x="531812" y="1161005"/>
            <a:ext cx="10972800" cy="5175263"/>
          </a:xfrm>
          <a:prstGeom prst="rect">
            <a:avLst/>
          </a:prstGeom>
          <a:noFill/>
        </p:spPr>
        <p:txBody>
          <a:bodyPr wrap="square" rtlCol="0">
            <a:spAutoFit/>
          </a:bodyPr>
          <a:lstStyle/>
          <a:p>
            <a:pPr algn="r" rtl="1">
              <a:lnSpc>
                <a:spcPct val="95000"/>
              </a:lnSpc>
            </a:pPr>
            <a:r>
              <a:rPr lang="fa-IR" dirty="0">
                <a:latin typeface="B Nazanin" pitchFamily="2" charset="-78"/>
                <a:cs typeface="B Nazanin" pitchFamily="2" charset="-78"/>
              </a:rPr>
              <a:t>استفاده از هوش مصنوعی در </a:t>
            </a:r>
            <a:r>
              <a:rPr lang="fa-IR" dirty="0" err="1">
                <a:latin typeface="B Nazanin" pitchFamily="2" charset="-78"/>
                <a:cs typeface="B Nazanin" pitchFamily="2" charset="-78"/>
              </a:rPr>
              <a:t>مقاله‌نویسی</a:t>
            </a:r>
            <a:r>
              <a:rPr lang="fa-IR" dirty="0">
                <a:latin typeface="B Nazanin" pitchFamily="2" charset="-78"/>
                <a:cs typeface="B Nazanin" pitchFamily="2" charset="-78"/>
              </a:rPr>
              <a:t> و پژوهش نیازمند رعایت </a:t>
            </a:r>
            <a:r>
              <a:rPr lang="fa-IR" dirty="0" err="1">
                <a:latin typeface="B Nazanin" pitchFamily="2" charset="-78"/>
                <a:cs typeface="B Nazanin" pitchFamily="2" charset="-78"/>
              </a:rPr>
              <a:t>کدهای</a:t>
            </a:r>
            <a:r>
              <a:rPr lang="fa-IR" dirty="0">
                <a:latin typeface="B Nazanin" pitchFamily="2" charset="-78"/>
                <a:cs typeface="B Nazanin" pitchFamily="2" charset="-78"/>
              </a:rPr>
              <a:t> اخلاقی است تا هم اعتبار علمی حفظ شود و هم از سوءاستفاده جلوگیری گردد. این اصول در بسیاری از </a:t>
            </a:r>
            <a:r>
              <a:rPr lang="fa-IR" dirty="0" err="1">
                <a:latin typeface="B Nazanin" pitchFamily="2" charset="-78"/>
                <a:cs typeface="B Nazanin" pitchFamily="2" charset="-78"/>
              </a:rPr>
              <a:t>دانشگاه‌ها</a:t>
            </a:r>
            <a:r>
              <a:rPr lang="fa-IR" dirty="0">
                <a:latin typeface="B Nazanin" pitchFamily="2" charset="-78"/>
                <a:cs typeface="B Nazanin" pitchFamily="2" charset="-78"/>
              </a:rPr>
              <a:t> و مجلات معتبر </a:t>
            </a:r>
            <a:r>
              <a:rPr lang="fa-IR" dirty="0" err="1">
                <a:latin typeface="B Nazanin" pitchFamily="2" charset="-78"/>
                <a:cs typeface="B Nazanin" pitchFamily="2" charset="-78"/>
              </a:rPr>
              <a:t>به‌عنوان</a:t>
            </a:r>
            <a:r>
              <a:rPr lang="fa-IR" dirty="0">
                <a:latin typeface="B Nazanin" pitchFamily="2" charset="-78"/>
                <a:cs typeface="B Nazanin" pitchFamily="2" charset="-78"/>
              </a:rPr>
              <a:t> بخشی از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Research</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Integrity</a:t>
            </a:r>
            <a:r>
              <a:rPr lang="en-US" dirty="0">
                <a:latin typeface="B Nazanin" pitchFamily="2" charset="-78"/>
                <a:cs typeface="B Nazanin" pitchFamily="2" charset="-78"/>
              </a:rPr>
              <a:t> </a:t>
            </a:r>
            <a:r>
              <a:rPr lang="fa-IR" dirty="0">
                <a:latin typeface="B Nazanin" pitchFamily="2" charset="-78"/>
                <a:cs typeface="B Nazanin" pitchFamily="2" charset="-78"/>
              </a:rPr>
              <a:t> شناخته </a:t>
            </a:r>
            <a:r>
              <a:rPr lang="fa-IR" dirty="0" err="1">
                <a:latin typeface="B Nazanin" pitchFamily="2" charset="-78"/>
                <a:cs typeface="B Nazanin" pitchFamily="2" charset="-78"/>
              </a:rPr>
              <a:t>می‌شوند</a:t>
            </a:r>
            <a:r>
              <a:rPr lang="fa-IR" dirty="0">
                <a:latin typeface="B Nazanin" pitchFamily="2" charset="-78"/>
                <a:cs typeface="B Nazanin" pitchFamily="2" charset="-78"/>
              </a:rPr>
              <a:t>.</a:t>
            </a:r>
          </a:p>
          <a:p>
            <a:pPr algn="r" rtl="1">
              <a:lnSpc>
                <a:spcPct val="95000"/>
              </a:lnSpc>
            </a:pPr>
            <a:endParaRPr lang="fa-IR" dirty="0">
              <a:latin typeface="B Nazanin" pitchFamily="2" charset="-78"/>
              <a:cs typeface="B Nazanin" pitchFamily="2" charset="-78"/>
            </a:endParaRPr>
          </a:p>
          <a:p>
            <a:pPr algn="r" rtl="1"/>
            <a:r>
              <a:rPr lang="fa-IR" b="1" dirty="0">
                <a:latin typeface="B Nazanin" pitchFamily="2" charset="-78"/>
                <a:cs typeface="B Nazanin" pitchFamily="2" charset="-78"/>
              </a:rPr>
              <a:t>1. شفافیت و اعلام استفاده</a:t>
            </a:r>
          </a:p>
          <a:p>
            <a:pPr algn="r" rtl="1"/>
            <a:r>
              <a:rPr lang="fa-IR" dirty="0">
                <a:latin typeface="B Nazanin" pitchFamily="2" charset="-78"/>
                <a:cs typeface="B Nazanin" pitchFamily="2" charset="-78"/>
              </a:rPr>
              <a:t>باید صریحاً ذکر شود که از ابزارهای هوش مصنوعی (مثل </a:t>
            </a:r>
            <a:r>
              <a:rPr lang="en-US" sz="2000" dirty="0">
                <a:latin typeface="Aptos" panose="020B0004020202020204" pitchFamily="34" charset="0"/>
                <a:cs typeface="B Nazanin" pitchFamily="2" charset="-78"/>
              </a:rPr>
              <a:t>Copilot</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ChatGPT</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Grammarly</a:t>
            </a:r>
            <a:r>
              <a:rPr lang="fa-IR" dirty="0">
                <a:latin typeface="B Nazanin" pitchFamily="2" charset="-78"/>
                <a:cs typeface="B Nazanin" pitchFamily="2" charset="-78"/>
              </a:rPr>
              <a:t>) استفاده شده است.</a:t>
            </a:r>
          </a:p>
          <a:p>
            <a:pPr algn="r" rtl="1"/>
            <a:r>
              <a:rPr lang="fa-IR" dirty="0">
                <a:latin typeface="B Nazanin" pitchFamily="2" charset="-78"/>
                <a:cs typeface="B Nazanin" pitchFamily="2" charset="-78"/>
              </a:rPr>
              <a:t>مجلات معتبر (مانند </a:t>
            </a:r>
            <a:r>
              <a:rPr lang="en-US" sz="2000" dirty="0">
                <a:latin typeface="Aptos" panose="020B0004020202020204" pitchFamily="34" charset="0"/>
                <a:cs typeface="B Nazanin" pitchFamily="2" charset="-78"/>
              </a:rPr>
              <a:t>Elsevier</a:t>
            </a:r>
            <a:r>
              <a:rPr lang="en-US" dirty="0">
                <a:latin typeface="B Nazanin" pitchFamily="2" charset="-78"/>
                <a:cs typeface="B Nazanin" pitchFamily="2" charset="-78"/>
              </a:rPr>
              <a:t> </a:t>
            </a:r>
            <a:r>
              <a:rPr lang="fa-IR" dirty="0">
                <a:latin typeface="B Nazanin" pitchFamily="2" charset="-78"/>
                <a:cs typeface="B Nazanin" pitchFamily="2" charset="-78"/>
              </a:rPr>
              <a:t> و </a:t>
            </a:r>
            <a:r>
              <a:rPr lang="en-US" sz="2000" dirty="0">
                <a:latin typeface="Aptos" panose="020B0004020202020204" pitchFamily="34" charset="0"/>
                <a:cs typeface="B Nazanin" pitchFamily="2" charset="-78"/>
              </a:rPr>
              <a:t>Springer</a:t>
            </a:r>
            <a:r>
              <a:rPr lang="fa-IR" dirty="0">
                <a:latin typeface="B Nazanin" pitchFamily="2" charset="-78"/>
                <a:cs typeface="B Nazanin" pitchFamily="2" charset="-78"/>
              </a:rPr>
              <a:t>) تأکید دارند که هوش مصنوعی </a:t>
            </a:r>
            <a:r>
              <a:rPr lang="fa-IR" dirty="0" err="1">
                <a:latin typeface="B Nazanin" pitchFamily="2" charset="-78"/>
                <a:cs typeface="B Nazanin" pitchFamily="2" charset="-78"/>
              </a:rPr>
              <a:t>نمی‌تواند</a:t>
            </a:r>
            <a:r>
              <a:rPr lang="fa-IR" dirty="0">
                <a:latin typeface="B Nazanin" pitchFamily="2" charset="-78"/>
                <a:cs typeface="B Nazanin" pitchFamily="2" charset="-78"/>
              </a:rPr>
              <a:t> نویسنده مقاله باشد، بلکه تنها ابزار کمکی است.</a:t>
            </a:r>
          </a:p>
          <a:p>
            <a:pPr algn="r" rtl="1"/>
            <a:endParaRPr lang="fa-IR" dirty="0">
              <a:latin typeface="B Nazanin" pitchFamily="2" charset="-78"/>
              <a:cs typeface="B Nazanin" pitchFamily="2" charset="-78"/>
            </a:endParaRPr>
          </a:p>
          <a:p>
            <a:pPr algn="r" rtl="1"/>
            <a:r>
              <a:rPr lang="fa-IR" b="1" dirty="0">
                <a:latin typeface="B Nazanin" pitchFamily="2" charset="-78"/>
                <a:cs typeface="B Nazanin" pitchFamily="2" charset="-78"/>
              </a:rPr>
              <a:t>2. </a:t>
            </a:r>
            <a:r>
              <a:rPr lang="fa-IR" b="1" dirty="0" err="1">
                <a:latin typeface="B Nazanin" pitchFamily="2" charset="-78"/>
                <a:cs typeface="B Nazanin" pitchFamily="2" charset="-78"/>
              </a:rPr>
              <a:t>مسئولیت‌پذیری</a:t>
            </a:r>
            <a:r>
              <a:rPr lang="fa-IR" b="1" dirty="0">
                <a:latin typeface="B Nazanin" pitchFamily="2" charset="-78"/>
                <a:cs typeface="B Nazanin" pitchFamily="2" charset="-78"/>
              </a:rPr>
              <a:t> نویسنده</a:t>
            </a:r>
          </a:p>
          <a:p>
            <a:pPr algn="r" rtl="1"/>
            <a:r>
              <a:rPr lang="fa-IR" dirty="0">
                <a:latin typeface="B Nazanin" pitchFamily="2" charset="-78"/>
                <a:cs typeface="B Nazanin" pitchFamily="2" charset="-78"/>
              </a:rPr>
              <a:t>مسئولیت نهایی محتوا بر عهده پژوهشگر است، نه ابزار.</a:t>
            </a:r>
          </a:p>
          <a:p>
            <a:pPr algn="r" rtl="1"/>
            <a:r>
              <a:rPr lang="fa-IR" dirty="0">
                <a:latin typeface="B Nazanin" pitchFamily="2" charset="-78"/>
                <a:cs typeface="B Nazanin" pitchFamily="2" charset="-78"/>
              </a:rPr>
              <a:t>نویسنده باید متن </a:t>
            </a:r>
            <a:r>
              <a:rPr lang="fa-IR" dirty="0" err="1">
                <a:latin typeface="B Nazanin" pitchFamily="2" charset="-78"/>
                <a:cs typeface="B Nazanin" pitchFamily="2" charset="-78"/>
              </a:rPr>
              <a:t>تولیدشده</a:t>
            </a:r>
            <a:r>
              <a:rPr lang="fa-IR" dirty="0">
                <a:latin typeface="B Nazanin" pitchFamily="2" charset="-78"/>
                <a:cs typeface="B Nazanin" pitchFamily="2" charset="-78"/>
              </a:rPr>
              <a:t> توسط هوش مصنوعی را بازبینی، اصلاح و تأیید کند.</a:t>
            </a:r>
          </a:p>
          <a:p>
            <a:pPr algn="r" rtl="1"/>
            <a:endParaRPr lang="fa-IR" dirty="0">
              <a:latin typeface="B Nazanin" pitchFamily="2" charset="-78"/>
              <a:cs typeface="B Nazanin" pitchFamily="2" charset="-78"/>
            </a:endParaRPr>
          </a:p>
          <a:p>
            <a:pPr marL="0" algn="r" defTabSz="1218987" rtl="0" eaLnBrk="1" latinLnBrk="0" hangingPunct="1">
              <a:lnSpc>
                <a:spcPct val="95000"/>
              </a:lnSpc>
            </a:pPr>
            <a:endParaRPr lang="en-US"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E5EAFAFF-B450-3CC4-BCAA-89488BD51C18}"/>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892085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38DA1B-EBCD-05D6-B20C-13ADFE9CD4C8}"/>
              </a:ext>
            </a:extLst>
          </p:cNvPr>
          <p:cNvSpPr>
            <a:spLocks noGrp="1"/>
          </p:cNvSpPr>
          <p:nvPr>
            <p:ph idx="1"/>
          </p:nvPr>
        </p:nvSpPr>
        <p:spPr>
          <a:xfrm>
            <a:off x="1446212" y="228600"/>
            <a:ext cx="10157354" cy="6172200"/>
          </a:xfrm>
        </p:spPr>
        <p:txBody>
          <a:bodyPr>
            <a:noAutofit/>
          </a:bodyPr>
          <a:lstStyle/>
          <a:p>
            <a:pPr marL="0" indent="0" algn="r" rtl="1">
              <a:buNone/>
            </a:pPr>
            <a:r>
              <a:rPr lang="fa-IR" b="1" dirty="0">
                <a:latin typeface="B Nazanin" pitchFamily="2" charset="-78"/>
                <a:cs typeface="B Nazanin" pitchFamily="2" charset="-78"/>
              </a:rPr>
              <a:t>۳. پرهیز از سرقت علمی (</a:t>
            </a:r>
            <a:r>
              <a:rPr lang="en-US" b="1" dirty="0">
                <a:latin typeface="B Nazanin" pitchFamily="2" charset="-78"/>
                <a:cs typeface="B Nazanin" pitchFamily="2" charset="-78"/>
              </a:rPr>
              <a:t> (</a:t>
            </a:r>
            <a:r>
              <a:rPr lang="en-US" b="1" dirty="0">
                <a:latin typeface="Aptos" panose="020B0004020202020204" pitchFamily="34" charset="0"/>
                <a:cs typeface="B Nazanin" pitchFamily="2" charset="-78"/>
              </a:rPr>
              <a:t>Plagiarism</a:t>
            </a:r>
          </a:p>
          <a:p>
            <a:pPr marL="0" indent="0" algn="r" rtl="1">
              <a:buNone/>
            </a:pPr>
            <a:r>
              <a:rPr lang="fa-IR" dirty="0">
                <a:latin typeface="B Nazanin" pitchFamily="2" charset="-78"/>
                <a:cs typeface="B Nazanin" pitchFamily="2" charset="-78"/>
              </a:rPr>
              <a:t>نباید متن </a:t>
            </a:r>
            <a:r>
              <a:rPr lang="fa-IR" dirty="0" err="1">
                <a:latin typeface="B Nazanin" pitchFamily="2" charset="-78"/>
                <a:cs typeface="B Nazanin" pitchFamily="2" charset="-78"/>
              </a:rPr>
              <a:t>تولیدشده</a:t>
            </a:r>
            <a:r>
              <a:rPr lang="fa-IR" dirty="0">
                <a:latin typeface="B Nazanin" pitchFamily="2" charset="-78"/>
                <a:cs typeface="B Nazanin" pitchFamily="2" charset="-78"/>
              </a:rPr>
              <a:t> توسط هوش مصنوعی بدون بازبینی و بدون ارجاع استفاده شود.</a:t>
            </a:r>
          </a:p>
          <a:p>
            <a:pPr marL="0" indent="0" algn="r" rtl="1">
              <a:buNone/>
            </a:pPr>
            <a:r>
              <a:rPr lang="fa-IR" dirty="0">
                <a:latin typeface="B Nazanin" pitchFamily="2" charset="-78"/>
                <a:cs typeface="B Nazanin" pitchFamily="2" charset="-78"/>
              </a:rPr>
              <a:t>اگر از ایده یا متن </a:t>
            </a:r>
            <a:r>
              <a:rPr lang="fa-IR" dirty="0" err="1">
                <a:latin typeface="B Nazanin" pitchFamily="2" charset="-78"/>
                <a:cs typeface="B Nazanin" pitchFamily="2" charset="-78"/>
              </a:rPr>
              <a:t>بازنویسی‌شده</a:t>
            </a:r>
            <a:r>
              <a:rPr lang="fa-IR" dirty="0">
                <a:latin typeface="B Nazanin" pitchFamily="2" charset="-78"/>
                <a:cs typeface="B Nazanin" pitchFamily="2" charset="-78"/>
              </a:rPr>
              <a:t> استفاده </a:t>
            </a:r>
            <a:r>
              <a:rPr lang="fa-IR" dirty="0" err="1">
                <a:latin typeface="B Nazanin" pitchFamily="2" charset="-78"/>
                <a:cs typeface="B Nazanin" pitchFamily="2" charset="-78"/>
              </a:rPr>
              <a:t>می‌شود</a:t>
            </a:r>
            <a:r>
              <a:rPr lang="fa-IR" dirty="0">
                <a:latin typeface="B Nazanin" pitchFamily="2" charset="-78"/>
                <a:cs typeface="B Nazanin" pitchFamily="2" charset="-78"/>
              </a:rPr>
              <a:t>، باید با منابع معتبر تطبیق داده شود.</a:t>
            </a:r>
          </a:p>
          <a:p>
            <a:pPr marL="0" indent="0" algn="r" rtl="1">
              <a:buNone/>
            </a:pPr>
            <a:endParaRPr lang="fa-IR" dirty="0"/>
          </a:p>
          <a:p>
            <a:pPr marL="0" indent="0" algn="r" rtl="1">
              <a:buNone/>
            </a:pPr>
            <a:r>
              <a:rPr lang="fa-IR" b="1" dirty="0">
                <a:latin typeface="B Nazanin" pitchFamily="2" charset="-78"/>
                <a:cs typeface="B Nazanin" pitchFamily="2" charset="-78"/>
              </a:rPr>
              <a:t>۴. دقت علمی و صحت </a:t>
            </a:r>
            <a:r>
              <a:rPr lang="fa-IR" b="1" dirty="0" err="1">
                <a:latin typeface="B Nazanin" pitchFamily="2" charset="-78"/>
                <a:cs typeface="B Nazanin" pitchFamily="2" charset="-78"/>
              </a:rPr>
              <a:t>داده‌ها</a:t>
            </a:r>
            <a:endParaRPr lang="fa-IR" b="1" dirty="0">
              <a:latin typeface="B Nazanin" pitchFamily="2" charset="-78"/>
              <a:cs typeface="B Nazanin" pitchFamily="2" charset="-78"/>
            </a:endParaRPr>
          </a:p>
          <a:p>
            <a:pPr marL="0" indent="0" algn="r" rtl="1">
              <a:buNone/>
            </a:pPr>
            <a:r>
              <a:rPr lang="fa-IR" dirty="0">
                <a:latin typeface="B Nazanin" pitchFamily="2" charset="-78"/>
                <a:cs typeface="B Nazanin" pitchFamily="2" charset="-78"/>
              </a:rPr>
              <a:t>هوش مصنوعی ممکن است </a:t>
            </a:r>
            <a:r>
              <a:rPr lang="fa-IR" dirty="0" err="1">
                <a:latin typeface="B Nazanin" pitchFamily="2" charset="-78"/>
                <a:cs typeface="B Nazanin" pitchFamily="2" charset="-78"/>
              </a:rPr>
              <a:t>داده‌های</a:t>
            </a:r>
            <a:r>
              <a:rPr lang="fa-IR" dirty="0">
                <a:latin typeface="B Nazanin" pitchFamily="2" charset="-78"/>
                <a:cs typeface="B Nazanin" pitchFamily="2" charset="-78"/>
              </a:rPr>
              <a:t> نادرست یا منابع جعلی تولید کند.</a:t>
            </a:r>
          </a:p>
          <a:p>
            <a:pPr marL="0" indent="0" algn="r" rtl="1">
              <a:buNone/>
            </a:pPr>
            <a:r>
              <a:rPr lang="fa-IR" dirty="0">
                <a:latin typeface="B Nazanin" pitchFamily="2" charset="-78"/>
                <a:cs typeface="B Nazanin" pitchFamily="2" charset="-78"/>
              </a:rPr>
              <a:t>پژوهشگر موظف است همه </a:t>
            </a:r>
            <a:r>
              <a:rPr lang="fa-IR" dirty="0" err="1">
                <a:latin typeface="B Nazanin" pitchFamily="2" charset="-78"/>
                <a:cs typeface="B Nazanin" pitchFamily="2" charset="-78"/>
              </a:rPr>
              <a:t>داده‌ها</a:t>
            </a:r>
            <a:r>
              <a:rPr lang="fa-IR" dirty="0">
                <a:latin typeface="B Nazanin" pitchFamily="2" charset="-78"/>
                <a:cs typeface="B Nazanin" pitchFamily="2" charset="-78"/>
              </a:rPr>
              <a:t> و ارجاعات را بررسی و تأیید کند.</a:t>
            </a:r>
          </a:p>
          <a:p>
            <a:pPr marL="0" indent="0" algn="r" rtl="1">
              <a:buNone/>
            </a:pPr>
            <a:endParaRPr lang="fa-IR" dirty="0">
              <a:latin typeface="B Nazanin" pitchFamily="2" charset="-78"/>
              <a:cs typeface="B Nazanin" pitchFamily="2" charset="-78"/>
            </a:endParaRPr>
          </a:p>
          <a:p>
            <a:pPr marL="0" indent="0" algn="r" rtl="1">
              <a:buNone/>
            </a:pPr>
            <a:r>
              <a:rPr lang="fa-IR" b="1" dirty="0">
                <a:latin typeface="B Nazanin" pitchFamily="2" charset="-78"/>
                <a:cs typeface="B Nazanin" pitchFamily="2" charset="-78"/>
              </a:rPr>
              <a:t>5. حفظ </a:t>
            </a:r>
            <a:r>
              <a:rPr lang="fa-IR" b="1" dirty="0" err="1">
                <a:latin typeface="B Nazanin" pitchFamily="2" charset="-78"/>
                <a:cs typeface="B Nazanin" pitchFamily="2" charset="-78"/>
              </a:rPr>
              <a:t>محرمانگی</a:t>
            </a:r>
            <a:r>
              <a:rPr lang="fa-IR" b="1" dirty="0">
                <a:latin typeface="B Nazanin" pitchFamily="2" charset="-78"/>
                <a:cs typeface="B Nazanin" pitchFamily="2" charset="-78"/>
              </a:rPr>
              <a:t> و حریم خصوصی</a:t>
            </a:r>
          </a:p>
          <a:p>
            <a:pPr marL="0" indent="0" algn="r" rtl="1">
              <a:buNone/>
            </a:pPr>
            <a:r>
              <a:rPr lang="fa-IR" dirty="0">
                <a:latin typeface="B Nazanin" pitchFamily="2" charset="-78"/>
                <a:cs typeface="B Nazanin" pitchFamily="2" charset="-78"/>
              </a:rPr>
              <a:t>نباید </a:t>
            </a:r>
            <a:r>
              <a:rPr lang="fa-IR" dirty="0" err="1">
                <a:latin typeface="B Nazanin" pitchFamily="2" charset="-78"/>
                <a:cs typeface="B Nazanin" pitchFamily="2" charset="-78"/>
              </a:rPr>
              <a:t>داده‌های</a:t>
            </a:r>
            <a:r>
              <a:rPr lang="fa-IR" dirty="0">
                <a:latin typeface="B Nazanin" pitchFamily="2" charset="-78"/>
                <a:cs typeface="B Nazanin" pitchFamily="2" charset="-78"/>
              </a:rPr>
              <a:t> حساس (مثل اطلاعات بیماران یا </a:t>
            </a:r>
            <a:r>
              <a:rPr lang="fa-IR" dirty="0" err="1">
                <a:latin typeface="B Nazanin" pitchFamily="2" charset="-78"/>
                <a:cs typeface="B Nazanin" pitchFamily="2" charset="-78"/>
              </a:rPr>
              <a:t>داده‌های</a:t>
            </a:r>
            <a:r>
              <a:rPr lang="fa-IR" dirty="0">
                <a:latin typeface="B Nazanin" pitchFamily="2" charset="-78"/>
                <a:cs typeface="B Nazanin" pitchFamily="2" charset="-78"/>
              </a:rPr>
              <a:t> محرمانه </a:t>
            </a:r>
            <a:r>
              <a:rPr lang="fa-IR" dirty="0" err="1">
                <a:latin typeface="B Nazanin" pitchFamily="2" charset="-78"/>
                <a:cs typeface="B Nazanin" pitchFamily="2" charset="-78"/>
              </a:rPr>
              <a:t>پروژه‌ها</a:t>
            </a:r>
            <a:r>
              <a:rPr lang="fa-IR" dirty="0">
                <a:latin typeface="B Nazanin" pitchFamily="2" charset="-78"/>
                <a:cs typeface="B Nazanin" pitchFamily="2" charset="-78"/>
              </a:rPr>
              <a:t>) بدون مجوز در ابزارهای عمومی هوش مصنوعی وارد شود.</a:t>
            </a:r>
          </a:p>
          <a:p>
            <a:pPr marL="0" indent="0" algn="r" rtl="1">
              <a:buNone/>
            </a:pPr>
            <a:endParaRPr lang="en-US" dirty="0"/>
          </a:p>
        </p:txBody>
      </p:sp>
      <p:pic>
        <p:nvPicPr>
          <p:cNvPr id="3" name="Picture 2" descr="A white symbol with a black background&#10;&#10;AI-generated content may be incorrect.">
            <a:extLst>
              <a:ext uri="{FF2B5EF4-FFF2-40B4-BE49-F238E27FC236}">
                <a16:creationId xmlns:a16="http://schemas.microsoft.com/office/drawing/2014/main" id="{3CDA51D0-1254-335E-24D7-2BB4D0FF8371}"/>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182387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E860F7-3AD8-B55D-4F3B-C6AD1B679634}"/>
              </a:ext>
            </a:extLst>
          </p:cNvPr>
          <p:cNvSpPr>
            <a:spLocks noGrp="1"/>
          </p:cNvSpPr>
          <p:nvPr>
            <p:ph idx="1"/>
          </p:nvPr>
        </p:nvSpPr>
        <p:spPr>
          <a:xfrm>
            <a:off x="1370012" y="304800"/>
            <a:ext cx="10157354" cy="5486400"/>
          </a:xfrm>
        </p:spPr>
        <p:txBody>
          <a:bodyPr/>
          <a:lstStyle/>
          <a:p>
            <a:pPr marL="0" indent="0" algn="r" rtl="1">
              <a:buNone/>
            </a:pPr>
            <a:r>
              <a:rPr lang="fa-IR" b="1" dirty="0">
                <a:latin typeface="B Nazanin" pitchFamily="2" charset="-78"/>
                <a:cs typeface="B Nazanin" pitchFamily="2" charset="-78"/>
              </a:rPr>
              <a:t>6. پرهیز از اتکای کامل</a:t>
            </a:r>
          </a:p>
          <a:p>
            <a:pPr marL="0" indent="0" algn="r" rtl="1">
              <a:buNone/>
            </a:pPr>
            <a:r>
              <a:rPr lang="fa-IR" dirty="0">
                <a:latin typeface="B Nazanin" pitchFamily="2" charset="-78"/>
                <a:cs typeface="B Nazanin" pitchFamily="2" charset="-78"/>
              </a:rPr>
              <a:t>هوش مصنوعی باید </a:t>
            </a:r>
            <a:r>
              <a:rPr lang="fa-IR" dirty="0" err="1">
                <a:latin typeface="B Nazanin" pitchFamily="2" charset="-78"/>
                <a:cs typeface="B Nazanin" pitchFamily="2" charset="-78"/>
              </a:rPr>
              <a:t>به‌عنوان</a:t>
            </a:r>
            <a:r>
              <a:rPr lang="fa-IR" dirty="0">
                <a:latin typeface="B Nazanin" pitchFamily="2" charset="-78"/>
                <a:cs typeface="B Nazanin" pitchFamily="2" charset="-78"/>
              </a:rPr>
              <a:t> یار کمکی استفاده شود، نه جایگزین پژوهشگر.</a:t>
            </a:r>
          </a:p>
          <a:p>
            <a:pPr marL="0" indent="0" algn="r" rtl="1">
              <a:buNone/>
            </a:pPr>
            <a:r>
              <a:rPr lang="fa-IR" dirty="0">
                <a:latin typeface="B Nazanin" pitchFamily="2" charset="-78"/>
                <a:cs typeface="B Nazanin" pitchFamily="2" charset="-78"/>
              </a:rPr>
              <a:t>تحلیل، نقد و </a:t>
            </a:r>
            <a:r>
              <a:rPr lang="fa-IR" dirty="0" err="1">
                <a:latin typeface="B Nazanin" pitchFamily="2" charset="-78"/>
                <a:cs typeface="B Nazanin" pitchFamily="2" charset="-78"/>
              </a:rPr>
              <a:t>نتیجه‌گیری</a:t>
            </a:r>
            <a:r>
              <a:rPr lang="fa-IR" dirty="0">
                <a:latin typeface="B Nazanin" pitchFamily="2" charset="-78"/>
                <a:cs typeface="B Nazanin" pitchFamily="2" charset="-78"/>
              </a:rPr>
              <a:t> باید توسط انسان انجام شود.</a:t>
            </a:r>
          </a:p>
          <a:p>
            <a:pPr marL="0" indent="0" algn="r" rtl="1">
              <a:buNone/>
            </a:pPr>
            <a:endParaRPr lang="fa-IR" dirty="0">
              <a:latin typeface="B Nazanin" pitchFamily="2" charset="-78"/>
              <a:cs typeface="B Nazanin" pitchFamily="2" charset="-78"/>
            </a:endParaRPr>
          </a:p>
          <a:p>
            <a:pPr marL="0" indent="0" algn="r" rtl="1">
              <a:buNone/>
            </a:pPr>
            <a:r>
              <a:rPr lang="fa-IR" b="1" dirty="0">
                <a:latin typeface="B Nazanin" pitchFamily="2" charset="-78"/>
                <a:cs typeface="B Nazanin" pitchFamily="2" charset="-78"/>
              </a:rPr>
              <a:t>7. رعایت دستورالعمل مجلات و نهادها</a:t>
            </a:r>
          </a:p>
          <a:p>
            <a:pPr marL="0" indent="0" algn="r" rtl="1">
              <a:buNone/>
            </a:pPr>
            <a:r>
              <a:rPr lang="fa-IR" dirty="0">
                <a:latin typeface="B Nazanin" pitchFamily="2" charset="-78"/>
                <a:cs typeface="B Nazanin" pitchFamily="2" charset="-78"/>
              </a:rPr>
              <a:t>هر مجله یا دانشگاه ممکن است قوانین خاصی برای استفاده از هوش مصنوعی داشته باشد.</a:t>
            </a:r>
          </a:p>
          <a:p>
            <a:pPr marL="0" indent="0" algn="r" rtl="1">
              <a:buNone/>
            </a:pPr>
            <a:r>
              <a:rPr lang="fa-IR" dirty="0">
                <a:latin typeface="B Nazanin" pitchFamily="2" charset="-78"/>
                <a:cs typeface="B Nazanin" pitchFamily="2" charset="-78"/>
              </a:rPr>
              <a:t>پیش از ارسال مقاله باید این </a:t>
            </a:r>
            <a:r>
              <a:rPr lang="fa-IR" dirty="0" err="1">
                <a:latin typeface="B Nazanin" pitchFamily="2" charset="-78"/>
                <a:cs typeface="B Nazanin" pitchFamily="2" charset="-78"/>
              </a:rPr>
              <a:t>دستورالعمل‌ها</a:t>
            </a:r>
            <a:r>
              <a:rPr lang="fa-IR" dirty="0">
                <a:latin typeface="B Nazanin" pitchFamily="2" charset="-78"/>
                <a:cs typeface="B Nazanin" pitchFamily="2" charset="-78"/>
              </a:rPr>
              <a:t> مطالعه و رعایت شوند.</a:t>
            </a:r>
          </a:p>
          <a:p>
            <a:pPr marL="0" indent="0" algn="r" rtl="1">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EEE43BA9-220A-4B30-41F3-44DEE99C64D7}"/>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189703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E5BF94-A6DA-3EB3-5B0F-FAD67E2F6BB7}"/>
              </a:ext>
            </a:extLst>
          </p:cNvPr>
          <p:cNvSpPr>
            <a:spLocks noGrp="1"/>
          </p:cNvSpPr>
          <p:nvPr>
            <p:ph idx="1"/>
          </p:nvPr>
        </p:nvSpPr>
        <p:spPr>
          <a:xfrm>
            <a:off x="1446212" y="228600"/>
            <a:ext cx="10157354" cy="11430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Mitra" pitchFamily="2" charset="-78"/>
                <a:cs typeface="B Mitra" pitchFamily="2" charset="-78"/>
              </a:rPr>
              <a:t>جلوگیری از سرقت علمی و ادبی</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EEC2D178-C4EA-3FF1-733A-8FF1BFE7B632}"/>
              </a:ext>
            </a:extLst>
          </p:cNvPr>
          <p:cNvSpPr txBox="1"/>
          <p:nvPr/>
        </p:nvSpPr>
        <p:spPr>
          <a:xfrm>
            <a:off x="499744" y="1177138"/>
            <a:ext cx="11071754" cy="5452262"/>
          </a:xfrm>
          <a:prstGeom prst="rect">
            <a:avLst/>
          </a:prstGeom>
          <a:noFill/>
        </p:spPr>
        <p:txBody>
          <a:bodyPr wrap="square" rtlCol="0">
            <a:spAutoFit/>
          </a:bodyPr>
          <a:lstStyle/>
          <a:p>
            <a:pPr algn="r" rtl="1">
              <a:lnSpc>
                <a:spcPct val="95000"/>
              </a:lnSpc>
            </a:pPr>
            <a:r>
              <a:rPr lang="fa-IR" dirty="0">
                <a:latin typeface="B Nazanin" pitchFamily="2" charset="-78"/>
                <a:cs typeface="B Nazanin" pitchFamily="2" charset="-78"/>
              </a:rPr>
              <a:t> سرقت علمی و ادبی یعنی استفاده از </a:t>
            </a:r>
            <a:r>
              <a:rPr lang="fa-IR" dirty="0" err="1">
                <a:latin typeface="B Nazanin" pitchFamily="2" charset="-78"/>
                <a:cs typeface="B Nazanin" pitchFamily="2" charset="-78"/>
              </a:rPr>
              <a:t>ایده‌ها</a:t>
            </a:r>
            <a:r>
              <a:rPr lang="fa-IR" dirty="0">
                <a:latin typeface="B Nazanin" pitchFamily="2" charset="-78"/>
                <a:cs typeface="B Nazanin" pitchFamily="2" charset="-78"/>
              </a:rPr>
              <a:t>، متن یا </a:t>
            </a:r>
            <a:r>
              <a:rPr lang="fa-IR" dirty="0" err="1">
                <a:latin typeface="B Nazanin" pitchFamily="2" charset="-78"/>
                <a:cs typeface="B Nazanin" pitchFamily="2" charset="-78"/>
              </a:rPr>
              <a:t>داده‌های</a:t>
            </a:r>
            <a:r>
              <a:rPr lang="fa-IR" dirty="0">
                <a:latin typeface="B Nazanin" pitchFamily="2" charset="-78"/>
                <a:cs typeface="B Nazanin" pitchFamily="2" charset="-78"/>
              </a:rPr>
              <a:t> دیگران بدون ذکر منبع اصلی. این کار اعتبار پژوهش را از بین </a:t>
            </a:r>
            <a:r>
              <a:rPr lang="fa-IR" dirty="0" err="1">
                <a:latin typeface="B Nazanin" pitchFamily="2" charset="-78"/>
                <a:cs typeface="B Nazanin" pitchFamily="2" charset="-78"/>
              </a:rPr>
              <a:t>می‌برد</a:t>
            </a:r>
            <a:r>
              <a:rPr lang="fa-IR" dirty="0">
                <a:latin typeface="B Nazanin" pitchFamily="2" charset="-78"/>
                <a:cs typeface="B Nazanin" pitchFamily="2" charset="-78"/>
              </a:rPr>
              <a:t> و </a:t>
            </a:r>
            <a:r>
              <a:rPr lang="fa-IR" dirty="0" err="1">
                <a:latin typeface="B Nazanin" pitchFamily="2" charset="-78"/>
                <a:cs typeface="B Nazanin" pitchFamily="2" charset="-78"/>
              </a:rPr>
              <a:t>می‌تواند</a:t>
            </a:r>
            <a:r>
              <a:rPr lang="fa-IR" dirty="0">
                <a:latin typeface="B Nazanin" pitchFamily="2" charset="-78"/>
                <a:cs typeface="B Nazanin" pitchFamily="2" charset="-78"/>
              </a:rPr>
              <a:t> منجر به رد مقاله یا محرومیت علمی شود. برای جلوگیری باید همیشه منابع را درست ارجاع داد، از </a:t>
            </a:r>
            <a:r>
              <a:rPr lang="fa-IR" dirty="0" err="1">
                <a:latin typeface="B Nazanin" pitchFamily="2" charset="-78"/>
                <a:cs typeface="B Nazanin" pitchFamily="2" charset="-78"/>
              </a:rPr>
              <a:t>نرم‌افزارهای</a:t>
            </a:r>
            <a:r>
              <a:rPr lang="fa-IR" dirty="0">
                <a:latin typeface="B Nazanin" pitchFamily="2" charset="-78"/>
                <a:cs typeface="B Nazanin" pitchFamily="2" charset="-78"/>
              </a:rPr>
              <a:t> تشخیص مشابهت استفاده کرد، و متن را بازنویسی و تحلیل شخصی کرد.</a:t>
            </a:r>
          </a:p>
          <a:p>
            <a:pPr algn="r" rtl="1">
              <a:lnSpc>
                <a:spcPct val="95000"/>
              </a:lnSpc>
            </a:pPr>
            <a:endParaRPr lang="fa-IR" dirty="0">
              <a:latin typeface="B Nazanin" pitchFamily="2" charset="-78"/>
              <a:cs typeface="B Nazanin" pitchFamily="2" charset="-78"/>
            </a:endParaRPr>
          </a:p>
          <a:p>
            <a:pPr algn="r" rtl="1"/>
            <a:r>
              <a:rPr lang="fa-IR" dirty="0">
                <a:latin typeface="B Nazanin" pitchFamily="2" charset="-78"/>
                <a:cs typeface="B Nazanin" pitchFamily="2" charset="-78"/>
              </a:rPr>
              <a:t>پیامدهای سرقت علمی و ادبی:</a:t>
            </a:r>
          </a:p>
          <a:p>
            <a:pPr marL="342900" indent="-342900" algn="r" rtl="1">
              <a:buFont typeface="Arial" panose="020B0604020202020204" pitchFamily="34" charset="0"/>
              <a:buChar char="•"/>
            </a:pPr>
            <a:r>
              <a:rPr lang="fa-IR" dirty="0">
                <a:latin typeface="B Nazanin" pitchFamily="2" charset="-78"/>
                <a:cs typeface="B Nazanin" pitchFamily="2" charset="-78"/>
              </a:rPr>
              <a:t>رد شدن مقاله یا </a:t>
            </a:r>
            <a:r>
              <a:rPr lang="fa-IR" dirty="0" err="1">
                <a:latin typeface="B Nazanin" pitchFamily="2" charset="-78"/>
                <a:cs typeface="B Nazanin" pitchFamily="2" charset="-78"/>
              </a:rPr>
              <a:t>پایان‌نامه</a:t>
            </a:r>
            <a:r>
              <a:rPr lang="fa-IR" dirty="0">
                <a:latin typeface="B Nazanin" pitchFamily="2" charset="-78"/>
                <a:cs typeface="B Nazanin" pitchFamily="2" charset="-78"/>
              </a:rPr>
              <a:t> در مجلات و </a:t>
            </a:r>
            <a:r>
              <a:rPr lang="fa-IR" dirty="0" err="1">
                <a:latin typeface="B Nazanin" pitchFamily="2" charset="-78"/>
                <a:cs typeface="B Nazanin" pitchFamily="2" charset="-78"/>
              </a:rPr>
              <a:t>دانشگاه‌ها</a:t>
            </a:r>
            <a:r>
              <a:rPr lang="fa-IR" dirty="0">
                <a:latin typeface="B Nazanin" pitchFamily="2" charset="-78"/>
                <a:cs typeface="B Nazanin" pitchFamily="2" charset="-78"/>
              </a:rPr>
              <a:t>.</a:t>
            </a:r>
          </a:p>
          <a:p>
            <a:pPr marL="342900" indent="-342900" algn="r" rtl="1">
              <a:buFont typeface="Arial" panose="020B0604020202020204" pitchFamily="34" charset="0"/>
              <a:buChar char="•"/>
            </a:pPr>
            <a:r>
              <a:rPr lang="fa-IR" dirty="0">
                <a:latin typeface="B Nazanin" pitchFamily="2" charset="-78"/>
                <a:cs typeface="B Nazanin" pitchFamily="2" charset="-78"/>
              </a:rPr>
              <a:t>آسیب جدی به اعتبار علمی و </a:t>
            </a:r>
            <a:r>
              <a:rPr lang="fa-IR" dirty="0" err="1">
                <a:latin typeface="B Nazanin" pitchFamily="2" charset="-78"/>
                <a:cs typeface="B Nazanin" pitchFamily="2" charset="-78"/>
              </a:rPr>
              <a:t>حرفه‌ای</a:t>
            </a:r>
            <a:r>
              <a:rPr lang="fa-IR" dirty="0">
                <a:latin typeface="B Nazanin" pitchFamily="2" charset="-78"/>
                <a:cs typeface="B Nazanin" pitchFamily="2" charset="-78"/>
              </a:rPr>
              <a:t> نویسنده.</a:t>
            </a:r>
          </a:p>
          <a:p>
            <a:pPr marL="342900" indent="-342900" algn="r" rtl="1">
              <a:buFont typeface="Arial" panose="020B0604020202020204" pitchFamily="34" charset="0"/>
              <a:buChar char="•"/>
            </a:pPr>
            <a:r>
              <a:rPr lang="fa-IR" dirty="0">
                <a:latin typeface="B Nazanin" pitchFamily="2" charset="-78"/>
                <a:cs typeface="B Nazanin" pitchFamily="2" charset="-78"/>
              </a:rPr>
              <a:t>محرومیت از </a:t>
            </a:r>
            <a:r>
              <a:rPr lang="fa-IR" dirty="0" err="1">
                <a:latin typeface="B Nazanin" pitchFamily="2" charset="-78"/>
                <a:cs typeface="B Nazanin" pitchFamily="2" charset="-78"/>
              </a:rPr>
              <a:t>فعالیت‌های</a:t>
            </a:r>
            <a:r>
              <a:rPr lang="fa-IR" dirty="0">
                <a:latin typeface="B Nazanin" pitchFamily="2" charset="-78"/>
                <a:cs typeface="B Nazanin" pitchFamily="2" charset="-78"/>
              </a:rPr>
              <a:t> پژوهشی یا آموزشی.</a:t>
            </a:r>
          </a:p>
          <a:p>
            <a:pPr marL="342900" indent="-342900" algn="r" rtl="1">
              <a:buFont typeface="Arial" panose="020B0604020202020204" pitchFamily="34" charset="0"/>
              <a:buChar char="•"/>
            </a:pPr>
            <a:r>
              <a:rPr lang="fa-IR" dirty="0">
                <a:latin typeface="B Nazanin" pitchFamily="2" charset="-78"/>
                <a:cs typeface="B Nazanin" pitchFamily="2" charset="-78"/>
              </a:rPr>
              <a:t>در برخی کشورها حتی پیگرد قانونی.</a:t>
            </a:r>
          </a:p>
          <a:p>
            <a:pPr algn="r" rtl="1">
              <a:lnSpc>
                <a:spcPct val="95000"/>
              </a:lnSpc>
            </a:pPr>
            <a:endParaRPr lang="fa-IR" dirty="0">
              <a:latin typeface="B Nazanin" pitchFamily="2" charset="-78"/>
              <a:cs typeface="B Nazanin" pitchFamily="2" charset="-78"/>
            </a:endParaRPr>
          </a:p>
          <a:p>
            <a:pPr algn="r" rtl="1">
              <a:lnSpc>
                <a:spcPct val="95000"/>
              </a:lnSpc>
            </a:pPr>
            <a:r>
              <a:rPr lang="fa-IR" dirty="0">
                <a:latin typeface="B Nazanin" pitchFamily="2" charset="-78"/>
                <a:cs typeface="B Nazanin" pitchFamily="2" charset="-78"/>
              </a:rPr>
              <a:t>راه های جلوگیری از سرقت علمی: </a:t>
            </a:r>
          </a:p>
          <a:p>
            <a:pPr marL="457200" indent="-457200" algn="r" rtl="1">
              <a:lnSpc>
                <a:spcPct val="95000"/>
              </a:lnSpc>
              <a:buAutoNum type="arabicPeriod"/>
            </a:pPr>
            <a:r>
              <a:rPr lang="fa-IR" dirty="0">
                <a:latin typeface="B Nazanin" pitchFamily="2" charset="-78"/>
                <a:cs typeface="B Nazanin" pitchFamily="2" charset="-78"/>
              </a:rPr>
              <a:t>ارجاع دهی صحیح</a:t>
            </a:r>
          </a:p>
          <a:p>
            <a:pPr marL="457200" indent="-457200" algn="r" rtl="1">
              <a:lnSpc>
                <a:spcPct val="95000"/>
              </a:lnSpc>
              <a:buAutoNum type="arabicPeriod"/>
            </a:pPr>
            <a:r>
              <a:rPr lang="fa-IR" dirty="0">
                <a:latin typeface="B Nazanin" pitchFamily="2" charset="-78"/>
                <a:cs typeface="B Nazanin" pitchFamily="2" charset="-78"/>
              </a:rPr>
              <a:t>بازنویسی و تحلیل شخصی</a:t>
            </a:r>
          </a:p>
          <a:p>
            <a:pPr marL="457200" indent="-457200" algn="r" rtl="1">
              <a:lnSpc>
                <a:spcPct val="95000"/>
              </a:lnSpc>
              <a:buAutoNum type="arabicPeriod"/>
            </a:pPr>
            <a:r>
              <a:rPr lang="fa-IR" dirty="0">
                <a:latin typeface="B Nazanin" pitchFamily="2" charset="-78"/>
                <a:cs typeface="B Nazanin" pitchFamily="2" charset="-78"/>
              </a:rPr>
              <a:t>استفاده از نرم افزار های تشخیص مشابهت</a:t>
            </a:r>
          </a:p>
          <a:p>
            <a:pPr marL="0" algn="r" defTabSz="1218987" rtl="1" eaLnBrk="1" latinLnBrk="0" hangingPunct="1">
              <a:lnSpc>
                <a:spcPct val="95000"/>
              </a:lnSpc>
            </a:pPr>
            <a:endParaRPr lang="en-US"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1C20C7C3-FC98-33CB-A29F-4ECFD15B6DDB}"/>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47771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B6CA91-9B5D-AD35-5696-078B622E76F9}"/>
              </a:ext>
            </a:extLst>
          </p:cNvPr>
          <p:cNvSpPr>
            <a:spLocks noGrp="1"/>
          </p:cNvSpPr>
          <p:nvPr>
            <p:ph idx="1"/>
          </p:nvPr>
        </p:nvSpPr>
        <p:spPr>
          <a:xfrm>
            <a:off x="1293812" y="304800"/>
            <a:ext cx="10157354" cy="9906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None/>
            </a:pPr>
            <a:r>
              <a:rPr lang="fa-IR" sz="5400" dirty="0">
                <a:solidFill>
                  <a:schemeClr val="accent2">
                    <a:lumMod val="50000"/>
                  </a:schemeClr>
                </a:solidFill>
                <a:latin typeface="B Mitra" pitchFamily="2" charset="-78"/>
                <a:cs typeface="B Mitra" pitchFamily="2" charset="-78"/>
              </a:rPr>
              <a:t>فرآیند ارسال و داوری مقاله</a:t>
            </a:r>
            <a:endParaRPr lang="en-US" sz="5400" dirty="0">
              <a:solidFill>
                <a:schemeClr val="accent2">
                  <a:lumMod val="50000"/>
                </a:schemeClr>
              </a:solidFill>
              <a:latin typeface="B Mitra" pitchFamily="2" charset="-78"/>
              <a:cs typeface="B Mitra" pitchFamily="2" charset="-78"/>
            </a:endParaRPr>
          </a:p>
        </p:txBody>
      </p:sp>
      <p:sp>
        <p:nvSpPr>
          <p:cNvPr id="3" name="TextBox 2">
            <a:extLst>
              <a:ext uri="{FF2B5EF4-FFF2-40B4-BE49-F238E27FC236}">
                <a16:creationId xmlns:a16="http://schemas.microsoft.com/office/drawing/2014/main" id="{0D3278F0-6918-A43C-5FE1-67FF36ED5D37}"/>
              </a:ext>
            </a:extLst>
          </p:cNvPr>
          <p:cNvSpPr txBox="1"/>
          <p:nvPr/>
        </p:nvSpPr>
        <p:spPr>
          <a:xfrm>
            <a:off x="684212" y="1524000"/>
            <a:ext cx="10766954" cy="4510466"/>
          </a:xfrm>
          <a:prstGeom prst="rect">
            <a:avLst/>
          </a:prstGeom>
          <a:noFill/>
        </p:spPr>
        <p:txBody>
          <a:bodyPr wrap="square" rtlCol="0">
            <a:spAutoFit/>
          </a:bodyPr>
          <a:lstStyle/>
          <a:p>
            <a:pPr algn="r" rtl="1"/>
            <a:r>
              <a:rPr lang="fa-IR" dirty="0">
                <a:latin typeface="B Nazanin" pitchFamily="2" charset="-78"/>
                <a:cs typeface="B Nazanin" pitchFamily="2" charset="-78"/>
              </a:rPr>
              <a:t>1. ارسال مقاله </a:t>
            </a:r>
            <a:r>
              <a:rPr lang="en-US" dirty="0">
                <a:latin typeface="B Nazanin" pitchFamily="2" charset="-78"/>
                <a:cs typeface="B Nazanin" pitchFamily="2" charset="-78"/>
              </a:rPr>
              <a:t>(</a:t>
            </a:r>
            <a:r>
              <a:rPr lang="en-US" sz="2000" dirty="0">
                <a:latin typeface="Aptos" panose="020B0004020202020204" pitchFamily="34" charset="0"/>
                <a:cs typeface="B Nazanin" pitchFamily="2" charset="-78"/>
              </a:rPr>
              <a:t>Submission</a:t>
            </a:r>
            <a:r>
              <a:rPr lang="en-US" dirty="0">
                <a:latin typeface="B Nazanin" pitchFamily="2" charset="-78"/>
                <a:cs typeface="B Nazanin" pitchFamily="2" charset="-78"/>
              </a:rPr>
              <a:t>)</a:t>
            </a:r>
          </a:p>
          <a:p>
            <a:pPr algn="r" rtl="1"/>
            <a:r>
              <a:rPr lang="fa-IR" dirty="0">
                <a:latin typeface="B Nazanin" pitchFamily="2" charset="-78"/>
                <a:cs typeface="B Nazanin" pitchFamily="2" charset="-78"/>
              </a:rPr>
              <a:t>نویسنده مقاله را از طریق سامانه آنلاین مجله ارسال </a:t>
            </a:r>
            <a:r>
              <a:rPr lang="fa-IR" dirty="0" err="1">
                <a:latin typeface="B Nazanin" pitchFamily="2" charset="-78"/>
                <a:cs typeface="B Nazanin" pitchFamily="2" charset="-78"/>
              </a:rPr>
              <a:t>می‌کند</a:t>
            </a:r>
            <a:r>
              <a:rPr lang="fa-IR" dirty="0">
                <a:latin typeface="B Nazanin" pitchFamily="2" charset="-78"/>
                <a:cs typeface="B Nazanin" pitchFamily="2" charset="-78"/>
              </a:rPr>
              <a:t>.</a:t>
            </a:r>
          </a:p>
          <a:p>
            <a:pPr algn="r" rtl="1"/>
            <a:endParaRPr lang="en-US" dirty="0">
              <a:latin typeface="B Nazanin" pitchFamily="2" charset="-78"/>
              <a:cs typeface="B Nazanin" pitchFamily="2" charset="-78"/>
            </a:endParaRPr>
          </a:p>
          <a:p>
            <a:pPr algn="r" rtl="1"/>
            <a:r>
              <a:rPr lang="fa-IR" dirty="0">
                <a:latin typeface="B Nazanin" pitchFamily="2" charset="-78"/>
                <a:cs typeface="B Nazanin" pitchFamily="2" charset="-78"/>
              </a:rPr>
              <a:t>2. بررسی اولیه توسط سردبیر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Editorial Screening</a:t>
            </a:r>
          </a:p>
          <a:p>
            <a:pPr algn="r" rtl="1"/>
            <a:r>
              <a:rPr lang="fa-IR" dirty="0">
                <a:latin typeface="B Nazanin" pitchFamily="2" charset="-78"/>
                <a:cs typeface="B Nazanin" pitchFamily="2" charset="-78"/>
              </a:rPr>
              <a:t>سردبیر بررسی </a:t>
            </a:r>
            <a:r>
              <a:rPr lang="fa-IR" dirty="0" err="1">
                <a:latin typeface="B Nazanin" pitchFamily="2" charset="-78"/>
                <a:cs typeface="B Nazanin" pitchFamily="2" charset="-78"/>
              </a:rPr>
              <a:t>می‌کند</a:t>
            </a:r>
            <a:r>
              <a:rPr lang="fa-IR" dirty="0">
                <a:latin typeface="B Nazanin" pitchFamily="2" charset="-78"/>
                <a:cs typeface="B Nazanin" pitchFamily="2" charset="-78"/>
              </a:rPr>
              <a:t> که مقاله با حوزه مجله مرتبط باشد.</a:t>
            </a:r>
          </a:p>
          <a:p>
            <a:pPr algn="r" rtl="1"/>
            <a:r>
              <a:rPr lang="fa-IR" dirty="0">
                <a:latin typeface="B Nazanin" pitchFamily="2" charset="-78"/>
                <a:cs typeface="B Nazanin" pitchFamily="2" charset="-78"/>
              </a:rPr>
              <a:t>کیفیت نگارش، رعایت اصول اخلاقی و ساختار استاندارد بررسی </a:t>
            </a:r>
            <a:r>
              <a:rPr lang="fa-IR" dirty="0" err="1">
                <a:latin typeface="B Nazanin" pitchFamily="2" charset="-78"/>
                <a:cs typeface="B Nazanin" pitchFamily="2" charset="-78"/>
              </a:rPr>
              <a:t>می‌شود</a:t>
            </a:r>
            <a:r>
              <a:rPr lang="fa-IR" dirty="0">
                <a:latin typeface="B Nazanin" pitchFamily="2" charset="-78"/>
                <a:cs typeface="B Nazanin" pitchFamily="2" charset="-78"/>
              </a:rPr>
              <a:t>.</a:t>
            </a:r>
            <a:endParaRPr lang="en-US" dirty="0">
              <a:latin typeface="B Nazanin" pitchFamily="2" charset="-78"/>
              <a:cs typeface="B Nazanin" pitchFamily="2" charset="-78"/>
            </a:endParaRPr>
          </a:p>
          <a:p>
            <a:pPr algn="r" rtl="1"/>
            <a:r>
              <a:rPr lang="fa-IR" dirty="0">
                <a:latin typeface="B Nazanin" pitchFamily="2" charset="-78"/>
                <a:cs typeface="B Nazanin" pitchFamily="2" charset="-78"/>
              </a:rPr>
              <a:t>اگر مقاله ضعیف یا خارج از حوزه باشد، در همین مرحله رد </a:t>
            </a:r>
            <a:r>
              <a:rPr lang="fa-IR" dirty="0" err="1">
                <a:latin typeface="B Nazanin" pitchFamily="2" charset="-78"/>
                <a:cs typeface="B Nazanin" pitchFamily="2" charset="-78"/>
              </a:rPr>
              <a:t>می‌شود</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Desk Rejection</a:t>
            </a:r>
            <a:r>
              <a:rPr lang="en-US" dirty="0">
                <a:latin typeface="B Nazanin" pitchFamily="2" charset="-78"/>
                <a:cs typeface="B Nazanin" pitchFamily="2" charset="-78"/>
              </a:rPr>
              <a:t>) .</a:t>
            </a:r>
          </a:p>
          <a:p>
            <a:pPr algn="r" rtl="1"/>
            <a:endParaRPr lang="en-US" dirty="0">
              <a:latin typeface="B Nazanin" pitchFamily="2" charset="-78"/>
              <a:cs typeface="B Nazanin" pitchFamily="2" charset="-78"/>
            </a:endParaRPr>
          </a:p>
          <a:p>
            <a:pPr algn="r" rtl="1"/>
            <a:r>
              <a:rPr lang="en-US" dirty="0">
                <a:latin typeface="B Nazanin" pitchFamily="2" charset="-78"/>
                <a:cs typeface="B Nazanin" pitchFamily="2" charset="-78"/>
              </a:rPr>
              <a:t> .3</a:t>
            </a:r>
            <a:r>
              <a:rPr lang="fa-IR" dirty="0">
                <a:latin typeface="B Nazanin" pitchFamily="2" charset="-78"/>
                <a:cs typeface="B Nazanin" pitchFamily="2" charset="-78"/>
              </a:rPr>
              <a:t>انتخاب داوران </a:t>
            </a:r>
            <a:r>
              <a:rPr lang="en-US" dirty="0">
                <a:latin typeface="B Nazanin" pitchFamily="2" charset="-78"/>
                <a:cs typeface="B Nazanin" pitchFamily="2" charset="-78"/>
              </a:rPr>
              <a:t>(</a:t>
            </a:r>
            <a:r>
              <a:rPr lang="en-US" sz="2000" dirty="0">
                <a:latin typeface="Aptos" panose="020B0004020202020204" pitchFamily="34" charset="0"/>
                <a:cs typeface="B Nazanin" pitchFamily="2" charset="-78"/>
              </a:rPr>
              <a:t>Reviewer Assignment</a:t>
            </a:r>
            <a:r>
              <a:rPr lang="en-US" dirty="0">
                <a:latin typeface="B Nazanin" pitchFamily="2" charset="-78"/>
                <a:cs typeface="B Nazanin" pitchFamily="2" charset="-78"/>
              </a:rPr>
              <a:t>)</a:t>
            </a:r>
          </a:p>
          <a:p>
            <a:pPr algn="r" rtl="1"/>
            <a:r>
              <a:rPr lang="fa-IR" dirty="0">
                <a:latin typeface="B Nazanin" pitchFamily="2" charset="-78"/>
                <a:cs typeface="B Nazanin" pitchFamily="2" charset="-78"/>
              </a:rPr>
              <a:t>سردبیر مقاله را به چند داور متخصص در همان حوزه علمی ارسال </a:t>
            </a:r>
            <a:r>
              <a:rPr lang="fa-IR" dirty="0" err="1">
                <a:latin typeface="B Nazanin" pitchFamily="2" charset="-78"/>
                <a:cs typeface="B Nazanin" pitchFamily="2" charset="-78"/>
              </a:rPr>
              <a:t>می‌کند</a:t>
            </a:r>
            <a:r>
              <a:rPr lang="fa-IR" dirty="0">
                <a:latin typeface="B Nazanin" pitchFamily="2" charset="-78"/>
                <a:cs typeface="B Nazanin" pitchFamily="2" charset="-78"/>
              </a:rPr>
              <a:t>.</a:t>
            </a:r>
          </a:p>
          <a:p>
            <a:pPr algn="r" rtl="1"/>
            <a:r>
              <a:rPr lang="fa-IR" dirty="0">
                <a:latin typeface="B Nazanin" pitchFamily="2" charset="-78"/>
                <a:cs typeface="B Nazanin" pitchFamily="2" charset="-78"/>
              </a:rPr>
              <a:t>داوران معمولاً ناشناس هستند</a:t>
            </a:r>
            <a:r>
              <a:rPr lang="en-US" dirty="0">
                <a:latin typeface="B Nazanin" pitchFamily="2" charset="-78"/>
                <a:cs typeface="B Nazanin" pitchFamily="2" charset="-78"/>
              </a:rPr>
              <a:t>.</a:t>
            </a:r>
            <a:endParaRPr lang="fa-IR" dirty="0">
              <a:latin typeface="B Nazanin" pitchFamily="2" charset="-78"/>
              <a:cs typeface="B Nazanin" pitchFamily="2" charset="-78"/>
            </a:endParaRPr>
          </a:p>
          <a:p>
            <a:pPr marL="0" algn="r" defTabSz="1218987" rtl="1" eaLnBrk="1" latinLnBrk="0" hangingPunct="1">
              <a:lnSpc>
                <a:spcPct val="95000"/>
              </a:lnSpc>
            </a:pPr>
            <a:endParaRPr lang="en-US" dirty="0">
              <a:latin typeface="B Nazanin" pitchFamily="2" charset="-78"/>
              <a:cs typeface="B Nazanin" pitchFamily="2" charset="-78"/>
            </a:endParaRPr>
          </a:p>
        </p:txBody>
      </p:sp>
      <p:pic>
        <p:nvPicPr>
          <p:cNvPr id="4" name="Picture 3" descr="A white symbol with a black background&#10;&#10;AI-generated content may be incorrect.">
            <a:extLst>
              <a:ext uri="{FF2B5EF4-FFF2-40B4-BE49-F238E27FC236}">
                <a16:creationId xmlns:a16="http://schemas.microsoft.com/office/drawing/2014/main" id="{826DFF0B-3169-E750-7967-CC4CC9B9E1DD}"/>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2692413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1396CA-1830-F2F0-6AE8-5CE5957A2B29}"/>
              </a:ext>
            </a:extLst>
          </p:cNvPr>
          <p:cNvSpPr>
            <a:spLocks noGrp="1"/>
          </p:cNvSpPr>
          <p:nvPr>
            <p:ph idx="1"/>
          </p:nvPr>
        </p:nvSpPr>
        <p:spPr>
          <a:xfrm>
            <a:off x="1217612" y="685800"/>
            <a:ext cx="10157354" cy="6400800"/>
          </a:xfrm>
        </p:spPr>
        <p:txBody>
          <a:bodyPr>
            <a:noAutofit/>
          </a:bodyPr>
          <a:lstStyle/>
          <a:p>
            <a:pPr marL="0" indent="0" algn="r" rtl="1">
              <a:buNone/>
            </a:pPr>
            <a:r>
              <a:rPr lang="fa-IR" dirty="0">
                <a:latin typeface="B Nazanin" pitchFamily="2" charset="-78"/>
                <a:cs typeface="B Nazanin" pitchFamily="2" charset="-78"/>
              </a:rPr>
              <a:t>4. فرآیند داوری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Peer Review</a:t>
            </a:r>
          </a:p>
          <a:p>
            <a:pPr marL="0" indent="0" algn="r" rtl="1">
              <a:buNone/>
            </a:pPr>
            <a:r>
              <a:rPr lang="fa-IR" dirty="0">
                <a:latin typeface="B Nazanin" pitchFamily="2" charset="-78"/>
                <a:cs typeface="B Nazanin" pitchFamily="2" charset="-78"/>
              </a:rPr>
              <a:t>داوران مقاله را از نظر نوآوری، </a:t>
            </a:r>
            <a:r>
              <a:rPr lang="fa-IR" dirty="0" err="1">
                <a:latin typeface="B Nazanin" pitchFamily="2" charset="-78"/>
                <a:cs typeface="B Nazanin" pitchFamily="2" charset="-78"/>
              </a:rPr>
              <a:t>روش‌شناسی</a:t>
            </a:r>
            <a:r>
              <a:rPr lang="fa-IR" dirty="0">
                <a:latin typeface="B Nazanin" pitchFamily="2" charset="-78"/>
                <a:cs typeface="B Nazanin" pitchFamily="2" charset="-78"/>
              </a:rPr>
              <a:t>، دقت نتایج و </a:t>
            </a:r>
            <a:r>
              <a:rPr lang="fa-IR" dirty="0" err="1">
                <a:latin typeface="B Nazanin" pitchFamily="2" charset="-78"/>
                <a:cs typeface="B Nazanin" pitchFamily="2" charset="-78"/>
              </a:rPr>
              <a:t>ارجاع‌دهی</a:t>
            </a:r>
            <a:r>
              <a:rPr lang="fa-IR" dirty="0">
                <a:latin typeface="B Nazanin" pitchFamily="2" charset="-78"/>
                <a:cs typeface="B Nazanin" pitchFamily="2" charset="-78"/>
              </a:rPr>
              <a:t> بررسی </a:t>
            </a:r>
            <a:r>
              <a:rPr lang="fa-IR" dirty="0" err="1">
                <a:latin typeface="B Nazanin" pitchFamily="2" charset="-78"/>
                <a:cs typeface="B Nazanin" pitchFamily="2" charset="-78"/>
              </a:rPr>
              <a:t>می‌کنند</a:t>
            </a:r>
            <a:r>
              <a:rPr lang="fa-IR" dirty="0">
                <a:latin typeface="B Nazanin" pitchFamily="2" charset="-78"/>
                <a:cs typeface="B Nazanin" pitchFamily="2" charset="-78"/>
              </a:rPr>
              <a:t>.</a:t>
            </a:r>
          </a:p>
          <a:p>
            <a:pPr marL="0" indent="0" algn="r" rtl="1">
              <a:buNone/>
            </a:pPr>
            <a:r>
              <a:rPr lang="fa-IR" dirty="0">
                <a:latin typeface="B Nazanin" pitchFamily="2" charset="-78"/>
                <a:cs typeface="B Nazanin" pitchFamily="2" charset="-78"/>
              </a:rPr>
              <a:t>ممکن است پیشنهاد اصلاحات جزئی یا اساسی بدهند.</a:t>
            </a:r>
          </a:p>
          <a:p>
            <a:pPr marL="0" indent="0" algn="r" rtl="1">
              <a:buNone/>
            </a:pPr>
            <a:r>
              <a:rPr lang="fa-IR" dirty="0">
                <a:latin typeface="B Nazanin" pitchFamily="2" charset="-78"/>
                <a:cs typeface="B Nazanin" pitchFamily="2" charset="-78"/>
              </a:rPr>
              <a:t>مدت زمان داوری بسته به مجله بین چند هفته تا چند ماه طول </a:t>
            </a:r>
            <a:r>
              <a:rPr lang="fa-IR" dirty="0" err="1">
                <a:latin typeface="B Nazanin" pitchFamily="2" charset="-78"/>
                <a:cs typeface="B Nazanin" pitchFamily="2" charset="-78"/>
              </a:rPr>
              <a:t>می‌کشد</a:t>
            </a:r>
            <a:r>
              <a:rPr lang="fa-IR" dirty="0">
                <a:latin typeface="B Nazanin" pitchFamily="2" charset="-78"/>
                <a:cs typeface="B Nazanin" pitchFamily="2" charset="-78"/>
              </a:rPr>
              <a:t>.</a:t>
            </a:r>
            <a:endParaRPr lang="en-US" dirty="0">
              <a:latin typeface="B Nazanin" pitchFamily="2" charset="-78"/>
              <a:cs typeface="B Nazanin" pitchFamily="2" charset="-78"/>
            </a:endParaRPr>
          </a:p>
          <a:p>
            <a:pPr marL="0" indent="0" algn="r" rtl="1">
              <a:buNone/>
            </a:pPr>
            <a:endParaRPr lang="fa-IR" dirty="0">
              <a:latin typeface="B Nazanin" pitchFamily="2" charset="-78"/>
              <a:cs typeface="B Nazanin" pitchFamily="2" charset="-78"/>
            </a:endParaRPr>
          </a:p>
          <a:p>
            <a:pPr marL="0" indent="0" algn="r" rtl="1">
              <a:buNone/>
            </a:pPr>
            <a:r>
              <a:rPr lang="fa-IR" dirty="0">
                <a:latin typeface="B Nazanin" pitchFamily="2" charset="-78"/>
                <a:cs typeface="B Nazanin" pitchFamily="2" charset="-78"/>
              </a:rPr>
              <a:t>5. بازخورد به نویسنده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Reviewer Feedback</a:t>
            </a:r>
          </a:p>
          <a:p>
            <a:pPr marL="0" indent="0" algn="r" rtl="1">
              <a:buNone/>
            </a:pPr>
            <a:r>
              <a:rPr lang="fa-IR" dirty="0">
                <a:latin typeface="B Nazanin" pitchFamily="2" charset="-78"/>
                <a:cs typeface="B Nazanin" pitchFamily="2" charset="-78"/>
              </a:rPr>
              <a:t>نویسنده نظرات داوران را دریافت </a:t>
            </a:r>
            <a:r>
              <a:rPr lang="fa-IR" dirty="0" err="1">
                <a:latin typeface="B Nazanin" pitchFamily="2" charset="-78"/>
                <a:cs typeface="B Nazanin" pitchFamily="2" charset="-78"/>
              </a:rPr>
              <a:t>می‌کند</a:t>
            </a:r>
            <a:r>
              <a:rPr lang="fa-IR" dirty="0">
                <a:latin typeface="B Nazanin" pitchFamily="2" charset="-78"/>
                <a:cs typeface="B Nazanin" pitchFamily="2" charset="-78"/>
              </a:rPr>
              <a:t>.</a:t>
            </a:r>
          </a:p>
          <a:p>
            <a:pPr marL="0" indent="0" algn="r" rtl="1">
              <a:buNone/>
            </a:pPr>
            <a:r>
              <a:rPr lang="fa-IR" dirty="0">
                <a:latin typeface="B Nazanin" pitchFamily="2" charset="-78"/>
                <a:cs typeface="B Nazanin" pitchFamily="2" charset="-78"/>
              </a:rPr>
              <a:t>باید اصلاحات لازم را انجام دهد و نسخه </a:t>
            </a:r>
            <a:r>
              <a:rPr lang="fa-IR" dirty="0" err="1">
                <a:latin typeface="B Nazanin" pitchFamily="2" charset="-78"/>
                <a:cs typeface="B Nazanin" pitchFamily="2" charset="-78"/>
              </a:rPr>
              <a:t>اصلاح‌شده</a:t>
            </a:r>
            <a:r>
              <a:rPr lang="fa-IR" dirty="0">
                <a:latin typeface="B Nazanin" pitchFamily="2" charset="-78"/>
                <a:cs typeface="B Nazanin" pitchFamily="2" charset="-78"/>
              </a:rPr>
              <a:t> را دوباره ارسال کند.</a:t>
            </a:r>
            <a:endParaRPr lang="en-US" dirty="0">
              <a:latin typeface="B Nazanin" pitchFamily="2" charset="-78"/>
              <a:cs typeface="B Nazanin" pitchFamily="2" charset="-78"/>
            </a:endParaRPr>
          </a:p>
          <a:p>
            <a:pPr marL="0" indent="0" algn="r" rtl="1">
              <a:buNone/>
            </a:pPr>
            <a:endParaRPr lang="fa-IR" dirty="0">
              <a:latin typeface="B Nazanin" pitchFamily="2" charset="-78"/>
              <a:cs typeface="B Nazanin" pitchFamily="2" charset="-78"/>
            </a:endParaRPr>
          </a:p>
          <a:p>
            <a:pPr marL="0" indent="0" algn="r">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FF48D7AC-46CC-6352-4940-E061045B3AEF}"/>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157499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35AEFF-0973-8758-7D1B-03CB3802DCB2}"/>
              </a:ext>
            </a:extLst>
          </p:cNvPr>
          <p:cNvSpPr>
            <a:spLocks noGrp="1"/>
          </p:cNvSpPr>
          <p:nvPr>
            <p:ph idx="1"/>
          </p:nvPr>
        </p:nvSpPr>
        <p:spPr>
          <a:xfrm>
            <a:off x="1217612" y="533400"/>
            <a:ext cx="10157354" cy="5486400"/>
          </a:xfrm>
        </p:spPr>
        <p:txBody>
          <a:bodyPr>
            <a:normAutofit/>
          </a:bodyPr>
          <a:lstStyle/>
          <a:p>
            <a:pPr marL="0" indent="0" algn="r" rtl="1">
              <a:buNone/>
            </a:pPr>
            <a:r>
              <a:rPr lang="fa-IR" dirty="0">
                <a:latin typeface="B Nazanin" pitchFamily="2" charset="-78"/>
                <a:cs typeface="B Nazanin" pitchFamily="2" charset="-78"/>
              </a:rPr>
              <a:t>6. تصمیم نهایی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Final Decision</a:t>
            </a:r>
          </a:p>
          <a:p>
            <a:pPr marL="0" indent="0" algn="r" rtl="1">
              <a:buNone/>
            </a:pPr>
            <a:r>
              <a:rPr lang="fa-IR" dirty="0">
                <a:latin typeface="B Nazanin" pitchFamily="2" charset="-78"/>
                <a:cs typeface="B Nazanin" pitchFamily="2" charset="-78"/>
              </a:rPr>
              <a:t>سردبیر پس از بررسی اصلاحات، تصمیم </a:t>
            </a:r>
            <a:r>
              <a:rPr lang="fa-IR" dirty="0" err="1">
                <a:latin typeface="B Nazanin" pitchFamily="2" charset="-78"/>
                <a:cs typeface="B Nazanin" pitchFamily="2" charset="-78"/>
              </a:rPr>
              <a:t>می‌گیرد</a:t>
            </a:r>
            <a:r>
              <a:rPr lang="fa-IR" dirty="0">
                <a:latin typeface="B Nazanin" pitchFamily="2" charset="-78"/>
                <a:cs typeface="B Nazanin" pitchFamily="2" charset="-78"/>
              </a:rPr>
              <a:t>:</a:t>
            </a:r>
          </a:p>
          <a:p>
            <a:pPr marL="426645" lvl="1" indent="0" algn="r" rtl="1">
              <a:buNone/>
            </a:pPr>
            <a:r>
              <a:rPr lang="fa-IR" sz="2400" dirty="0">
                <a:latin typeface="B Nazanin" pitchFamily="2" charset="-78"/>
                <a:cs typeface="B Nazanin" pitchFamily="2" charset="-78"/>
              </a:rPr>
              <a:t>پذیرش </a:t>
            </a:r>
            <a:r>
              <a:rPr lang="en-US" sz="2400" dirty="0">
                <a:latin typeface="B Nazanin" pitchFamily="2" charset="-78"/>
                <a:cs typeface="B Nazanin" pitchFamily="2" charset="-78"/>
              </a:rPr>
              <a:t>(</a:t>
            </a:r>
            <a:r>
              <a:rPr lang="en-US" dirty="0">
                <a:latin typeface="Aptos" panose="020B0004020202020204" pitchFamily="34" charset="0"/>
                <a:cs typeface="B Nazanin" pitchFamily="2" charset="-78"/>
              </a:rPr>
              <a:t>Accept</a:t>
            </a:r>
            <a:r>
              <a:rPr lang="en-US" sz="2400" dirty="0">
                <a:latin typeface="B Nazanin" pitchFamily="2" charset="-78"/>
                <a:cs typeface="B Nazanin" pitchFamily="2" charset="-78"/>
              </a:rPr>
              <a:t>)</a:t>
            </a:r>
          </a:p>
          <a:p>
            <a:pPr marL="426645" lvl="1" indent="0" algn="r" rtl="1">
              <a:buNone/>
            </a:pPr>
            <a:r>
              <a:rPr lang="fa-IR" sz="2400" dirty="0">
                <a:latin typeface="B Nazanin" pitchFamily="2" charset="-78"/>
                <a:cs typeface="B Nazanin" pitchFamily="2" charset="-78"/>
              </a:rPr>
              <a:t>نیاز به اصلاحات بیشتر (</a:t>
            </a:r>
            <a:r>
              <a:rPr lang="en-US" dirty="0">
                <a:latin typeface="Aptos" panose="020B0004020202020204" pitchFamily="34" charset="0"/>
                <a:cs typeface="B Nazanin" pitchFamily="2" charset="-78"/>
              </a:rPr>
              <a:t>Minor/Major Revision</a:t>
            </a:r>
            <a:r>
              <a:rPr lang="fa-IR" sz="2400" dirty="0">
                <a:latin typeface="B Nazanin" pitchFamily="2" charset="-78"/>
                <a:cs typeface="B Nazanin" pitchFamily="2" charset="-78"/>
              </a:rPr>
              <a:t>)</a:t>
            </a:r>
            <a:endParaRPr lang="en-US" sz="2400" dirty="0">
              <a:latin typeface="B Nazanin" pitchFamily="2" charset="-78"/>
              <a:cs typeface="B Nazanin" pitchFamily="2" charset="-78"/>
            </a:endParaRPr>
          </a:p>
          <a:p>
            <a:pPr marL="426645" lvl="1" indent="0" algn="r" rtl="1">
              <a:buNone/>
            </a:pPr>
            <a:r>
              <a:rPr lang="fa-IR" sz="2400" dirty="0">
                <a:latin typeface="B Nazanin" pitchFamily="2" charset="-78"/>
                <a:cs typeface="B Nazanin" pitchFamily="2" charset="-78"/>
              </a:rPr>
              <a:t>رد مقاله </a:t>
            </a:r>
            <a:r>
              <a:rPr lang="en-US" sz="2400" dirty="0">
                <a:latin typeface="B Nazanin" pitchFamily="2" charset="-78"/>
                <a:cs typeface="B Nazanin" pitchFamily="2" charset="-78"/>
              </a:rPr>
              <a:t>(</a:t>
            </a:r>
            <a:r>
              <a:rPr lang="en-US" dirty="0">
                <a:latin typeface="Aptos" panose="020B0004020202020204" pitchFamily="34" charset="0"/>
                <a:cs typeface="B Nazanin" pitchFamily="2" charset="-78"/>
              </a:rPr>
              <a:t>Reject</a:t>
            </a:r>
            <a:r>
              <a:rPr lang="en-US" sz="2400" dirty="0">
                <a:latin typeface="B Nazanin" pitchFamily="2" charset="-78"/>
                <a:cs typeface="B Nazanin" pitchFamily="2" charset="-78"/>
              </a:rPr>
              <a:t>)</a:t>
            </a:r>
            <a:endParaRPr lang="fa-IR" sz="2400" dirty="0">
              <a:latin typeface="B Nazanin" pitchFamily="2" charset="-78"/>
              <a:cs typeface="B Nazanin" pitchFamily="2" charset="-78"/>
            </a:endParaRPr>
          </a:p>
          <a:p>
            <a:pPr marL="426645" lvl="1" indent="0" algn="r" rtl="1">
              <a:buNone/>
            </a:pPr>
            <a:endParaRPr lang="en-US" sz="2400" dirty="0">
              <a:latin typeface="B Nazanin" pitchFamily="2" charset="-78"/>
              <a:cs typeface="B Nazanin" pitchFamily="2" charset="-78"/>
            </a:endParaRPr>
          </a:p>
          <a:p>
            <a:pPr marL="0" indent="0" algn="r" rtl="1">
              <a:buNone/>
            </a:pPr>
            <a:r>
              <a:rPr lang="fa-IR" dirty="0">
                <a:latin typeface="B Nazanin" pitchFamily="2" charset="-78"/>
                <a:cs typeface="B Nazanin" pitchFamily="2" charset="-78"/>
              </a:rPr>
              <a:t>۷. انتشار </a:t>
            </a:r>
            <a:r>
              <a:rPr lang="en-US" dirty="0">
                <a:latin typeface="B Nazanin" pitchFamily="2" charset="-78"/>
                <a:cs typeface="B Nazanin" pitchFamily="2" charset="-78"/>
              </a:rPr>
              <a:t>(</a:t>
            </a:r>
            <a:r>
              <a:rPr lang="en-US" sz="2000" dirty="0">
                <a:latin typeface="Aptos" panose="020B0004020202020204" pitchFamily="34" charset="0"/>
                <a:cs typeface="B Nazanin" pitchFamily="2" charset="-78"/>
              </a:rPr>
              <a:t>Publication</a:t>
            </a:r>
            <a:r>
              <a:rPr lang="en-US" dirty="0">
                <a:latin typeface="B Nazanin" pitchFamily="2" charset="-78"/>
                <a:cs typeface="B Nazanin" pitchFamily="2" charset="-78"/>
              </a:rPr>
              <a:t>)</a:t>
            </a:r>
          </a:p>
          <a:p>
            <a:pPr marL="0" indent="0" algn="r" rtl="1">
              <a:buNone/>
            </a:pPr>
            <a:r>
              <a:rPr lang="fa-IR" dirty="0">
                <a:latin typeface="B Nazanin" pitchFamily="2" charset="-78"/>
                <a:cs typeface="B Nazanin" pitchFamily="2" charset="-78"/>
              </a:rPr>
              <a:t>پس از پذیرش، مقاله وارد مرحله </a:t>
            </a:r>
            <a:r>
              <a:rPr lang="fa-IR" dirty="0" err="1">
                <a:latin typeface="B Nazanin" pitchFamily="2" charset="-78"/>
                <a:cs typeface="B Nazanin" pitchFamily="2" charset="-78"/>
              </a:rPr>
              <a:t>آماده‌سازی</a:t>
            </a:r>
            <a:r>
              <a:rPr lang="fa-IR" dirty="0">
                <a:latin typeface="B Nazanin" pitchFamily="2" charset="-78"/>
                <a:cs typeface="B Nazanin" pitchFamily="2" charset="-78"/>
              </a:rPr>
              <a:t> نهایی </a:t>
            </a:r>
            <a:r>
              <a:rPr lang="en-US" dirty="0">
                <a:latin typeface="B Nazanin" pitchFamily="2" charset="-78"/>
                <a:cs typeface="B Nazanin" pitchFamily="2" charset="-78"/>
              </a:rPr>
              <a:t> (</a:t>
            </a:r>
            <a:r>
              <a:rPr lang="en-US" sz="2000" dirty="0">
                <a:latin typeface="Aptos" panose="020B0004020202020204" pitchFamily="34" charset="0"/>
                <a:cs typeface="B Nazanin" pitchFamily="2" charset="-78"/>
              </a:rPr>
              <a:t>Proofreading, Typesetting</a:t>
            </a:r>
            <a:r>
              <a:rPr lang="en-US" dirty="0">
                <a:latin typeface="B Nazanin" pitchFamily="2" charset="-78"/>
                <a:cs typeface="B Nazanin" pitchFamily="2" charset="-78"/>
              </a:rPr>
              <a:t>) </a:t>
            </a:r>
            <a:r>
              <a:rPr lang="fa-IR" dirty="0" err="1">
                <a:latin typeface="B Nazanin" pitchFamily="2" charset="-78"/>
                <a:cs typeface="B Nazanin" pitchFamily="2" charset="-78"/>
              </a:rPr>
              <a:t>می‌شود</a:t>
            </a:r>
            <a:r>
              <a:rPr lang="fa-IR" dirty="0">
                <a:latin typeface="B Nazanin" pitchFamily="2" charset="-78"/>
                <a:cs typeface="B Nazanin" pitchFamily="2" charset="-78"/>
              </a:rPr>
              <a:t>.</a:t>
            </a:r>
          </a:p>
          <a:p>
            <a:pPr marL="0" indent="0" algn="r" rtl="1">
              <a:buNone/>
            </a:pPr>
            <a:r>
              <a:rPr lang="fa-IR" dirty="0">
                <a:latin typeface="B Nazanin" pitchFamily="2" charset="-78"/>
                <a:cs typeface="B Nazanin" pitchFamily="2" charset="-78"/>
              </a:rPr>
              <a:t>سپس در شماره بعدی مجله منتشر </a:t>
            </a:r>
            <a:r>
              <a:rPr lang="fa-IR" dirty="0" err="1">
                <a:latin typeface="B Nazanin" pitchFamily="2" charset="-78"/>
                <a:cs typeface="B Nazanin" pitchFamily="2" charset="-78"/>
              </a:rPr>
              <a:t>می‌گردد</a:t>
            </a:r>
            <a:r>
              <a:rPr lang="fa-IR" dirty="0">
                <a:latin typeface="B Nazanin" pitchFamily="2" charset="-78"/>
                <a:cs typeface="B Nazanin" pitchFamily="2" charset="-78"/>
              </a:rPr>
              <a:t>.</a:t>
            </a:r>
          </a:p>
          <a:p>
            <a:pPr marL="0" indent="0" algn="r">
              <a:buNone/>
            </a:pPr>
            <a:endParaRPr lang="en-US" dirty="0">
              <a:latin typeface="B Nazanin" pitchFamily="2" charset="-78"/>
              <a:cs typeface="B Nazanin" pitchFamily="2" charset="-78"/>
            </a:endParaRPr>
          </a:p>
        </p:txBody>
      </p:sp>
      <p:pic>
        <p:nvPicPr>
          <p:cNvPr id="3" name="Picture 2" descr="A white symbol with a black background&#10;&#10;AI-generated content may be incorrect.">
            <a:extLst>
              <a:ext uri="{FF2B5EF4-FFF2-40B4-BE49-F238E27FC236}">
                <a16:creationId xmlns:a16="http://schemas.microsoft.com/office/drawing/2014/main" id="{CCE3ED55-3F66-6DBB-1113-C8B629BCA93B}"/>
              </a:ext>
            </a:extLst>
          </p:cNvPr>
          <p:cNvPicPr>
            <a:picLocks noChangeAspect="1"/>
          </p:cNvPicPr>
          <p:nvPr/>
        </p:nvPicPr>
        <p:blipFill>
          <a:blip r:embed="rId2" cstate="print">
            <a:alphaModFix amt="20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55612" y="184355"/>
            <a:ext cx="11669422" cy="6477000"/>
          </a:xfrm>
          <a:prstGeom prst="rect">
            <a:avLst/>
          </a:prstGeom>
        </p:spPr>
      </p:pic>
    </p:spTree>
    <p:extLst>
      <p:ext uri="{BB962C8B-B14F-4D97-AF65-F5344CB8AC3E}">
        <p14:creationId xmlns:p14="http://schemas.microsoft.com/office/powerpoint/2010/main" val="101475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elcome back to school presentat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Welcome back to school presentation.potx" id="{CE426E4B-AEF0-4DB0-AA06-9B9EF2E62E1A}" vid="{EB2D3276-CBF5-48AD-B47E-C2D79CA4C86F}"/>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Welcome back to school</Template>
  <TotalTime>2875</TotalTime>
  <Words>1763</Words>
  <Application>Microsoft Office PowerPoint</Application>
  <PresentationFormat>Custom</PresentationFormat>
  <Paragraphs>195</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B Mitra</vt:lpstr>
      <vt:lpstr>B Nazanin</vt:lpstr>
      <vt:lpstr>Century Gothic</vt:lpstr>
      <vt:lpstr>Times New Roman</vt:lpstr>
      <vt:lpstr>Welcome back to school presentation</vt:lpstr>
      <vt:lpstr>کارگاه مقاله نویسی بخش دوم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riza ahmadi</dc:creator>
  <cp:lastModifiedBy>Y H</cp:lastModifiedBy>
  <cp:revision>97</cp:revision>
  <dcterms:created xsi:type="dcterms:W3CDTF">2025-10-24T17:41:00Z</dcterms:created>
  <dcterms:modified xsi:type="dcterms:W3CDTF">2025-12-11T10:26:07Z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