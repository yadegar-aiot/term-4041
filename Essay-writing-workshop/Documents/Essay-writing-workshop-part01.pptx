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29"/>
  </p:notesMasterIdLst>
  <p:handoutMasterIdLst>
    <p:handoutMasterId r:id="rId30"/>
  </p:handoutMasterIdLst>
  <p:sldIdLst>
    <p:sldId id="258" r:id="rId2"/>
    <p:sldId id="259" r:id="rId3"/>
    <p:sldId id="260" r:id="rId4"/>
    <p:sldId id="262" r:id="rId5"/>
    <p:sldId id="263" r:id="rId6"/>
    <p:sldId id="264" r:id="rId7"/>
    <p:sldId id="265" r:id="rId8"/>
    <p:sldId id="266" r:id="rId9"/>
    <p:sldId id="267"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0" autoAdjust="0"/>
    <p:restoredTop sz="94595" autoAdjust="0"/>
  </p:normalViewPr>
  <p:slideViewPr>
    <p:cSldViewPr showGuides="1">
      <p:cViewPr varScale="1">
        <p:scale>
          <a:sx n="104" d="100"/>
          <a:sy n="104" d="100"/>
        </p:scale>
        <p:origin x="666" y="114"/>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81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12/7/2025</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12/7/2025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BF81A0-ADA6-4623-BE4F-40CFB8BBCB3D}" type="slidenum">
              <a:rPr lang="en-US" smtClean="0"/>
              <a:t>1</a:t>
            </a:fld>
            <a:endParaRPr lang="en-US"/>
          </a:p>
        </p:txBody>
      </p:sp>
    </p:spTree>
    <p:extLst>
      <p:ext uri="{BB962C8B-B14F-4D97-AF65-F5344CB8AC3E}">
        <p14:creationId xmlns:p14="http://schemas.microsoft.com/office/powerpoint/2010/main" val="285590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descr="Stack of books"/>
          <p:cNvGrpSpPr/>
          <p:nvPr userDrawn="1"/>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26044" cy="6858000"/>
              <a:chOff x="0" y="0"/>
              <a:chExt cx="4726044" cy="6858000"/>
            </a:xfrm>
          </p:grpSpPr>
          <p:pic>
            <p:nvPicPr>
              <p:cNvPr id="9" name="Picture 8"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588884"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42E3C847-D284-421D-B330-2D43513B0F9C}" type="datetime1">
              <a:rPr lang="en-US" smtClean="0"/>
              <a:t>12/7/2025</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440517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7309" y="685800"/>
            <a:ext cx="10157354" cy="5486400"/>
          </a:xfrm>
        </p:spPr>
        <p:txBody>
          <a:bodyPr/>
          <a:lstStyle>
            <a:lvl5pPr>
              <a:defRPr/>
            </a:lvl5pPr>
            <a:lvl6pPr>
              <a:defRPr/>
            </a:lvl6pPr>
            <a:lvl7pPr>
              <a:defRPr baseline="0"/>
            </a:lvl7pPr>
            <a:lvl8pPr>
              <a:defRPr baseline="0"/>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Date Placeholder 10">
            <a:extLst>
              <a:ext uri="{FF2B5EF4-FFF2-40B4-BE49-F238E27FC236}">
                <a16:creationId xmlns:a16="http://schemas.microsoft.com/office/drawing/2014/main" id="{7CA814AD-0FFA-495D-ABE9-8AD10F434AFE}"/>
              </a:ext>
            </a:extLst>
          </p:cNvPr>
          <p:cNvSpPr>
            <a:spLocks noGrp="1"/>
          </p:cNvSpPr>
          <p:nvPr>
            <p:ph type="dt" sz="half" idx="10"/>
          </p:nvPr>
        </p:nvSpPr>
        <p:spPr/>
        <p:txBody>
          <a:bodyPr/>
          <a:lstStyle/>
          <a:p>
            <a:fld id="{72EBFD46-0FD3-4428-ADEC-1DFD6489930D}" type="datetime1">
              <a:rPr lang="en-US" smtClean="0"/>
              <a:t>12/7/2025</a:t>
            </a:fld>
            <a:endParaRPr lang="en-US"/>
          </a:p>
        </p:txBody>
      </p:sp>
      <p:sp>
        <p:nvSpPr>
          <p:cNvPr id="12" name="Footer Placeholder 11">
            <a:extLst>
              <a:ext uri="{FF2B5EF4-FFF2-40B4-BE49-F238E27FC236}">
                <a16:creationId xmlns:a16="http://schemas.microsoft.com/office/drawing/2014/main" id="{6203233C-6BB2-B6CA-27CA-D1AF37AE2662}"/>
              </a:ext>
            </a:extLst>
          </p:cNvPr>
          <p:cNvSpPr>
            <a:spLocks noGrp="1"/>
          </p:cNvSpPr>
          <p:nvPr>
            <p:ph type="ftr" sz="quarter" idx="11"/>
          </p:nvPr>
        </p:nvSpPr>
        <p:spPr/>
        <p:txBody>
          <a:bodyPr/>
          <a:lstStyle/>
          <a:p>
            <a:r>
              <a:rPr lang="en-US"/>
              <a:t>Add a footer</a:t>
            </a:r>
            <a:endParaRPr lang="en-US" dirty="0"/>
          </a:p>
        </p:txBody>
      </p:sp>
      <p:sp>
        <p:nvSpPr>
          <p:cNvPr id="13" name="Slide Number Placeholder 12">
            <a:extLst>
              <a:ext uri="{FF2B5EF4-FFF2-40B4-BE49-F238E27FC236}">
                <a16:creationId xmlns:a16="http://schemas.microsoft.com/office/drawing/2014/main" id="{0B6D0474-A374-8B49-4EAD-2013D815479C}"/>
              </a:ext>
            </a:extLst>
          </p:cNvPr>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235897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E8F41008-E89D-49CD-9BF4-E6F3FE09F7AC}" type="datetime1">
              <a:rPr lang="en-US" smtClean="0"/>
              <a:t>12/7/2025</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7272354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6C9E199F-4583-41EB-929F-5865E95EECAA}" type="datetime1">
              <a:rPr lang="en-US" smtClean="0"/>
              <a:t>12/7/2025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70174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DE652EB-356C-4482-B27C-7C8E08F5D88F}" type="datetime1">
              <a:rPr lang="en-US" smtClean="0"/>
              <a:t>12/7/2025</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4746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1B0895E-43C3-4560-B59A-90049317E860}" type="datetime1">
              <a:rPr lang="en-US" smtClean="0"/>
              <a:t>12/7/2025</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81024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778C32-B81D-4A68-A851-5185C690F024}" type="datetime1">
              <a:rPr lang="en-US" smtClean="0"/>
              <a:t>12/7/2025</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66448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1765D79-EF31-4E8F-A1BE-AF31805C2859}" type="datetime1">
              <a:rPr lang="en-US" smtClean="0"/>
              <a:t>12/7/2025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28012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32FBA3B-941F-4778-A0CB-865223FDAE69}" type="datetime1">
              <a:rPr lang="en-US" smtClean="0"/>
              <a:t>12/7/2025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147819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F6987518-40ED-4895-8580-DE2A722FC423}" type="datetime1">
              <a:rPr lang="en-US" smtClean="0"/>
              <a:t>12/7/2025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96022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1117309" y="274638"/>
            <a:ext cx="8532178" cy="58975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A8D9F34-BDBC-4273-B9BC-22458F940BE7}" type="datetime1">
              <a:rPr lang="en-US" smtClean="0"/>
              <a:t>12/7/2025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3982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72EBFD46-0FD3-4428-ADEC-1DFD6489930D}" type="datetime1">
              <a:rPr lang="en-US" smtClean="0"/>
              <a:t>12/7/2025</a:t>
            </a:fld>
            <a:endParaRPr lang="en-US"/>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dirty="0"/>
              <a:t>Add a footer</a:t>
            </a:r>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414278595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6pPr>
      <a:lvl7pPr marL="2864619"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7pPr>
      <a:lvl8pPr marL="3291264"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8pPr>
      <a:lvl9pPr marL="3474112" indent="0" algn="l" defTabSz="1218987" rtl="0" eaLnBrk="1" latinLnBrk="0" hangingPunct="1">
        <a:lnSpc>
          <a:spcPct val="95000"/>
        </a:lnSpc>
        <a:spcBef>
          <a:spcPts val="1066"/>
        </a:spcBef>
        <a:buClr>
          <a:schemeClr val="accent6">
            <a:lumMod val="50000"/>
          </a:schemeClr>
        </a:buClr>
        <a:buSzPct val="90000"/>
        <a:buFont typeface="Century Gothic" pitchFamily="34" charset="0"/>
        <a:buNone/>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Layout" Target="../slideLayouts/slideLayout2.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g"/><Relationship Id="rId1" Type="http://schemas.openxmlformats.org/officeDocument/2006/relationships/slideLayout" Target="../slideLayouts/slideLayout2.xml"/><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scholar.google.com/?utm_source=copilot.com" TargetMode="External"/><Relationship Id="rId7" Type="http://schemas.microsoft.com/office/2007/relationships/hdphoto" Target="../media/hdphoto2.wdp"/><Relationship Id="rId2" Type="http://schemas.openxmlformats.org/officeDocument/2006/relationships/hyperlink" Target="https://civilica.com/"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arxiv.org/?utm_source=copilot.com" TargetMode="External"/><Relationship Id="rId4" Type="http://schemas.openxmlformats.org/officeDocument/2006/relationships/hyperlink" Target="https://pubmed.ncbi.nlm.nih.gov/?utm_source=copilot.com" TargetMode="External"/></Relationships>
</file>

<file path=ppt/slides/_rels/slide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rtl="1"/>
            <a:r>
              <a:rPr lang="fa-IR" dirty="0">
                <a:cs typeface="B Nazanin" panose="00000400000000000000" pitchFamily="2" charset="-78"/>
              </a:rPr>
              <a:t>کارگاه مقاله </a:t>
            </a:r>
            <a:r>
              <a:rPr lang="fa-IR" dirty="0" err="1">
                <a:cs typeface="B Nazanin" panose="00000400000000000000" pitchFamily="2" charset="-78"/>
              </a:rPr>
              <a:t>نویسی</a:t>
            </a:r>
            <a:br>
              <a:rPr lang="fa-IR" dirty="0">
                <a:cs typeface="B Nazanin" panose="00000400000000000000" pitchFamily="2" charset="-78"/>
              </a:rPr>
            </a:br>
            <a:r>
              <a:rPr lang="fa-IR" sz="3200" dirty="0">
                <a:cs typeface="B Nazanin" panose="00000400000000000000" pitchFamily="2" charset="-78"/>
              </a:rPr>
              <a:t>بخش اول</a:t>
            </a:r>
            <a:endParaRPr lang="en-US" sz="3200" dirty="0">
              <a:cs typeface="B Nazanin" panose="00000400000000000000" pitchFamily="2" charset="-78"/>
            </a:endParaRPr>
          </a:p>
        </p:txBody>
      </p:sp>
      <p:sp>
        <p:nvSpPr>
          <p:cNvPr id="3" name="Subtitle 2"/>
          <p:cNvSpPr>
            <a:spLocks noGrp="1"/>
          </p:cNvSpPr>
          <p:nvPr>
            <p:ph type="subTitle" idx="1"/>
          </p:nvPr>
        </p:nvSpPr>
        <p:spPr/>
        <p:txBody>
          <a:bodyPr>
            <a:normAutofit/>
          </a:bodyPr>
          <a:lstStyle/>
          <a:p>
            <a:pPr algn="r" rtl="1"/>
            <a:r>
              <a:rPr lang="fa-IR" dirty="0">
                <a:cs typeface="B Nazanin" panose="00000400000000000000" pitchFamily="2" charset="-78"/>
              </a:rPr>
              <a:t>محمدرضا احمدی</a:t>
            </a:r>
          </a:p>
          <a:p>
            <a:pPr algn="r" rtl="1"/>
            <a:r>
              <a:rPr lang="fa-IR" dirty="0">
                <a:cs typeface="B Nazanin" panose="00000400000000000000" pitchFamily="2" charset="-78"/>
              </a:rPr>
              <a:t>سجاد ثقفی</a:t>
            </a:r>
            <a:endParaRPr lang="en-US" dirty="0">
              <a:cs typeface="B Nazanin" panose="00000400000000000000" pitchFamily="2" charset="-78"/>
            </a:endParaRPr>
          </a:p>
        </p:txBody>
      </p:sp>
      <p:pic>
        <p:nvPicPr>
          <p:cNvPr id="5" name="Picture 4" descr="A white symbol with a black background&#10;&#10;AI-generated content may be incorrect.">
            <a:extLst>
              <a:ext uri="{FF2B5EF4-FFF2-40B4-BE49-F238E27FC236}">
                <a16:creationId xmlns:a16="http://schemas.microsoft.com/office/drawing/2014/main" id="{1CCE4181-5CD4-1428-0B59-D7339A7BD5BF}"/>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841315" y="152400"/>
            <a:ext cx="7276228" cy="4038600"/>
          </a:xfrm>
          <a:prstGeom prst="rect">
            <a:avLst/>
          </a:prstGeom>
        </p:spPr>
      </p:pic>
      <p:pic>
        <p:nvPicPr>
          <p:cNvPr id="7" name="Picture 6" descr="A blue and black logo&#10;&#10;AI-generated content may be incorrect.">
            <a:extLst>
              <a:ext uri="{FF2B5EF4-FFF2-40B4-BE49-F238E27FC236}">
                <a16:creationId xmlns:a16="http://schemas.microsoft.com/office/drawing/2014/main" id="{DDEFDF50-489C-5D34-05C6-88F270CC062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8788" y="-253999"/>
            <a:ext cx="1752600" cy="1752600"/>
          </a:xfrm>
          <a:prstGeom prst="rect">
            <a:avLst/>
          </a:prstGeom>
        </p:spPr>
      </p:pic>
    </p:spTree>
    <p:extLst>
      <p:ext uri="{BB962C8B-B14F-4D97-AF65-F5344CB8AC3E}">
        <p14:creationId xmlns:p14="http://schemas.microsoft.com/office/powerpoint/2010/main" val="17366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309" y="76200"/>
            <a:ext cx="10157354" cy="993734"/>
          </a:xfrm>
        </p:spPr>
        <p:txBody>
          <a:bodyPr>
            <a:normAutofit/>
          </a:bodyPr>
          <a:lstStyle/>
          <a:p>
            <a:pPr algn="r" rtl="1"/>
            <a:r>
              <a:rPr lang="fa-IR" sz="5400" dirty="0">
                <a:cs typeface="B Nazanin" panose="00000400000000000000" pitchFamily="2" charset="-78"/>
              </a:rPr>
              <a:t>سرفصل ها</a:t>
            </a:r>
            <a:endParaRPr lang="en-US" sz="5400" dirty="0">
              <a:cs typeface="B Nazanin" panose="00000400000000000000" pitchFamily="2" charset="-78"/>
            </a:endParaRPr>
          </a:p>
        </p:txBody>
      </p:sp>
      <p:sp>
        <p:nvSpPr>
          <p:cNvPr id="3" name="Content Placeholder 2"/>
          <p:cNvSpPr>
            <a:spLocks noGrp="1"/>
          </p:cNvSpPr>
          <p:nvPr>
            <p:ph idx="1"/>
          </p:nvPr>
        </p:nvSpPr>
        <p:spPr>
          <a:xfrm>
            <a:off x="1117309" y="1295400"/>
            <a:ext cx="10157354" cy="4876800"/>
          </a:xfrm>
        </p:spPr>
        <p:txBody>
          <a:bodyPr>
            <a:normAutofit fontScale="85000" lnSpcReduction="20000"/>
          </a:bodyPr>
          <a:lstStyle/>
          <a:p>
            <a:pPr algn="r" rtl="1"/>
            <a:r>
              <a:rPr lang="fa-IR" sz="2600" dirty="0">
                <a:cs typeface="B Nazanin" panose="00000400000000000000" pitchFamily="2" charset="-78"/>
              </a:rPr>
              <a:t> مقاله علمی و اهمیت آ</a:t>
            </a:r>
            <a:r>
              <a:rPr lang="fa-IR" sz="2200" dirty="0">
                <a:latin typeface="X Nazanin" panose="02000400000000000000" pitchFamily="2" charset="-78"/>
                <a:cs typeface="X Nazanin" panose="02000400000000000000" pitchFamily="2" charset="-78"/>
              </a:rPr>
              <a:t>ن</a:t>
            </a:r>
            <a:endParaRPr lang="en-US" sz="2200" dirty="0">
              <a:latin typeface="X Nazanin" panose="02000400000000000000" pitchFamily="2" charset="-78"/>
              <a:cs typeface="X Nazanin" panose="02000400000000000000" pitchFamily="2" charset="-78"/>
            </a:endParaRPr>
          </a:p>
          <a:p>
            <a:pPr algn="r" rtl="1"/>
            <a:r>
              <a:rPr lang="fa-IR" sz="2600" dirty="0">
                <a:cs typeface="B Nazanin" panose="00000400000000000000" pitchFamily="2" charset="-78"/>
              </a:rPr>
              <a:t>انواع مقاله</a:t>
            </a:r>
          </a:p>
          <a:p>
            <a:pPr algn="r" rtl="1"/>
            <a:r>
              <a:rPr lang="fa-IR" sz="2600" dirty="0">
                <a:cs typeface="B Nazanin" panose="00000400000000000000" pitchFamily="2" charset="-78"/>
              </a:rPr>
              <a:t>رده بندی مقاله ها</a:t>
            </a:r>
            <a:endParaRPr lang="en-US" sz="2600" dirty="0">
              <a:cs typeface="B Nazanin" panose="00000400000000000000" pitchFamily="2" charset="-78"/>
            </a:endParaRPr>
          </a:p>
          <a:p>
            <a:pPr algn="r" rtl="1"/>
            <a:r>
              <a:rPr lang="fa-IR" sz="2600" dirty="0">
                <a:cs typeface="B Nazanin" panose="00000400000000000000" pitchFamily="2" charset="-78"/>
              </a:rPr>
              <a:t>ساختار و چهارچوب مقاله علمی</a:t>
            </a:r>
            <a:endParaRPr lang="en-US" sz="2600" dirty="0">
              <a:cs typeface="B Nazanin" panose="00000400000000000000" pitchFamily="2" charset="-78"/>
            </a:endParaRPr>
          </a:p>
          <a:p>
            <a:pPr algn="r" rtl="1"/>
            <a:r>
              <a:rPr lang="fa-IR" sz="2600" dirty="0">
                <a:cs typeface="B Nazanin" panose="00000400000000000000" pitchFamily="2" charset="-78"/>
              </a:rPr>
              <a:t>شیوه صحیح مطالعه مقاله</a:t>
            </a:r>
            <a:endParaRPr lang="en-US" sz="2600" dirty="0">
              <a:cs typeface="B Nazanin" panose="00000400000000000000" pitchFamily="2" charset="-78"/>
            </a:endParaRPr>
          </a:p>
          <a:p>
            <a:pPr algn="r" rtl="1"/>
            <a:r>
              <a:rPr lang="fa-IR" sz="2600" dirty="0">
                <a:cs typeface="B Nazanin" panose="00000400000000000000" pitchFamily="2" charset="-78"/>
              </a:rPr>
              <a:t>نحوه درست نگارش مقاله</a:t>
            </a:r>
          </a:p>
          <a:p>
            <a:pPr algn="r" rtl="1"/>
            <a:r>
              <a:rPr lang="fa-IR" sz="2600" dirty="0">
                <a:cs typeface="B Nazanin" panose="00000400000000000000" pitchFamily="2" charset="-78"/>
              </a:rPr>
              <a:t>آشنایی با </a:t>
            </a:r>
            <a:r>
              <a:rPr lang="fa-IR" sz="2600" dirty="0" err="1">
                <a:cs typeface="B Nazanin" panose="00000400000000000000" pitchFamily="2" charset="-78"/>
              </a:rPr>
              <a:t>ویرایشگر</a:t>
            </a:r>
            <a:r>
              <a:rPr lang="fa-IR" sz="2600" dirty="0">
                <a:cs typeface="B Nazanin" panose="00000400000000000000" pitchFamily="2" charset="-78"/>
              </a:rPr>
              <a:t> های متن</a:t>
            </a:r>
          </a:p>
          <a:p>
            <a:pPr algn="r" rtl="1"/>
            <a:r>
              <a:rPr lang="fa-IR" sz="2600" dirty="0">
                <a:cs typeface="B Nazanin" panose="00000400000000000000" pitchFamily="2" charset="-78"/>
              </a:rPr>
              <a:t>استفاده از هوش مصنوعی در مقاله </a:t>
            </a:r>
            <a:r>
              <a:rPr lang="fa-IR" sz="2600" dirty="0" err="1">
                <a:cs typeface="B Nazanin" panose="00000400000000000000" pitchFamily="2" charset="-78"/>
              </a:rPr>
              <a:t>نویسی</a:t>
            </a:r>
            <a:endParaRPr lang="en-US" sz="2600" dirty="0">
              <a:cs typeface="B Nazanin" panose="00000400000000000000" pitchFamily="2" charset="-78"/>
            </a:endParaRPr>
          </a:p>
          <a:p>
            <a:pPr algn="r" rtl="1"/>
            <a:r>
              <a:rPr lang="fa-IR" sz="2600" dirty="0">
                <a:cs typeface="B Nazanin" panose="00000400000000000000" pitchFamily="2" charset="-78"/>
              </a:rPr>
              <a:t>جلوگیری از سرقت علمی و ادبی</a:t>
            </a:r>
            <a:endParaRPr lang="en-US" sz="2600" dirty="0">
              <a:cs typeface="B Nazanin" panose="00000400000000000000" pitchFamily="2" charset="-78"/>
            </a:endParaRPr>
          </a:p>
          <a:p>
            <a:pPr algn="r" rtl="1"/>
            <a:r>
              <a:rPr lang="fa-IR" sz="2600" dirty="0">
                <a:cs typeface="B Nazanin" panose="00000400000000000000" pitchFamily="2" charset="-78"/>
              </a:rPr>
              <a:t>فرایند ارسال و داوری مقاله</a:t>
            </a:r>
            <a:endParaRPr lang="en-US" sz="2600" dirty="0">
              <a:cs typeface="B Nazanin" panose="00000400000000000000" pitchFamily="2" charset="-78"/>
            </a:endParaRPr>
          </a:p>
        </p:txBody>
      </p:sp>
      <p:pic>
        <p:nvPicPr>
          <p:cNvPr id="4" name="Picture 3" descr="A white symbol with a black background">
            <a:extLst>
              <a:ext uri="{FF2B5EF4-FFF2-40B4-BE49-F238E27FC236}">
                <a16:creationId xmlns:a16="http://schemas.microsoft.com/office/drawing/2014/main" id="{5B26E6B1-17A3-DECB-2CBF-032C7470D180}"/>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153074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309" y="152400"/>
            <a:ext cx="10157354" cy="685800"/>
          </a:xfrm>
        </p:spPr>
        <p:txBody>
          <a:bodyPr>
            <a:noAutofit/>
          </a:bodyPr>
          <a:lstStyle/>
          <a:p>
            <a:pPr algn="r" rtl="1"/>
            <a:r>
              <a:rPr lang="fa-IR" sz="5400" dirty="0">
                <a:latin typeface="Times New Roman" panose="02020603050405020304" pitchFamily="18" charset="0"/>
                <a:cs typeface="Times New Roman" panose="02020603050405020304" pitchFamily="18" charset="0"/>
              </a:rPr>
              <a:t>مقدمه</a:t>
            </a: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5735" y="877455"/>
            <a:ext cx="10157354" cy="5178466"/>
          </a:xfrm>
        </p:spPr>
        <p:txBody>
          <a:bodyPr>
            <a:normAutofit/>
          </a:bodyPr>
          <a:lstStyle/>
          <a:p>
            <a:pPr marL="0" indent="0" algn="r" rtl="1">
              <a:buNone/>
            </a:pPr>
            <a:r>
              <a:rPr lang="ar-SA" sz="2000" dirty="0">
                <a:cs typeface="B Nazanin" panose="00000400000000000000" pitchFamily="2" charset="-78"/>
              </a:rPr>
              <a:t>مقاله </a:t>
            </a:r>
            <a:r>
              <a:rPr lang="fa-IR" sz="2000" dirty="0">
                <a:cs typeface="B Nazanin" panose="00000400000000000000" pitchFamily="2" charset="-78"/>
              </a:rPr>
              <a:t>(</a:t>
            </a:r>
            <a:r>
              <a:rPr lang="en-US" sz="1800" dirty="0">
                <a:latin typeface="Aptos" panose="020B0004020202020204" pitchFamily="34" charset="0"/>
                <a:cs typeface="Times New Roman" panose="02020603050405020304" pitchFamily="18" charset="0"/>
              </a:rPr>
              <a:t>Article</a:t>
            </a:r>
            <a:r>
              <a:rPr lang="fa-IR" sz="2000" dirty="0">
                <a:cs typeface="B Nazanin" panose="00000400000000000000" pitchFamily="2" charset="-78"/>
              </a:rPr>
              <a:t>)</a:t>
            </a:r>
            <a:r>
              <a:rPr lang="ar-SA" sz="2000" dirty="0">
                <a:cs typeface="B Nazanin" panose="00000400000000000000" pitchFamily="2" charset="-78"/>
              </a:rPr>
              <a:t>، نوشته‌</a:t>
            </a:r>
            <a:r>
              <a:rPr lang="fa-IR" sz="2000" dirty="0">
                <a:cs typeface="B Nazanin" panose="00000400000000000000" pitchFamily="2" charset="-78"/>
              </a:rPr>
              <a:t> </a:t>
            </a:r>
            <a:r>
              <a:rPr lang="ar-SA" sz="2000" dirty="0">
                <a:cs typeface="B Nazanin" panose="00000400000000000000" pitchFamily="2" charset="-78"/>
              </a:rPr>
              <a:t>ای علمی یا پژوهشی است که حاصل یک تحقیق، بررسی یا مطالعه‌ی تحلیلی را بیان می‌کند. این نوع نوشته معمولاً بر پایه</a:t>
            </a:r>
            <a:r>
              <a:rPr lang="fa-IR" sz="2000" dirty="0">
                <a:cs typeface="B Nazanin" panose="00000400000000000000" pitchFamily="2" charset="-78"/>
              </a:rPr>
              <a:t> </a:t>
            </a:r>
            <a:r>
              <a:rPr lang="ar-SA" sz="2000" dirty="0">
                <a:cs typeface="B Nazanin" panose="00000400000000000000" pitchFamily="2" charset="-78"/>
              </a:rPr>
              <a:t>‌ی روش</a:t>
            </a:r>
            <a:r>
              <a:rPr lang="fa-IR" sz="2000" dirty="0">
                <a:cs typeface="B Nazanin" panose="00000400000000000000" pitchFamily="2" charset="-78"/>
              </a:rPr>
              <a:t> </a:t>
            </a:r>
            <a:r>
              <a:rPr lang="ar-SA" sz="2000" dirty="0">
                <a:cs typeface="B Nazanin" panose="00000400000000000000" pitchFamily="2" charset="-78"/>
              </a:rPr>
              <a:t>‌های علمی تدوین می‌شود و هدف آن ارائه</a:t>
            </a:r>
            <a:r>
              <a:rPr lang="fa-IR" sz="2000" dirty="0">
                <a:cs typeface="B Nazanin" panose="00000400000000000000" pitchFamily="2" charset="-78"/>
              </a:rPr>
              <a:t> </a:t>
            </a:r>
            <a:r>
              <a:rPr lang="ar-SA" sz="2000" dirty="0">
                <a:cs typeface="B Nazanin" panose="00000400000000000000" pitchFamily="2" charset="-78"/>
              </a:rPr>
              <a:t>‌ی یافته‌</a:t>
            </a:r>
            <a:r>
              <a:rPr lang="fa-IR" sz="2000" dirty="0">
                <a:cs typeface="B Nazanin" panose="00000400000000000000" pitchFamily="2" charset="-78"/>
              </a:rPr>
              <a:t> </a:t>
            </a:r>
            <a:r>
              <a:rPr lang="ar-SA" sz="2000" dirty="0">
                <a:cs typeface="B Nazanin" panose="00000400000000000000" pitchFamily="2" charset="-78"/>
              </a:rPr>
              <a:t>هایی نو، تحلیل داده‌ها، یا نقد و بررسی نظریه‌ها و دیدگاه‌های موجود در یک حوزه‌ی تخصصی است. مقاله‌ها می‌توانند به صورت نظری، تجربی، مروری یا تحلیلی باشند و بسته به نوع آن‌ها، ساختار و شیوه نگارش متفاوتی دارند.</a:t>
            </a:r>
            <a:endParaRPr lang="fa-IR" sz="2000" dirty="0">
              <a:cs typeface="B Nazanin" panose="00000400000000000000" pitchFamily="2" charset="-78"/>
            </a:endParaRPr>
          </a:p>
          <a:p>
            <a:pPr marL="0" indent="0" algn="r" rtl="1">
              <a:buNone/>
            </a:pPr>
            <a:r>
              <a:rPr lang="ar-SA" sz="2000" dirty="0">
                <a:cs typeface="B Nazanin" panose="00000400000000000000" pitchFamily="2" charset="-78"/>
              </a:rPr>
              <a:t>هدف از نگارش مقاله، انتقال دانش جدید، نتایج پژوهش و تبادل تجربیات علمی میان پژوهشگران، متخصصان و علاقه</a:t>
            </a:r>
            <a:r>
              <a:rPr lang="fa-IR" sz="2000" dirty="0">
                <a:cs typeface="B Nazanin" panose="00000400000000000000" pitchFamily="2" charset="-78"/>
              </a:rPr>
              <a:t> </a:t>
            </a:r>
            <a:r>
              <a:rPr lang="ar-SA" sz="2000" dirty="0">
                <a:cs typeface="B Nazanin" panose="00000400000000000000" pitchFamily="2" charset="-78"/>
              </a:rPr>
              <a:t>‌مندان به موضوعات علمی است. مقاله</a:t>
            </a:r>
            <a:r>
              <a:rPr lang="fa-IR" sz="2000" dirty="0">
                <a:cs typeface="B Nazanin" panose="00000400000000000000" pitchFamily="2" charset="-78"/>
              </a:rPr>
              <a:t> </a:t>
            </a:r>
            <a:r>
              <a:rPr lang="ar-SA" sz="2000" dirty="0">
                <a:cs typeface="B Nazanin" panose="00000400000000000000" pitchFamily="2" charset="-78"/>
              </a:rPr>
              <a:t>‌ها نقش مهمی در توسعه</a:t>
            </a:r>
            <a:r>
              <a:rPr lang="fa-IR" sz="2000" dirty="0">
                <a:cs typeface="B Nazanin" panose="00000400000000000000" pitchFamily="2" charset="-78"/>
              </a:rPr>
              <a:t> </a:t>
            </a:r>
            <a:r>
              <a:rPr lang="ar-SA" sz="2000" dirty="0">
                <a:cs typeface="B Nazanin" panose="00000400000000000000" pitchFamily="2" charset="-78"/>
              </a:rPr>
              <a:t>‌ی علم و فناوری دارند، چرا که با انتشار یافته‌های جدید، زمینه‌ساز پیشرفت‌</a:t>
            </a:r>
            <a:r>
              <a:rPr lang="fa-IR" sz="2000" dirty="0">
                <a:cs typeface="B Nazanin" panose="00000400000000000000" pitchFamily="2" charset="-78"/>
              </a:rPr>
              <a:t> </a:t>
            </a:r>
            <a:r>
              <a:rPr lang="ar-SA" sz="2000" dirty="0">
                <a:cs typeface="B Nazanin" panose="00000400000000000000" pitchFamily="2" charset="-78"/>
              </a:rPr>
              <a:t>های بعدی در حوزه‌های مختلف میشوند. همچنین، مقاله‌ها می‌توانند به حل مسائل عملی، ارائه‌ی راهکارهای نو</a:t>
            </a:r>
            <a:r>
              <a:rPr lang="fa-IR" sz="2000" dirty="0">
                <a:cs typeface="B Nazanin" panose="00000400000000000000" pitchFamily="2" charset="-78"/>
              </a:rPr>
              <a:t>آ</a:t>
            </a:r>
            <a:r>
              <a:rPr lang="ar-SA" sz="2000" dirty="0">
                <a:cs typeface="B Nazanin" panose="00000400000000000000" pitchFamily="2" charset="-78"/>
              </a:rPr>
              <a:t>ورانه، یا نقد و اصلاح نظریه‌های پیشین کمک کنند.</a:t>
            </a:r>
          </a:p>
          <a:p>
            <a:pPr marL="0" indent="0" algn="r" rtl="1">
              <a:buNone/>
            </a:pPr>
            <a:r>
              <a:rPr lang="ar-SA" sz="2000" dirty="0">
                <a:cs typeface="B Nazanin" panose="00000400000000000000" pitchFamily="2" charset="-78"/>
              </a:rPr>
              <a:t>مقاله‌ها معمولاً در مجلات علمی معتبر، مجموعه</a:t>
            </a:r>
            <a:r>
              <a:rPr lang="fa-IR" sz="2000" dirty="0">
                <a:cs typeface="B Nazanin" panose="00000400000000000000" pitchFamily="2" charset="-78"/>
              </a:rPr>
              <a:t> </a:t>
            </a:r>
            <a:r>
              <a:rPr lang="ar-SA" sz="2000" dirty="0">
                <a:cs typeface="B Nazanin" panose="00000400000000000000" pitchFamily="2" charset="-78"/>
              </a:rPr>
              <a:t>‌مقالات کنفرانس‌ها، یا پایگاه‌های داده‌ پژوهشی منتشر ‌شوند. انتشار مقاله در این منابع، مستلزم رعایت استانداردهای علمی، ساختار مشخص (مانند چکیده، مقدمه، روش تحقیق، نتایج، بحث و منابع) و داوری تخصصی توسط کارشناسان آن حوزه است. این فرآیند داوری، تضمین‌کننده‌ی کیفیت علمی و اعتبار مقاله است.</a:t>
            </a:r>
          </a:p>
          <a:p>
            <a:pPr marL="0" indent="0" algn="r" rtl="1">
              <a:buNone/>
            </a:pPr>
            <a:r>
              <a:rPr lang="ar-SA" sz="2000" dirty="0">
                <a:cs typeface="B Nazanin" panose="00000400000000000000" pitchFamily="2" charset="-78"/>
              </a:rPr>
              <a:t>در مجموع، مقاله علمی ابزاری مؤثر برای مستند</a:t>
            </a:r>
            <a:r>
              <a:rPr lang="fa-IR" sz="2000" dirty="0">
                <a:cs typeface="B Nazanin" panose="00000400000000000000" pitchFamily="2" charset="-78"/>
              </a:rPr>
              <a:t> </a:t>
            </a:r>
            <a:r>
              <a:rPr lang="ar-SA" sz="2000" dirty="0">
                <a:cs typeface="B Nazanin" panose="00000400000000000000" pitchFamily="2" charset="-78"/>
              </a:rPr>
              <a:t>سازی دانش، گسترش مرزهای علم، و ایجاد ارتباط میان پژوهشگران در سطح ملی و بین</a:t>
            </a:r>
            <a:r>
              <a:rPr lang="fa-IR" sz="2000" dirty="0">
                <a:cs typeface="B Nazanin" panose="00000400000000000000" pitchFamily="2" charset="-78"/>
              </a:rPr>
              <a:t> </a:t>
            </a:r>
            <a:r>
              <a:rPr lang="ar-SA" sz="2000" dirty="0">
                <a:cs typeface="B Nazanin" panose="00000400000000000000" pitchFamily="2" charset="-78"/>
              </a:rPr>
              <a:t>المللی به شمار می</a:t>
            </a:r>
            <a:r>
              <a:rPr lang="fa-IR" sz="2000" dirty="0">
                <a:cs typeface="B Nazanin" panose="00000400000000000000" pitchFamily="2" charset="-78"/>
              </a:rPr>
              <a:t> </a:t>
            </a:r>
            <a:r>
              <a:rPr lang="ar-SA" sz="2000" dirty="0">
                <a:cs typeface="B Nazanin" panose="00000400000000000000" pitchFamily="2" charset="-78"/>
              </a:rPr>
              <a:t>‌آید.</a:t>
            </a:r>
          </a:p>
          <a:p>
            <a:pPr marL="0" indent="0" algn="r" rtl="1">
              <a:buNone/>
            </a:pPr>
            <a:endParaRPr lang="ar-SA" sz="2000" dirty="0">
              <a:cs typeface="B Nazanin" panose="00000400000000000000" pitchFamily="2" charset="-78"/>
            </a:endParaRPr>
          </a:p>
          <a:p>
            <a:pPr marL="0" indent="0" algn="r" rtl="1">
              <a:buNone/>
            </a:pPr>
            <a:endParaRPr lang="en-US" sz="2000" dirty="0">
              <a:cs typeface="B Nazanin" panose="00000400000000000000" pitchFamily="2" charset="-78"/>
            </a:endParaRPr>
          </a:p>
        </p:txBody>
      </p:sp>
      <p:pic>
        <p:nvPicPr>
          <p:cNvPr id="4" name="Picture 3" descr="A white symbol with a black background">
            <a:extLst>
              <a:ext uri="{FF2B5EF4-FFF2-40B4-BE49-F238E27FC236}">
                <a16:creationId xmlns:a16="http://schemas.microsoft.com/office/drawing/2014/main" id="{3398B530-85DC-9784-3680-3EE5459A2C71}"/>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84037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5735" y="337327"/>
            <a:ext cx="10157354" cy="5181600"/>
          </a:xfrm>
        </p:spPr>
        <p:txBody>
          <a:bodyPr>
            <a:normAutofit/>
          </a:bodyPr>
          <a:lstStyle/>
          <a:p>
            <a:pPr marL="0" indent="0" algn="r" rtl="1">
              <a:buNone/>
            </a:pPr>
            <a:r>
              <a:rPr lang="ar-SA" sz="2000" dirty="0">
                <a:cs typeface="B Nazanin" panose="00000400000000000000" pitchFamily="2" charset="-78"/>
              </a:rPr>
              <a:t>چاپ مقاله یکی از بخش‌</a:t>
            </a:r>
            <a:r>
              <a:rPr lang="fa-IR" sz="2000" dirty="0">
                <a:cs typeface="B Nazanin" panose="00000400000000000000" pitchFamily="2" charset="-78"/>
              </a:rPr>
              <a:t> </a:t>
            </a:r>
            <a:r>
              <a:rPr lang="ar-SA" sz="2000" dirty="0">
                <a:cs typeface="B Nazanin" panose="00000400000000000000" pitchFamily="2" charset="-78"/>
              </a:rPr>
              <a:t>های مهم در مسیر فعالیت‌های علمی و پژوهشی است و نشان م</a:t>
            </a:r>
            <a:r>
              <a:rPr lang="fa-IR" sz="2000" dirty="0">
                <a:cs typeface="B Nazanin" panose="00000400000000000000" pitchFamily="2" charset="-78"/>
              </a:rPr>
              <a:t>ی</a:t>
            </a:r>
            <a:r>
              <a:rPr lang="ar-SA" sz="2000" dirty="0">
                <a:cs typeface="B Nazanin" panose="00000400000000000000" pitchFamily="2" charset="-78"/>
              </a:rPr>
              <a:t>دهد که نتیجه</a:t>
            </a:r>
            <a:r>
              <a:rPr lang="fa-IR" sz="2000" dirty="0">
                <a:cs typeface="B Nazanin" panose="00000400000000000000" pitchFamily="2" charset="-78"/>
              </a:rPr>
              <a:t> </a:t>
            </a:r>
            <a:r>
              <a:rPr lang="ar-SA" sz="2000" dirty="0">
                <a:cs typeface="B Nazanin" panose="00000400000000000000" pitchFamily="2" charset="-78"/>
              </a:rPr>
              <a:t>‌ی تلاش‌</a:t>
            </a:r>
            <a:r>
              <a:rPr lang="fa-IR" sz="2000" dirty="0">
                <a:cs typeface="B Nazanin" panose="00000400000000000000" pitchFamily="2" charset="-78"/>
              </a:rPr>
              <a:t> </a:t>
            </a:r>
            <a:r>
              <a:rPr lang="ar-SA" sz="2000" dirty="0">
                <a:cs typeface="B Nazanin" panose="00000400000000000000" pitchFamily="2" charset="-78"/>
              </a:rPr>
              <a:t>های یک پژوهشگر به ثمر رسیده است. وقتی مقاله‌</a:t>
            </a:r>
            <a:r>
              <a:rPr lang="fa-IR" sz="2000" dirty="0">
                <a:cs typeface="B Nazanin" panose="00000400000000000000" pitchFamily="2" charset="-78"/>
              </a:rPr>
              <a:t> </a:t>
            </a:r>
            <a:r>
              <a:rPr lang="ar-SA" sz="2000" dirty="0">
                <a:cs typeface="B Nazanin" panose="00000400000000000000" pitchFamily="2" charset="-78"/>
              </a:rPr>
              <a:t>ای در یک مجله معتبر منتشر می‌شود، یافته‌</a:t>
            </a:r>
            <a:r>
              <a:rPr lang="fa-IR" sz="2000" dirty="0">
                <a:cs typeface="B Nazanin" panose="00000400000000000000" pitchFamily="2" charset="-78"/>
              </a:rPr>
              <a:t> </a:t>
            </a:r>
            <a:r>
              <a:rPr lang="ar-SA" sz="2000" dirty="0">
                <a:cs typeface="B Nazanin" panose="00000400000000000000" pitchFamily="2" charset="-78"/>
              </a:rPr>
              <a:t>های پژوهش در اختیار دیگر محققان قرار می‌گیرد و زمینه‌ تبادل دانش و تجربه فراهم می‌شود. این کار نه‌</a:t>
            </a:r>
            <a:r>
              <a:rPr lang="fa-IR" sz="2000" dirty="0">
                <a:cs typeface="B Nazanin" panose="00000400000000000000" pitchFamily="2" charset="-78"/>
              </a:rPr>
              <a:t> </a:t>
            </a:r>
            <a:r>
              <a:rPr lang="ar-SA" sz="2000" dirty="0">
                <a:cs typeface="B Nazanin" panose="00000400000000000000" pitchFamily="2" charset="-78"/>
              </a:rPr>
              <a:t>تنها باعث رشد علم در آن حوزه می‌شود، بلکه اعتبار علمی و حرفه‌ای نویسنده را هم بالا می‌برد. چاپ مقاله می‌تواند در ادامه تحصیل، ارتقای شغلی، جذب حمایت‌های پژوهشی و حتی شناخته شدن در جامعه علمی نقش مهمی داشته باشد. در واقع، انتشار مقاله پلی است بین پژوهشگر و دنیای علم که نتیجه‌ی تلاش و دانسته‌های او را به دیگران منتقل می‌کند.</a:t>
            </a:r>
          </a:p>
          <a:p>
            <a:pPr marL="0" indent="0" algn="r" rtl="1">
              <a:buNone/>
            </a:pPr>
            <a:endParaRPr lang="en-US" sz="2000" dirty="0">
              <a:cs typeface="B Nazanin" panose="00000400000000000000" pitchFamily="2" charset="-78"/>
            </a:endParaRPr>
          </a:p>
        </p:txBody>
      </p:sp>
      <p:pic>
        <p:nvPicPr>
          <p:cNvPr id="6" name="Picture 5" descr="A close-up of a book&#10;&#10;AI-generated content may be incorrect.">
            <a:extLst>
              <a:ext uri="{FF2B5EF4-FFF2-40B4-BE49-F238E27FC236}">
                <a16:creationId xmlns:a16="http://schemas.microsoft.com/office/drawing/2014/main" id="{4C401B3A-0052-0E62-3FDC-939BEFF16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8812" y="2667000"/>
            <a:ext cx="5551910" cy="3701273"/>
          </a:xfrm>
          <a:prstGeom prst="rect">
            <a:avLst/>
          </a:prstGeom>
        </p:spPr>
      </p:pic>
      <p:pic>
        <p:nvPicPr>
          <p:cNvPr id="7" name="Picture 6" descr="A white symbol with a black background">
            <a:extLst>
              <a:ext uri="{FF2B5EF4-FFF2-40B4-BE49-F238E27FC236}">
                <a16:creationId xmlns:a16="http://schemas.microsoft.com/office/drawing/2014/main" id="{0CE4CFAA-28E6-6BFC-752F-97FDFC08717D}"/>
              </a:ext>
            </a:extLst>
          </p:cNvPr>
          <p:cNvPicPr>
            <a:picLocks noChangeAspect="1"/>
          </p:cNvPicPr>
          <p:nvPr/>
        </p:nvPicPr>
        <p:blipFill>
          <a:blip r:embed="rId3" cstate="print">
            <a:alphaModFix amt="12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917223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7749" y="280941"/>
            <a:ext cx="10157354" cy="685800"/>
          </a:xfrm>
        </p:spPr>
        <p:txBody>
          <a:bodyPr>
            <a:noAutofit/>
          </a:bodyPr>
          <a:lstStyle/>
          <a:p>
            <a:pPr algn="r" rtl="1"/>
            <a:r>
              <a:rPr lang="fa-IR" sz="5400" dirty="0">
                <a:latin typeface="Times New Roman" panose="02020603050405020304" pitchFamily="18" charset="0"/>
                <a:cs typeface="Times New Roman" panose="02020603050405020304" pitchFamily="18" charset="0"/>
              </a:rPr>
              <a:t>انواع مقاله</a:t>
            </a: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6908" y="1028700"/>
            <a:ext cx="11555009" cy="4800600"/>
          </a:xfrm>
        </p:spPr>
        <p:txBody>
          <a:bodyPr>
            <a:normAutofit/>
          </a:bodyPr>
          <a:lstStyle/>
          <a:p>
            <a:pPr marL="0" indent="0" algn="r" rtl="1">
              <a:buNone/>
            </a:pPr>
            <a:r>
              <a:rPr lang="ar-SA" sz="2000" dirty="0">
                <a:latin typeface="B Nazanin" pitchFamily="2" charset="-78"/>
                <a:cs typeface="B Nazanin" pitchFamily="2" charset="-78"/>
              </a:rPr>
              <a:t>مقاله‌ها بسته به هدف و نوع پژوهش، شکل‌های گوناگونی دارند. بعضی از آن‌ها بر اساس تحقیقات جدید و داده‌های به‌روز نوشته می‌شوند و برخی دیگر بیشتر بر تحلیل و مرور مطالعات گذشته تمرکز دارند. از مهم‌ترین انواع مقاله می‌توان به مقاله </a:t>
            </a:r>
            <a:r>
              <a:rPr lang="ar-SA" sz="2000" dirty="0" err="1">
                <a:latin typeface="B Nazanin" pitchFamily="2" charset="-78"/>
                <a:cs typeface="B Nazanin" pitchFamily="2" charset="-78"/>
              </a:rPr>
              <a:t>پژوهشی</a:t>
            </a:r>
            <a:r>
              <a:rPr lang="ar-SA" sz="2000" dirty="0">
                <a:latin typeface="B Nazanin" pitchFamily="2" charset="-78"/>
                <a:cs typeface="B Nazanin" pitchFamily="2" charset="-78"/>
              </a:rPr>
              <a:t> </a:t>
            </a:r>
            <a:r>
              <a:rPr lang="en-US" sz="2000" dirty="0">
                <a:latin typeface="B Nazanin" pitchFamily="2" charset="-78"/>
                <a:cs typeface="B Nazanin" pitchFamily="2" charset="-78"/>
              </a:rPr>
              <a:t>(</a:t>
            </a:r>
            <a:r>
              <a:rPr lang="en-US" sz="1900" dirty="0">
                <a:latin typeface="Aptos" panose="020B0004020202020204" pitchFamily="34" charset="0"/>
                <a:cs typeface="Times New Roman" panose="02020603050405020304" pitchFamily="18" charset="0"/>
              </a:rPr>
              <a:t>Research Article</a:t>
            </a:r>
            <a:r>
              <a:rPr lang="en-US" sz="2000" dirty="0">
                <a:latin typeface="B Nazanin" pitchFamily="2" charset="-78"/>
                <a:cs typeface="B Nazanin" pitchFamily="2" charset="-78"/>
              </a:rPr>
              <a:t>)</a:t>
            </a:r>
            <a:r>
              <a:rPr lang="ar-SA" sz="2000" dirty="0">
                <a:latin typeface="B Nazanin" pitchFamily="2" charset="-78"/>
                <a:cs typeface="B Nazanin" pitchFamily="2" charset="-78"/>
              </a:rPr>
              <a:t>، مقاله</a:t>
            </a:r>
            <a:r>
              <a:rPr lang="fa-IR" sz="2000" dirty="0">
                <a:latin typeface="B Nazanin" pitchFamily="2" charset="-78"/>
                <a:cs typeface="B Nazanin" pitchFamily="2" charset="-78"/>
              </a:rPr>
              <a:t> </a:t>
            </a:r>
            <a:r>
              <a:rPr lang="ar-SA" sz="2000" dirty="0" err="1">
                <a:latin typeface="B Nazanin" pitchFamily="2" charset="-78"/>
                <a:cs typeface="B Nazanin" pitchFamily="2" charset="-78"/>
              </a:rPr>
              <a:t>مروری</a:t>
            </a:r>
            <a:r>
              <a:rPr lang="ar-SA" sz="2000" dirty="0">
                <a:latin typeface="B Nazanin" pitchFamily="2" charset="-78"/>
                <a:cs typeface="B Nazanin" pitchFamily="2" charset="-78"/>
              </a:rPr>
              <a:t> </a:t>
            </a:r>
            <a:r>
              <a:rPr lang="en-US" sz="2000" dirty="0">
                <a:latin typeface="B Nazanin" pitchFamily="2" charset="-78"/>
                <a:cs typeface="B Nazanin" pitchFamily="2" charset="-78"/>
              </a:rPr>
              <a:t>(</a:t>
            </a:r>
            <a:r>
              <a:rPr lang="en-US" sz="2000" dirty="0">
                <a:latin typeface="Aptos" panose="020B0004020202020204" pitchFamily="34" charset="0"/>
                <a:cs typeface="Times New Roman" panose="02020603050405020304" pitchFamily="18" charset="0"/>
              </a:rPr>
              <a:t>Review   Article</a:t>
            </a:r>
            <a:r>
              <a:rPr lang="en-US" sz="2000" dirty="0">
                <a:latin typeface="B Nazanin" pitchFamily="2" charset="-78"/>
                <a:cs typeface="B Nazanin" pitchFamily="2" charset="-78"/>
              </a:rPr>
              <a:t>)</a:t>
            </a:r>
            <a:r>
              <a:rPr lang="fa-IR" sz="2000" dirty="0">
                <a:latin typeface="B Nazanin" pitchFamily="2" charset="-78"/>
                <a:cs typeface="B Nazanin" pitchFamily="2" charset="-78"/>
              </a:rPr>
              <a:t>،</a:t>
            </a:r>
            <a:r>
              <a:rPr lang="ar-SA" sz="2000" dirty="0">
                <a:latin typeface="B Nazanin" pitchFamily="2" charset="-78"/>
                <a:cs typeface="B Nazanin" pitchFamily="2" charset="-78"/>
              </a:rPr>
              <a:t> مقاله </a:t>
            </a:r>
            <a:r>
              <a:rPr lang="ar-SA" sz="2000" dirty="0" err="1">
                <a:latin typeface="B Nazanin" pitchFamily="2" charset="-78"/>
                <a:cs typeface="B Nazanin" pitchFamily="2" charset="-78"/>
              </a:rPr>
              <a:t>علمی-ترویجی</a:t>
            </a:r>
            <a:r>
              <a:rPr lang="ar-SA" sz="2000" dirty="0">
                <a:latin typeface="B Nazanin" pitchFamily="2" charset="-78"/>
                <a:cs typeface="B Nazanin" pitchFamily="2" charset="-78"/>
              </a:rPr>
              <a:t> </a:t>
            </a:r>
            <a:r>
              <a:rPr lang="fa-IR" sz="2000" dirty="0">
                <a:latin typeface="B Nazanin" pitchFamily="2" charset="-78"/>
                <a:cs typeface="B Nazanin" pitchFamily="2" charset="-78"/>
              </a:rPr>
              <a:t>(</a:t>
            </a:r>
            <a:r>
              <a:rPr lang="en-US" sz="1900" dirty="0">
                <a:latin typeface="Aptos" panose="020B0004020202020204" pitchFamily="34" charset="0"/>
                <a:cs typeface="Times New Roman" panose="02020603050405020304" pitchFamily="18" charset="0"/>
              </a:rPr>
              <a:t>Scientific–Promotional Article</a:t>
            </a:r>
            <a:r>
              <a:rPr lang="fa-IR" sz="2000" dirty="0">
                <a:latin typeface="B Nazanin" pitchFamily="2" charset="-78"/>
                <a:cs typeface="B Nazanin" pitchFamily="2" charset="-78"/>
              </a:rPr>
              <a:t>)</a:t>
            </a:r>
            <a:r>
              <a:rPr lang="en-US" sz="2000" dirty="0">
                <a:latin typeface="B Nazanin" pitchFamily="2" charset="-78"/>
                <a:cs typeface="B Nazanin" pitchFamily="2" charset="-78"/>
              </a:rPr>
              <a:t>،</a:t>
            </a:r>
            <a:r>
              <a:rPr lang="fa-IR" sz="2000" dirty="0">
                <a:latin typeface="B Nazanin" pitchFamily="2" charset="-78"/>
                <a:cs typeface="B Nazanin" pitchFamily="2" charset="-78"/>
              </a:rPr>
              <a:t> مقاله </a:t>
            </a:r>
            <a:r>
              <a:rPr lang="fa-IR" sz="2000" dirty="0" err="1">
                <a:latin typeface="B Nazanin" pitchFamily="2" charset="-78"/>
                <a:cs typeface="B Nazanin" pitchFamily="2" charset="-78"/>
              </a:rPr>
              <a:t>ژورنالی</a:t>
            </a:r>
            <a:r>
              <a:rPr lang="fa-IR" sz="2000" dirty="0">
                <a:latin typeface="B Nazanin" pitchFamily="2" charset="-78"/>
                <a:cs typeface="B Nazanin" pitchFamily="2" charset="-78"/>
              </a:rPr>
              <a:t> (</a:t>
            </a:r>
            <a:r>
              <a:rPr lang="en-US" sz="1900" dirty="0">
                <a:latin typeface="Aptos" panose="020B0004020202020204" pitchFamily="34" charset="0"/>
                <a:cs typeface="Times New Roman" panose="02020603050405020304" pitchFamily="18" charset="0"/>
              </a:rPr>
              <a:t>Journal Article</a:t>
            </a:r>
            <a:r>
              <a:rPr lang="fa-IR" sz="2000" dirty="0">
                <a:latin typeface="B Nazanin" pitchFamily="2" charset="-78"/>
                <a:cs typeface="B Nazanin" pitchFamily="2" charset="-78"/>
              </a:rPr>
              <a:t>) </a:t>
            </a:r>
            <a:r>
              <a:rPr lang="ar-SA" sz="2000" dirty="0">
                <a:latin typeface="B Nazanin" pitchFamily="2" charset="-78"/>
                <a:cs typeface="B Nazanin" pitchFamily="2" charset="-78"/>
              </a:rPr>
              <a:t>و مقاله </a:t>
            </a:r>
            <a:r>
              <a:rPr lang="ar-SA" sz="2000" dirty="0" err="1">
                <a:latin typeface="B Nazanin" pitchFamily="2" charset="-78"/>
                <a:cs typeface="B Nazanin" pitchFamily="2" charset="-78"/>
              </a:rPr>
              <a:t>کنفرانسی</a:t>
            </a:r>
            <a:r>
              <a:rPr lang="en-US" sz="2000" dirty="0">
                <a:latin typeface="B Nazanin" pitchFamily="2" charset="-78"/>
                <a:cs typeface="B Nazanin" pitchFamily="2" charset="-78"/>
              </a:rPr>
              <a:t> </a:t>
            </a:r>
            <a:r>
              <a:rPr lang="fa-IR" sz="2000" dirty="0">
                <a:latin typeface="B Nazanin" pitchFamily="2" charset="-78"/>
                <a:cs typeface="B Nazanin" pitchFamily="2" charset="-78"/>
              </a:rPr>
              <a:t>   </a:t>
            </a:r>
            <a:r>
              <a:rPr lang="en-US" sz="2000" dirty="0">
                <a:latin typeface="B Nazanin" pitchFamily="2" charset="-78"/>
                <a:cs typeface="B Nazanin" pitchFamily="2" charset="-78"/>
              </a:rPr>
              <a:t>(</a:t>
            </a:r>
            <a:r>
              <a:rPr lang="en-US" sz="1900" dirty="0">
                <a:latin typeface="Aptos" panose="020B0004020202020204" pitchFamily="34" charset="0"/>
                <a:cs typeface="Times New Roman" panose="02020603050405020304" pitchFamily="18" charset="0"/>
              </a:rPr>
              <a:t>Conference Paper</a:t>
            </a:r>
            <a:r>
              <a:rPr lang="en-US" sz="2000" dirty="0">
                <a:latin typeface="B Nazanin" pitchFamily="2" charset="-78"/>
                <a:cs typeface="B Nazanin" pitchFamily="2" charset="-78"/>
              </a:rPr>
              <a:t>) </a:t>
            </a:r>
            <a:r>
              <a:rPr lang="ar-SA" sz="2000" dirty="0">
                <a:latin typeface="B Nazanin" pitchFamily="2" charset="-78"/>
                <a:cs typeface="B Nazanin" pitchFamily="2" charset="-78"/>
              </a:rPr>
              <a:t>اشاره کرد. هرکدام از این نوع مقاله‌ها نقش متفاوتی در پیشرفت دانش علمی دارند؛ یکی نتایج تازه را ارائه می‌دهد، دیگری دید کلی از پژوهش‌های پیشین می‌سازد و برخی نیز برای انتقال ساده‌تر مفاهیم علمی یا ارائه در همایش‌ها تهیه می‌شوند. در مجموع، همه‌ی این مقاله‌ها ابزاری برای گسترش علم و ارتباط میان پژوهشگران به شمار می</a:t>
            </a:r>
            <a:r>
              <a:rPr lang="en-US" sz="2000" dirty="0">
                <a:latin typeface="B Nazanin" pitchFamily="2" charset="-78"/>
                <a:cs typeface="B Nazanin" pitchFamily="2" charset="-78"/>
              </a:rPr>
              <a:t> </a:t>
            </a:r>
            <a:r>
              <a:rPr lang="ar-SA" sz="2000" dirty="0">
                <a:latin typeface="B Nazanin" pitchFamily="2" charset="-78"/>
                <a:cs typeface="B Nazanin" pitchFamily="2" charset="-78"/>
              </a:rPr>
              <a:t>آیند.</a:t>
            </a:r>
            <a:endParaRPr lang="en-US" sz="2000" dirty="0">
              <a:latin typeface="B Nazanin" pitchFamily="2" charset="-78"/>
              <a:cs typeface="B Nazanin" pitchFamily="2" charset="-78"/>
            </a:endParaRPr>
          </a:p>
        </p:txBody>
      </p:sp>
      <p:pic>
        <p:nvPicPr>
          <p:cNvPr id="6" name="Picture 5" descr="A close-up of a research paper&#10;&#10;AI-generated content may be incorrect.">
            <a:extLst>
              <a:ext uri="{FF2B5EF4-FFF2-40B4-BE49-F238E27FC236}">
                <a16:creationId xmlns:a16="http://schemas.microsoft.com/office/drawing/2014/main" id="{D8356AD5-0BCD-2413-36BA-32E5F70DA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6012" y="3422073"/>
            <a:ext cx="4495800" cy="2641954"/>
          </a:xfrm>
          <a:prstGeom prst="rect">
            <a:avLst/>
          </a:prstGeom>
        </p:spPr>
      </p:pic>
      <p:pic>
        <p:nvPicPr>
          <p:cNvPr id="5" name="Picture 4" descr="A white symbol with a black background">
            <a:extLst>
              <a:ext uri="{FF2B5EF4-FFF2-40B4-BE49-F238E27FC236}">
                <a16:creationId xmlns:a16="http://schemas.microsoft.com/office/drawing/2014/main" id="{EDDCC450-2AD8-42B7-630E-72E8430E2107}"/>
              </a:ext>
            </a:extLst>
          </p:cNvPr>
          <p:cNvPicPr>
            <a:picLocks noChangeAspect="1"/>
          </p:cNvPicPr>
          <p:nvPr/>
        </p:nvPicPr>
        <p:blipFill>
          <a:blip r:embed="rId3" cstate="print">
            <a:alphaModFix amt="12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71452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2812" y="1008707"/>
            <a:ext cx="10539703" cy="5181600"/>
          </a:xfrm>
        </p:spPr>
        <p:txBody>
          <a:bodyPr>
            <a:normAutofit/>
          </a:bodyPr>
          <a:lstStyle/>
          <a:p>
            <a:pPr algn="r" rtl="1"/>
            <a:r>
              <a:rPr lang="ar-SA" sz="2000" b="1" dirty="0">
                <a:cs typeface="B Nazanin" panose="00000400000000000000" pitchFamily="2" charset="-78"/>
              </a:rPr>
              <a:t>مقاله </a:t>
            </a:r>
            <a:r>
              <a:rPr lang="ar-SA" sz="2000" b="1" dirty="0" err="1">
                <a:cs typeface="B Nazanin" panose="00000400000000000000" pitchFamily="2" charset="-78"/>
              </a:rPr>
              <a:t>پژوهشی</a:t>
            </a:r>
            <a:r>
              <a:rPr lang="ar-SA" sz="2000" b="1" dirty="0">
                <a:cs typeface="B Nazanin" panose="00000400000000000000" pitchFamily="2" charset="-78"/>
              </a:rPr>
              <a:t> </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Research Article</a:t>
            </a:r>
            <a:r>
              <a:rPr lang="en-US" sz="2000" dirty="0">
                <a:latin typeface="Times New Roman" panose="02020603050405020304" pitchFamily="18" charset="0"/>
                <a:cs typeface="B Nazanin" panose="00000400000000000000" pitchFamily="2" charset="-78"/>
              </a:rPr>
              <a:t>)</a:t>
            </a:r>
            <a:r>
              <a:rPr lang="fa-IR" sz="2000" dirty="0">
                <a:cs typeface="B Nazanin" panose="00000400000000000000" pitchFamily="2" charset="-78"/>
              </a:rPr>
              <a:t>: </a:t>
            </a:r>
            <a:r>
              <a:rPr lang="ar-SA" sz="2000" dirty="0">
                <a:cs typeface="B Nazanin" panose="00000400000000000000" pitchFamily="2" charset="-78"/>
              </a:rPr>
              <a:t>مقاله پژوهشی یک سند علمی اصیل و ساختارمند است که توسط محققان نوشته می‌شود تا نتایج حاصل از تحقیقات جدید خود را در یک حوزه تخصصی به جامعه علمی ارائه دهند. این مقالات با هدف تولید دانش نو و گسترش مرزهای علمی، بر اساس یک روش‌شناسی دقیق نوشته شده و شامل بخش‌هایی استاندارد نظیر چکیده، مقدمه، مرور ادبیات، روش تحقیق، نتایج، و بحث هستند. انتشار این مقالات در مجلات معتبر علمی (ژورنال‌ها) به منزله اعتباربخشی به یافته‌ها بوده و برای استفاده و ارزیابی توسط دیگر پژوهشگران به کار می‌روند.</a:t>
            </a:r>
            <a:endParaRPr lang="fa-IR" sz="2000" dirty="0">
              <a:cs typeface="B Nazanin" panose="00000400000000000000" pitchFamily="2" charset="-78"/>
            </a:endParaRPr>
          </a:p>
          <a:p>
            <a:pPr algn="r" rtl="1"/>
            <a:endParaRPr lang="ar-SA" sz="2000" dirty="0">
              <a:cs typeface="B Nazanin" panose="00000400000000000000" pitchFamily="2" charset="-78"/>
            </a:endParaRPr>
          </a:p>
          <a:p>
            <a:pPr algn="r" rtl="1"/>
            <a:r>
              <a:rPr lang="ar-SA" sz="2000" b="1" dirty="0">
                <a:cs typeface="B Nazanin" panose="00000400000000000000" pitchFamily="2" charset="-78"/>
              </a:rPr>
              <a:t>مقاله </a:t>
            </a:r>
            <a:r>
              <a:rPr lang="ar-SA" sz="2000" b="1" dirty="0" err="1">
                <a:cs typeface="B Nazanin" panose="00000400000000000000" pitchFamily="2" charset="-78"/>
              </a:rPr>
              <a:t>مروری</a:t>
            </a:r>
            <a:r>
              <a:rPr lang="ar-SA" sz="2000" b="1" dirty="0">
                <a:cs typeface="B Nazanin" panose="00000400000000000000" pitchFamily="2" charset="-78"/>
              </a:rPr>
              <a:t> </a:t>
            </a:r>
            <a:r>
              <a:rPr lang="fa-IR" sz="2000" dirty="0">
                <a:latin typeface="Times New Roman" panose="02020603050405020304" pitchFamily="18" charset="0"/>
                <a:cs typeface="B Nazanin" panose="00000400000000000000" pitchFamily="2" charset="-78"/>
              </a:rPr>
              <a:t>(</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Review Article</a:t>
            </a:r>
            <a:r>
              <a:rPr lang="fa-IR" sz="2000" dirty="0">
                <a:cs typeface="B Nazanin" panose="00000400000000000000" pitchFamily="2" charset="-78"/>
              </a:rPr>
              <a:t>: </a:t>
            </a:r>
            <a:r>
              <a:rPr lang="ar-SA" sz="2000" dirty="0">
                <a:cs typeface="B Nazanin" panose="00000400000000000000" pitchFamily="2" charset="-78"/>
              </a:rPr>
              <a:t>مقاله مروری نوعی نوشتار علمی ساختارمند است که برخلاف مقاله پژوهشی، داده یا یافته تجربی جدیدی ارائه نمی‌دهد، بلکه هدف آن جم</a:t>
            </a:r>
            <a:r>
              <a:rPr lang="fa-IR" sz="2000" dirty="0">
                <a:cs typeface="B Nazanin" panose="00000400000000000000" pitchFamily="2" charset="-78"/>
              </a:rPr>
              <a:t>ع</a:t>
            </a:r>
            <a:r>
              <a:rPr lang="ar-SA" sz="2000" dirty="0">
                <a:cs typeface="B Nazanin" panose="00000400000000000000" pitchFamily="2" charset="-78"/>
              </a:rPr>
              <a:t>بندی، تحلیل انتقادی و ارزیابی سیستماتیک</a:t>
            </a:r>
            <a:r>
              <a:rPr lang="fa-IR" sz="2000" dirty="0">
                <a:cs typeface="B Nazanin" panose="00000400000000000000" pitchFamily="2" charset="-78"/>
              </a:rPr>
              <a:t> </a:t>
            </a:r>
            <a:r>
              <a:rPr lang="ar-SA" sz="2000" dirty="0">
                <a:cs typeface="B Nazanin" panose="00000400000000000000" pitchFamily="2" charset="-78"/>
              </a:rPr>
              <a:t>تمام تحقیقات منتشر شده قبلی در مورد یک موضوع یا مسئله خاص است. نویسنده با مرور جامع منابع، روندهای کلیدی، تناقضات در یافته‌ها و خلأهای پژوهشی موجود را شناسایی کرده و یک تصویر کلی، منسجم و تحلیلی از وضعیت فعلی دانش در آن زمینه ارائه می‌دهد. این مقالات ابزار مهمی برای راهنمایی پژوهشگران جهت تعریف تحقیقات آتی و رسیدن سریع خوانندگان به درک جامعی از موضوع هستند.</a:t>
            </a:r>
          </a:p>
          <a:p>
            <a:pPr algn="r" rtl="1"/>
            <a:endParaRPr lang="en-US" sz="2000" dirty="0">
              <a:cs typeface="B Nazanin" panose="00000400000000000000" pitchFamily="2" charset="-78"/>
            </a:endParaRPr>
          </a:p>
        </p:txBody>
      </p:sp>
      <p:pic>
        <p:nvPicPr>
          <p:cNvPr id="2" name="Picture 1" descr="A white symbol with a black background">
            <a:extLst>
              <a:ext uri="{FF2B5EF4-FFF2-40B4-BE49-F238E27FC236}">
                <a16:creationId xmlns:a16="http://schemas.microsoft.com/office/drawing/2014/main" id="{97704EA7-7FB9-027F-2525-38C6F4129803}"/>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400361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9122" y="990600"/>
            <a:ext cx="10253089" cy="5181600"/>
          </a:xfrm>
        </p:spPr>
        <p:txBody>
          <a:bodyPr>
            <a:noAutofit/>
          </a:bodyPr>
          <a:lstStyle/>
          <a:p>
            <a:pPr algn="r" rtl="1"/>
            <a:r>
              <a:rPr lang="ar-SA" sz="2000" b="1" dirty="0">
                <a:latin typeface="B Mitra"/>
                <a:cs typeface="B Nazanin" panose="00000400000000000000" pitchFamily="2" charset="-78"/>
              </a:rPr>
              <a:t>مقاله علمی–</a:t>
            </a:r>
            <a:r>
              <a:rPr lang="ar-SA" sz="2000" b="1" dirty="0" err="1">
                <a:latin typeface="B Mitra"/>
                <a:cs typeface="B Nazanin" panose="00000400000000000000" pitchFamily="2" charset="-78"/>
              </a:rPr>
              <a:t>ترویجی</a:t>
            </a:r>
            <a:r>
              <a:rPr lang="ar-SA" sz="2000" b="1" dirty="0">
                <a:latin typeface="B Mitra"/>
                <a:cs typeface="B Nazanin" panose="00000400000000000000" pitchFamily="2" charset="-78"/>
              </a:rPr>
              <a:t> </a:t>
            </a:r>
            <a:r>
              <a:rPr lang="fa-IR" sz="2000" dirty="0">
                <a:latin typeface="B Mitra"/>
                <a:cs typeface="B Nazanin" panose="00000400000000000000" pitchFamily="2" charset="-78"/>
              </a:rPr>
              <a:t>(</a:t>
            </a:r>
            <a:r>
              <a:rPr lang="en-US" sz="1900" dirty="0">
                <a:latin typeface="Aptos" panose="020B0004020202020204" pitchFamily="34" charset="0"/>
                <a:cs typeface="B Nazanin" panose="00000400000000000000" pitchFamily="2" charset="-78"/>
              </a:rPr>
              <a:t>Scientific–Promotional Article</a:t>
            </a:r>
            <a:r>
              <a:rPr lang="fa-IR" sz="2000" dirty="0">
                <a:latin typeface="B Mitra"/>
                <a:cs typeface="B Nazanin" panose="00000400000000000000" pitchFamily="2" charset="-78"/>
              </a:rPr>
              <a:t>): </a:t>
            </a:r>
            <a:r>
              <a:rPr lang="ar-SA" sz="2000" dirty="0">
                <a:latin typeface="B Mitra"/>
                <a:cs typeface="B Nazanin" panose="00000400000000000000" pitchFamily="2" charset="-78"/>
              </a:rPr>
              <a:t>مقاله علمی ترویجی، نوعی نوشتار علمی است که هدف اصلی آن ترویج و ساده‌</a:t>
            </a:r>
            <a:r>
              <a:rPr lang="en-US" sz="2000" dirty="0">
                <a:latin typeface="B Mitra"/>
                <a:cs typeface="B Nazanin" panose="00000400000000000000" pitchFamily="2" charset="-78"/>
              </a:rPr>
              <a:t> </a:t>
            </a:r>
            <a:r>
              <a:rPr lang="ar-SA" sz="2000" dirty="0">
                <a:latin typeface="B Mitra"/>
                <a:cs typeface="B Nazanin" panose="00000400000000000000" pitchFamily="2" charset="-78"/>
              </a:rPr>
              <a:t>سازی مفاهیم، نظریه‌</a:t>
            </a:r>
            <a:r>
              <a:rPr lang="fa-IR" sz="2000" dirty="0">
                <a:latin typeface="B Mitra"/>
                <a:cs typeface="B Nazanin" panose="00000400000000000000" pitchFamily="2" charset="-78"/>
              </a:rPr>
              <a:t> </a:t>
            </a:r>
            <a:r>
              <a:rPr lang="ar-SA" sz="2000" dirty="0">
                <a:latin typeface="B Mitra"/>
                <a:cs typeface="B Nazanin" panose="00000400000000000000" pitchFamily="2" charset="-78"/>
              </a:rPr>
              <a:t>ها و یافته‌</a:t>
            </a:r>
            <a:r>
              <a:rPr lang="fa-IR" sz="2000" dirty="0">
                <a:latin typeface="B Mitra"/>
                <a:cs typeface="B Nazanin" panose="00000400000000000000" pitchFamily="2" charset="-78"/>
              </a:rPr>
              <a:t> </a:t>
            </a:r>
            <a:r>
              <a:rPr lang="ar-SA" sz="2000" dirty="0">
                <a:latin typeface="B Mitra"/>
                <a:cs typeface="B Nazanin" panose="00000400000000000000" pitchFamily="2" charset="-78"/>
              </a:rPr>
              <a:t>های علمی پیچیده برای مخاطبان عمومی و غیر</a:t>
            </a:r>
            <a:r>
              <a:rPr lang="en-US" sz="2000" dirty="0">
                <a:latin typeface="B Mitra"/>
                <a:cs typeface="B Nazanin" panose="00000400000000000000" pitchFamily="2" charset="-78"/>
              </a:rPr>
              <a:t> </a:t>
            </a:r>
            <a:r>
              <a:rPr lang="ar-SA" sz="2000" dirty="0">
                <a:latin typeface="B Mitra"/>
                <a:cs typeface="B Nazanin" panose="00000400000000000000" pitchFamily="2" charset="-78"/>
              </a:rPr>
              <a:t>تخصصی است. این مقالات بر خلاف مقالات پژوهشی، بر روش‌شناسی دقیق یا ارائه داده‌های خام تمرکز ندارند، بلکه نتایج تحقیقات علمی را به زبانی شیوا، جذاب و قابل فهم تبدیل م</a:t>
            </a:r>
            <a:r>
              <a:rPr lang="fa-IR" sz="2000" dirty="0">
                <a:latin typeface="B Mitra"/>
                <a:cs typeface="B Nazanin" panose="00000400000000000000" pitchFamily="2" charset="-78"/>
              </a:rPr>
              <a:t>ی</a:t>
            </a:r>
            <a:r>
              <a:rPr lang="ar-SA" sz="2000" dirty="0">
                <a:latin typeface="B Mitra"/>
                <a:cs typeface="B Nazanin" panose="00000400000000000000" pitchFamily="2" charset="-78"/>
              </a:rPr>
              <a:t>کنند تا آگاهی عمومی نسبت به علم، فناوری و دستاوردهای جدید را افزایش دهند. این نوع مقاله معمولاً در روزنامه‌ها، مجلات عمومی، وب‌سایت‌های علمی محبوب و با هدف ایجاد انگیزه و علاقمندی به علم در جامعه منتشر می‌شود.</a:t>
            </a:r>
            <a:endParaRPr lang="fa-IR" sz="2000" dirty="0">
              <a:latin typeface="B Mitra"/>
              <a:cs typeface="B Nazanin" panose="00000400000000000000" pitchFamily="2" charset="-78"/>
            </a:endParaRPr>
          </a:p>
          <a:p>
            <a:pPr marL="0" indent="0" algn="r" rtl="1">
              <a:buNone/>
            </a:pPr>
            <a:endParaRPr lang="fa-IR" sz="2000" dirty="0">
              <a:cs typeface="B Nazanin" panose="00000400000000000000" pitchFamily="2" charset="-78"/>
            </a:endParaRPr>
          </a:p>
          <a:p>
            <a:pPr algn="r" rtl="1"/>
            <a:r>
              <a:rPr lang="fa-IR" sz="2000" dirty="0">
                <a:cs typeface="B Nazanin" panose="00000400000000000000" pitchFamily="2" charset="-78"/>
              </a:rPr>
              <a:t> </a:t>
            </a:r>
            <a:r>
              <a:rPr lang="fa-IR" sz="2000" b="1" dirty="0">
                <a:cs typeface="B Nazanin" panose="00000400000000000000" pitchFamily="2" charset="-78"/>
              </a:rPr>
              <a:t>مقاله </a:t>
            </a:r>
            <a:r>
              <a:rPr lang="en-US" sz="1900" b="1" dirty="0">
                <a:latin typeface="Aptos" panose="020B0004020202020204" pitchFamily="34" charset="0"/>
                <a:cs typeface="B Nazanin" panose="00000400000000000000" pitchFamily="2" charset="-78"/>
              </a:rPr>
              <a:t>ISI</a:t>
            </a:r>
            <a:r>
              <a:rPr lang="fa-IR" sz="2000" dirty="0">
                <a:cs typeface="B Nazanin" panose="00000400000000000000" pitchFamily="2" charset="-78"/>
              </a:rPr>
              <a:t>: </a:t>
            </a:r>
            <a:r>
              <a:rPr lang="ar-SA" sz="2000" dirty="0">
                <a:cs typeface="B Nazanin" panose="00000400000000000000" pitchFamily="2" charset="-78"/>
              </a:rPr>
              <a:t>اصطلاح مقاله</a:t>
            </a:r>
            <a:r>
              <a:rPr lang="en-US" sz="1900" dirty="0">
                <a:latin typeface="Aptos" panose="020B0004020202020204" pitchFamily="34" charset="0"/>
                <a:cs typeface="B Nazanin" panose="00000400000000000000" pitchFamily="2" charset="-78"/>
              </a:rPr>
              <a:t>ISI</a:t>
            </a:r>
            <a:r>
              <a:rPr lang="en-US" sz="2000" dirty="0">
                <a:cs typeface="B Nazanin" panose="00000400000000000000" pitchFamily="2" charset="-78"/>
              </a:rPr>
              <a:t> </a:t>
            </a:r>
            <a:r>
              <a:rPr lang="fa-IR" sz="2000" dirty="0">
                <a:cs typeface="B Nazanin" panose="00000400000000000000" pitchFamily="2" charset="-78"/>
              </a:rPr>
              <a:t> </a:t>
            </a:r>
            <a:r>
              <a:rPr lang="ar-SA" sz="2000" dirty="0">
                <a:cs typeface="B Nazanin" panose="00000400000000000000" pitchFamily="2" charset="-78"/>
              </a:rPr>
              <a:t>به مقاله</a:t>
            </a:r>
            <a:r>
              <a:rPr lang="fa-IR" sz="2000" dirty="0">
                <a:cs typeface="B Nazanin" panose="00000400000000000000" pitchFamily="2" charset="-78"/>
              </a:rPr>
              <a:t> </a:t>
            </a:r>
            <a:r>
              <a:rPr lang="ar-SA" sz="2000" dirty="0">
                <a:cs typeface="B Nazanin" panose="00000400000000000000" pitchFamily="2" charset="-78"/>
              </a:rPr>
              <a:t>‌ای اطلاق می‌شود که در یکی از مجله‌های علمی-پژوهشی بین‌المللی منتشر شده باشد که توسط مؤسسه</a:t>
            </a:r>
            <a:r>
              <a:rPr lang="en-US" sz="1900" dirty="0">
                <a:latin typeface="Aptos" panose="020B0004020202020204" pitchFamily="34" charset="0"/>
                <a:cs typeface="B Nazanin" panose="00000400000000000000" pitchFamily="2" charset="-78"/>
              </a:rPr>
              <a:t>Institute for Scientific Information (ISI) </a:t>
            </a:r>
            <a:r>
              <a:rPr lang="ar-SA" sz="1900" dirty="0">
                <a:latin typeface="Aptos" panose="020B0004020202020204" pitchFamily="34" charset="0"/>
                <a:cs typeface="B Nazanin" panose="00000400000000000000" pitchFamily="2" charset="-78"/>
              </a:rPr>
              <a:t> </a:t>
            </a:r>
            <a:r>
              <a:rPr lang="ar-SA" sz="2000" dirty="0" err="1">
                <a:cs typeface="B Nazanin" panose="00000400000000000000" pitchFamily="2" charset="-78"/>
              </a:rPr>
              <a:t>که</a:t>
            </a:r>
            <a:r>
              <a:rPr lang="ar-SA" sz="2000" dirty="0">
                <a:cs typeface="B Nazanin" panose="00000400000000000000" pitchFamily="2" charset="-78"/>
              </a:rPr>
              <a:t> اکنون بخشی از شرکت کلاریویت آنالیتیکس </a:t>
            </a:r>
            <a:r>
              <a:rPr lang="ar-SA"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Clarivate Analytics</a:t>
            </a:r>
            <a:r>
              <a:rPr lang="fa-IR" sz="2000" dirty="0">
                <a:cs typeface="B Nazanin" panose="00000400000000000000" pitchFamily="2" charset="-78"/>
              </a:rPr>
              <a:t>) ا</a:t>
            </a:r>
            <a:r>
              <a:rPr lang="ar-SA" sz="2000" dirty="0">
                <a:cs typeface="B Nazanin" panose="00000400000000000000" pitchFamily="2" charset="-78"/>
              </a:rPr>
              <a:t>ست و </a:t>
            </a:r>
            <a:r>
              <a:rPr lang="ar-SA" sz="2000" dirty="0" err="1">
                <a:cs typeface="B Nazanin" panose="00000400000000000000" pitchFamily="2" charset="-78"/>
              </a:rPr>
              <a:t>پایگاه</a:t>
            </a:r>
            <a:r>
              <a:rPr lang="ar-SA" sz="2000" dirty="0">
                <a:cs typeface="B Nazanin" panose="00000400000000000000" pitchFamily="2" charset="-78"/>
              </a:rPr>
              <a:t> داده</a:t>
            </a:r>
            <a:r>
              <a:rPr lang="en-US" sz="1900" dirty="0">
                <a:latin typeface="Aptos" panose="020B0004020202020204" pitchFamily="34" charset="0"/>
                <a:cs typeface="B Nazanin" panose="00000400000000000000" pitchFamily="2" charset="-78"/>
              </a:rPr>
              <a:t>Web of Science (</a:t>
            </a:r>
            <a:r>
              <a:rPr lang="en-US" sz="1900" dirty="0" err="1">
                <a:latin typeface="Aptos" panose="020B0004020202020204" pitchFamily="34" charset="0"/>
                <a:cs typeface="B Nazanin" panose="00000400000000000000" pitchFamily="2" charset="-78"/>
              </a:rPr>
              <a:t>WoS</a:t>
            </a:r>
            <a:r>
              <a:rPr lang="en-US" sz="2000" dirty="0">
                <a:latin typeface="Times New Roman" panose="02020603050405020304" pitchFamily="18" charset="0"/>
                <a:cs typeface="B Nazanin" panose="00000400000000000000" pitchFamily="2" charset="-78"/>
              </a:rPr>
              <a:t>) </a:t>
            </a:r>
            <a:r>
              <a:rPr lang="ar-SA" sz="2000" dirty="0">
                <a:latin typeface="Times New Roman" panose="02020603050405020304" pitchFamily="18" charset="0"/>
                <a:cs typeface="B Nazanin" panose="00000400000000000000" pitchFamily="2" charset="-78"/>
              </a:rPr>
              <a:t> ر</a:t>
            </a:r>
            <a:r>
              <a:rPr lang="ar-SA" sz="2000" dirty="0">
                <a:cs typeface="B Nazanin" panose="00000400000000000000" pitchFamily="2" charset="-78"/>
              </a:rPr>
              <a:t>ا مدیریت می‌کند، نمایه‌سازی</a:t>
            </a:r>
            <a:r>
              <a:rPr lang="en-US" sz="2000" dirty="0">
                <a:cs typeface="B Nazanin" panose="00000400000000000000" pitchFamily="2" charset="-78"/>
              </a:rPr>
              <a:t> </a:t>
            </a:r>
            <a:r>
              <a:rPr lang="en-US" sz="2000" dirty="0">
                <a:latin typeface="Times New Roman" panose="02020603050405020304" pitchFamily="18" charset="0"/>
                <a:cs typeface="B Nazanin" panose="00000400000000000000" pitchFamily="2" charset="-78"/>
              </a:rPr>
              <a:t>(</a:t>
            </a:r>
            <a:r>
              <a:rPr lang="en-US" sz="1900" dirty="0" err="1">
                <a:latin typeface="Aptos" panose="020B0004020202020204" pitchFamily="34" charset="0"/>
                <a:cs typeface="B Nazanin" panose="00000400000000000000" pitchFamily="2" charset="-78"/>
              </a:rPr>
              <a:t>ndexed</a:t>
            </a:r>
            <a:r>
              <a:rPr lang="en-US" sz="2000" dirty="0">
                <a:latin typeface="Times New Roman" panose="02020603050405020304" pitchFamily="18" charset="0"/>
                <a:cs typeface="B Nazanin" panose="00000400000000000000" pitchFamily="2" charset="-78"/>
              </a:rPr>
              <a:t>)</a:t>
            </a:r>
            <a:r>
              <a:rPr lang="ar-SA" sz="2000" dirty="0">
                <a:cs typeface="B Nazanin" panose="00000400000000000000" pitchFamily="2" charset="-78"/>
              </a:rPr>
              <a:t>شده باشد. این مقالات، که غالباً از نوع پژوهشی</a:t>
            </a:r>
            <a:r>
              <a:rPr lang="en-US" sz="2000" dirty="0">
                <a:cs typeface="B Nazanin" panose="00000400000000000000" pitchFamily="2" charset="-78"/>
              </a:rPr>
              <a:t> </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Research Paper</a:t>
            </a:r>
            <a:r>
              <a:rPr lang="en-US" sz="2000" dirty="0">
                <a:latin typeface="Times New Roman" panose="02020603050405020304" pitchFamily="18" charset="0"/>
                <a:cs typeface="B Nazanin" panose="00000400000000000000" pitchFamily="2" charset="-78"/>
              </a:rPr>
              <a:t>)</a:t>
            </a:r>
            <a:r>
              <a:rPr lang="ar-SA" sz="2000" dirty="0">
                <a:cs typeface="B Nazanin" panose="00000400000000000000" pitchFamily="2" charset="-78"/>
              </a:rPr>
              <a:t>هستند، به دلیل عبور از فرآیند داوری بسیار سخت‌گیرانه</a:t>
            </a:r>
            <a:r>
              <a:rPr lang="en-US" sz="2000" dirty="0">
                <a:cs typeface="B Nazanin" panose="00000400000000000000" pitchFamily="2" charset="-78"/>
              </a:rPr>
              <a:t> </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Peer Review</a:t>
            </a:r>
            <a:r>
              <a:rPr lang="en-US" sz="2000" dirty="0">
                <a:latin typeface="Times New Roman" panose="02020603050405020304" pitchFamily="18" charset="0"/>
                <a:cs typeface="B Nazanin" panose="00000400000000000000" pitchFamily="2" charset="-78"/>
              </a:rPr>
              <a:t>)</a:t>
            </a:r>
            <a:r>
              <a:rPr lang="ar-SA" sz="2000" dirty="0">
                <a:cs typeface="B Nazanin" panose="00000400000000000000" pitchFamily="2" charset="-78"/>
              </a:rPr>
              <a:t> و رعایت استانداردهای بالای علمی و اخلاقی، از اعتبار و نفوذ علمی بالایی در سطح جهانی برخوردارند و داشتن آن‌ها در رزومه برای محققان و دانشگاهیان یک معیار کلیدی برای ارزیابی کیفیت کار علمی، ارتقای رتبه و دریافت بودجه تحقیقاتی محسوب می‌شود.</a:t>
            </a:r>
            <a:endParaRPr lang="en-US" sz="2000" dirty="0">
              <a:cs typeface="B Nazanin" panose="00000400000000000000" pitchFamily="2" charset="-78"/>
            </a:endParaRPr>
          </a:p>
        </p:txBody>
      </p:sp>
      <p:pic>
        <p:nvPicPr>
          <p:cNvPr id="2" name="Picture 1" descr="A white symbol with a black background">
            <a:extLst>
              <a:ext uri="{FF2B5EF4-FFF2-40B4-BE49-F238E27FC236}">
                <a16:creationId xmlns:a16="http://schemas.microsoft.com/office/drawing/2014/main" id="{438C9C46-C336-5E3B-2BD4-83B30D19AAE4}"/>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3697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5734" y="982302"/>
            <a:ext cx="10260277" cy="5274398"/>
          </a:xfrm>
        </p:spPr>
        <p:txBody>
          <a:bodyPr>
            <a:noAutofit/>
          </a:bodyPr>
          <a:lstStyle/>
          <a:p>
            <a:pPr algn="r" rtl="1"/>
            <a:r>
              <a:rPr lang="ar-SA" sz="2000" b="1" dirty="0">
                <a:cs typeface="B Nazanin" panose="00000400000000000000" pitchFamily="2" charset="-78"/>
              </a:rPr>
              <a:t>مقاله ژورنالی</a:t>
            </a:r>
            <a:r>
              <a:rPr lang="en-US" sz="1900" dirty="0">
                <a:latin typeface="Aptos" panose="020B0004020202020204" pitchFamily="34" charset="0"/>
                <a:cs typeface="Times New Roman" panose="02020603050405020304" pitchFamily="18" charset="0"/>
              </a:rPr>
              <a:t>Journal Article</a:t>
            </a:r>
            <a:r>
              <a:rPr lang="en-US" sz="1800" dirty="0">
                <a:latin typeface="Aptos" panose="020B0004020202020204" pitchFamily="34" charset="0"/>
                <a:cs typeface="Times New Roman" panose="02020603050405020304" pitchFamily="18" charset="0"/>
              </a:rPr>
              <a:t>)</a:t>
            </a:r>
            <a:r>
              <a:rPr lang="fa-IR" sz="1800" dirty="0">
                <a:latin typeface="Aptos" panose="020B0004020202020204" pitchFamily="34" charset="0"/>
                <a:cs typeface="Times New Roman" panose="02020603050405020304" pitchFamily="18" charset="0"/>
              </a:rPr>
              <a:t>): </a:t>
            </a:r>
            <a:r>
              <a:rPr lang="en-US" sz="1800" dirty="0">
                <a:latin typeface="Aptos" panose="020B0004020202020204" pitchFamily="34" charset="0"/>
                <a:cs typeface="Times New Roman" panose="02020603050405020304" pitchFamily="18" charset="0"/>
              </a:rPr>
              <a:t> </a:t>
            </a:r>
            <a:r>
              <a:rPr lang="ar-SA" sz="2000" dirty="0">
                <a:cs typeface="B Nazanin" panose="00000400000000000000" pitchFamily="2" charset="-78"/>
              </a:rPr>
              <a:t>اصطلاح مقاله ژورنالی یک عنوان کلی است که به هرگونه نوشتار علمی تخصصی و رسمی اطلاق می‌شود که در یک نشریه </a:t>
            </a:r>
            <a:r>
              <a:rPr lang="ar-SA" sz="2000" dirty="0" err="1">
                <a:cs typeface="B Nazanin" panose="00000400000000000000" pitchFamily="2" charset="-78"/>
              </a:rPr>
              <a:t>دوره‌ای</a:t>
            </a:r>
            <a:r>
              <a:rPr lang="ar-SA" sz="2000" dirty="0">
                <a:cs typeface="B Nazanin" panose="00000400000000000000" pitchFamily="2" charset="-78"/>
              </a:rPr>
              <a:t> </a:t>
            </a:r>
            <a:r>
              <a:rPr lang="ar-SA" sz="2000" dirty="0" err="1">
                <a:cs typeface="B Nazanin" panose="00000400000000000000" pitchFamily="2" charset="-78"/>
              </a:rPr>
              <a:t>علمی</a:t>
            </a:r>
            <a:r>
              <a:rPr lang="en-US" sz="2000" dirty="0">
                <a:cs typeface="B Nazanin" panose="00000400000000000000" pitchFamily="2" charset="-78"/>
              </a:rPr>
              <a:t> </a:t>
            </a:r>
            <a:r>
              <a:rPr lang="ar-SA" sz="2000" dirty="0">
                <a:cs typeface="B Nazanin" panose="00000400000000000000" pitchFamily="2" charset="-78"/>
              </a:rPr>
              <a:t>منتشر شده باشد. ویژگی متمایز این مقالات این است که پیش از انتشار، فرآیند داوری همتا </a:t>
            </a:r>
            <a:r>
              <a:rPr lang="en-US" sz="2000" dirty="0">
                <a:cs typeface="B Nazanin" panose="00000400000000000000" pitchFamily="2" charset="-78"/>
              </a:rPr>
              <a:t>(</a:t>
            </a:r>
            <a:r>
              <a:rPr lang="en-US" sz="1900" dirty="0">
                <a:latin typeface="Aptos" panose="020B0004020202020204" pitchFamily="34" charset="0"/>
                <a:cs typeface="B Nazanin" panose="00000400000000000000" pitchFamily="2" charset="-78"/>
              </a:rPr>
              <a:t>Peer Review</a:t>
            </a:r>
            <a:r>
              <a:rPr lang="en-US" sz="2000" dirty="0">
                <a:cs typeface="B Nazanin" panose="00000400000000000000" pitchFamily="2" charset="-78"/>
              </a:rPr>
              <a:t>)</a:t>
            </a:r>
            <a:r>
              <a:rPr lang="ar-SA" sz="2000" dirty="0">
                <a:cs typeface="B Nazanin" panose="00000400000000000000" pitchFamily="2" charset="-78"/>
              </a:rPr>
              <a:t> </a:t>
            </a:r>
            <a:r>
              <a:rPr lang="ar-SA" sz="2000" dirty="0" err="1">
                <a:cs typeface="B Nazanin" panose="00000400000000000000" pitchFamily="2" charset="-78"/>
              </a:rPr>
              <a:t>سخت‌گیرانه</a:t>
            </a:r>
            <a:r>
              <a:rPr lang="ar-SA" sz="2000" dirty="0">
                <a:cs typeface="B Nazanin" panose="00000400000000000000" pitchFamily="2" charset="-78"/>
              </a:rPr>
              <a:t> و تخصصی را طی می‌کنند تا از اعتبار، صحت، و نوآوری علمی محتوای آن‌ها اطمینان حاصل شود. مقاله ژورنالی می‌تواند از نوع پژوهشی که یافته‌های جدیدی را ارائه می‌دهد، یا از نوع مرور</a:t>
            </a:r>
            <a:r>
              <a:rPr lang="fa-IR" sz="2000" dirty="0">
                <a:cs typeface="B Nazanin" panose="00000400000000000000" pitchFamily="2" charset="-78"/>
              </a:rPr>
              <a:t>ی</a:t>
            </a:r>
            <a:r>
              <a:rPr lang="en-US" sz="2000" dirty="0">
                <a:cs typeface="B Nazanin" panose="00000400000000000000" pitchFamily="2" charset="-78"/>
              </a:rPr>
              <a:t> (</a:t>
            </a:r>
            <a:r>
              <a:rPr lang="en-US" sz="1900" dirty="0">
                <a:latin typeface="Aptos" panose="020B0004020202020204" pitchFamily="34" charset="0"/>
                <a:cs typeface="B Nazanin" panose="00000400000000000000" pitchFamily="2" charset="-78"/>
              </a:rPr>
              <a:t>Review</a:t>
            </a:r>
            <a:r>
              <a:rPr lang="en-US" sz="2000" dirty="0">
                <a:cs typeface="B Nazanin" panose="00000400000000000000" pitchFamily="2" charset="-78"/>
              </a:rPr>
              <a:t>)</a:t>
            </a:r>
            <a:r>
              <a:rPr lang="fa-IR" sz="2000" dirty="0">
                <a:cs typeface="B Nazanin" panose="00000400000000000000" pitchFamily="2" charset="-78"/>
              </a:rPr>
              <a:t> ب</a:t>
            </a:r>
            <a:r>
              <a:rPr lang="ar-SA" sz="2000" dirty="0">
                <a:cs typeface="B Nazanin" panose="00000400000000000000" pitchFamily="2" charset="-78"/>
              </a:rPr>
              <a:t>اشد و هدف نهایی آن افزودن به مجموعه دانش رسمی در یک رشته تخصصی و ارائه یک سند ماندگار و قابل استناد برای جامعه دانشگاهی است.</a:t>
            </a:r>
            <a:r>
              <a:rPr lang="fa-IR" sz="2000" dirty="0">
                <a:cs typeface="B Nazanin" panose="00000400000000000000" pitchFamily="2" charset="-78"/>
              </a:rPr>
              <a:t> </a:t>
            </a:r>
          </a:p>
          <a:p>
            <a:pPr algn="r" rtl="1"/>
            <a:endParaRPr lang="fa-IR" sz="2000" dirty="0">
              <a:cs typeface="B Nazanin" panose="00000400000000000000" pitchFamily="2" charset="-78"/>
            </a:endParaRPr>
          </a:p>
          <a:p>
            <a:pPr algn="r" rtl="1"/>
            <a:r>
              <a:rPr lang="ar-SA" sz="2000" b="1" dirty="0">
                <a:cs typeface="B Nazanin" panose="00000400000000000000" pitchFamily="2" charset="-78"/>
              </a:rPr>
              <a:t>مقاله کنفرانسی</a:t>
            </a:r>
            <a:r>
              <a:rPr lang="en-US" sz="2000" b="1" dirty="0">
                <a:cs typeface="B Nazanin" panose="00000400000000000000" pitchFamily="2" charset="-78"/>
              </a:rPr>
              <a:t> </a:t>
            </a:r>
            <a:r>
              <a:rPr lang="en-US" sz="2000" dirty="0">
                <a:cs typeface="B Nazanin" panose="00000400000000000000" pitchFamily="2" charset="-78"/>
              </a:rPr>
              <a:t>(</a:t>
            </a:r>
            <a:r>
              <a:rPr lang="en-US" sz="1900" dirty="0">
                <a:latin typeface="Aptos" panose="020B0004020202020204" pitchFamily="34" charset="0"/>
                <a:cs typeface="B Nazanin" panose="00000400000000000000" pitchFamily="2" charset="-78"/>
              </a:rPr>
              <a:t>Conference Paper</a:t>
            </a:r>
            <a:r>
              <a:rPr lang="en-US" sz="2000" dirty="0">
                <a:cs typeface="B Nazanin" panose="00000400000000000000" pitchFamily="2" charset="-78"/>
              </a:rPr>
              <a:t>)</a:t>
            </a:r>
            <a:r>
              <a:rPr lang="fa-IR" sz="2000" dirty="0">
                <a:cs typeface="B Nazanin" panose="00000400000000000000" pitchFamily="2" charset="-78"/>
              </a:rPr>
              <a:t>: </a:t>
            </a:r>
            <a:r>
              <a:rPr lang="ar-SA" sz="2000" dirty="0">
                <a:cs typeface="B Nazanin" panose="00000400000000000000" pitchFamily="2" charset="-78"/>
              </a:rPr>
              <a:t>مقاله کنفرانسی نوعی سند علمی فشرده و خلاصه‌تر است که برای ارائه نتایج تحقیقات مقدماتی، در حال انجام، یا متمرکز در یک همایش (کنفرانس، سمپوزیوم یا کارگاه تخصصی) تهیه می‌شود. هدف اصلی این مقالات، تبادل سریع یافته</a:t>
            </a:r>
            <a:r>
              <a:rPr lang="fa-IR" sz="2000" dirty="0">
                <a:cs typeface="B Nazanin" panose="00000400000000000000" pitchFamily="2" charset="-78"/>
              </a:rPr>
              <a:t> </a:t>
            </a:r>
            <a:r>
              <a:rPr lang="ar-SA" sz="2000" dirty="0">
                <a:cs typeface="B Nazanin" panose="00000400000000000000" pitchFamily="2" charset="-78"/>
              </a:rPr>
              <a:t>‌ها در جامعه علمی، ارائه حضوری کار به متخصصان، و دریافت بازخورد فوری و مستقیم است تا محقق بتواند مسیر پژوهش خود را تکمیل کند. این مقالات نیز تحت فرآیند داوری قرار می‌گیرند، اما این فرآیند اغلب سریع‌تر و با سخت‌گیری کمتری نسبت به مجلات انجام می‌شود، و در نهایت به صورت شفاهی یا پوستر در رویداد ارائه شده و معمولاً به عنوان بخشی از مجموعه مقالات کنفرانس</a:t>
            </a:r>
            <a:r>
              <a:rPr lang="en-US" sz="1900" dirty="0">
                <a:latin typeface="Aptos" panose="020B0004020202020204" pitchFamily="34" charset="0"/>
                <a:cs typeface="B Nazanin" panose="00000400000000000000" pitchFamily="2" charset="-78"/>
              </a:rPr>
              <a:t>Proceedings</a:t>
            </a:r>
            <a:r>
              <a:rPr lang="en-US" sz="2000" dirty="0">
                <a:cs typeface="B Nazanin" panose="00000400000000000000" pitchFamily="2" charset="-78"/>
              </a:rPr>
              <a:t>)</a:t>
            </a:r>
            <a:r>
              <a:rPr lang="fa-IR" sz="2000" dirty="0">
                <a:cs typeface="B Nazanin" panose="00000400000000000000" pitchFamily="2" charset="-78"/>
              </a:rPr>
              <a:t>)</a:t>
            </a:r>
            <a:r>
              <a:rPr lang="en-US" sz="2000" dirty="0">
                <a:cs typeface="B Nazanin" panose="00000400000000000000" pitchFamily="2" charset="-78"/>
              </a:rPr>
              <a:t> </a:t>
            </a:r>
            <a:r>
              <a:rPr lang="ar-SA" sz="2000" dirty="0">
                <a:cs typeface="B Nazanin" panose="00000400000000000000" pitchFamily="2" charset="-78"/>
              </a:rPr>
              <a:t>منتشر می‌شوند.</a:t>
            </a:r>
            <a:endParaRPr lang="en-US" sz="2000" dirty="0">
              <a:cs typeface="B Nazanin" panose="00000400000000000000" pitchFamily="2" charset="-78"/>
            </a:endParaRPr>
          </a:p>
        </p:txBody>
      </p:sp>
      <p:pic>
        <p:nvPicPr>
          <p:cNvPr id="2" name="Picture 1" descr="A white symbol with a black background">
            <a:extLst>
              <a:ext uri="{FF2B5EF4-FFF2-40B4-BE49-F238E27FC236}">
                <a16:creationId xmlns:a16="http://schemas.microsoft.com/office/drawing/2014/main" id="{7146784F-E4C2-6763-85CA-85F8DA460DAA}"/>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59681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309" y="152400"/>
            <a:ext cx="10157354" cy="685800"/>
          </a:xfrm>
        </p:spPr>
        <p:txBody>
          <a:bodyPr>
            <a:noAutofit/>
          </a:bodyPr>
          <a:lstStyle/>
          <a:p>
            <a:pPr algn="r" rtl="1"/>
            <a:r>
              <a:rPr lang="fa-IR" sz="5000" dirty="0">
                <a:latin typeface="Times New Roman" panose="02020603050405020304" pitchFamily="18" charset="0"/>
                <a:cs typeface="Times New Roman" panose="02020603050405020304" pitchFamily="18" charset="0"/>
              </a:rPr>
              <a:t>رده بندی انواع مقاله</a:t>
            </a:r>
            <a:endParaRPr lang="en-US" sz="5000" dirty="0">
              <a:latin typeface="Times New Roman" panose="02020603050405020304" pitchFamily="18" charset="0"/>
              <a:cs typeface="Times New Roman" panose="02020603050405020304" pitchFamily="18" charset="0"/>
            </a:endParaRPr>
          </a:p>
        </p:txBody>
      </p:sp>
      <p:pic>
        <p:nvPicPr>
          <p:cNvPr id="8" name="Content Placeholder 7" descr="A diagram of a company&#10;&#10;AI-generated content may be incorrect.">
            <a:extLst>
              <a:ext uri="{FF2B5EF4-FFF2-40B4-BE49-F238E27FC236}">
                <a16:creationId xmlns:a16="http://schemas.microsoft.com/office/drawing/2014/main" id="{6C6B43D9-1F14-B5A1-EF61-D197C513B3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7309" y="841513"/>
            <a:ext cx="10071126" cy="5870304"/>
          </a:xfrm>
        </p:spPr>
      </p:pic>
      <p:pic>
        <p:nvPicPr>
          <p:cNvPr id="3" name="Picture 2" descr="A white symbol with a black background">
            <a:extLst>
              <a:ext uri="{FF2B5EF4-FFF2-40B4-BE49-F238E27FC236}">
                <a16:creationId xmlns:a16="http://schemas.microsoft.com/office/drawing/2014/main" id="{C5C6539C-D107-98DD-E4EA-BD0698DA7E60}"/>
              </a:ext>
            </a:extLst>
          </p:cNvPr>
          <p:cNvPicPr>
            <a:picLocks noChangeAspect="1"/>
          </p:cNvPicPr>
          <p:nvPr/>
        </p:nvPicPr>
        <p:blipFill>
          <a:blip r:embed="rId3" cstate="print">
            <a:alphaModFix amt="20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303212" y="67032"/>
            <a:ext cx="961011" cy="533400"/>
          </a:xfrm>
          <a:prstGeom prst="rect">
            <a:avLst/>
          </a:prstGeom>
        </p:spPr>
      </p:pic>
    </p:spTree>
    <p:extLst>
      <p:ext uri="{BB962C8B-B14F-4D97-AF65-F5344CB8AC3E}">
        <p14:creationId xmlns:p14="http://schemas.microsoft.com/office/powerpoint/2010/main" val="1484067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49EAB22-43CA-9F77-E3C3-12AE2392E8FF}"/>
                  </a:ext>
                </a:extLst>
              </p:cNvPr>
              <p:cNvSpPr>
                <a:spLocks noGrp="1"/>
              </p:cNvSpPr>
              <p:nvPr>
                <p:ph idx="1"/>
              </p:nvPr>
            </p:nvSpPr>
            <p:spPr>
              <a:xfrm>
                <a:off x="150812" y="990600"/>
                <a:ext cx="11734800" cy="2133600"/>
              </a:xfrm>
            </p:spPr>
            <p:txBody>
              <a:bodyPr>
                <a:normAutofit/>
              </a:bodyPr>
              <a:lstStyle/>
              <a:p>
                <a:pPr marL="0" indent="0" algn="r" rtl="1">
                  <a:buNone/>
                </a:pPr>
                <a:r>
                  <a:rPr lang="fa-IR" sz="2000" dirty="0">
                    <a:latin typeface="Times New Roman" panose="02020603050405020304" pitchFamily="18" charset="0"/>
                    <a:cs typeface="B Nazanin" panose="00000400000000000000" pitchFamily="2" charset="-78"/>
                  </a:rPr>
                  <a:t> در مقالات علمی </a:t>
                </a:r>
                <a:r>
                  <a:rPr lang="fa-IR" sz="2000" dirty="0">
                    <a:cs typeface="B Nazanin" panose="00000400000000000000" pitchFamily="2" charset="-78"/>
                  </a:rPr>
                  <a:t>ضریب تاثیر</a:t>
                </a:r>
                <a:r>
                  <a:rPr lang="en-US" sz="2000" dirty="0">
                    <a:cs typeface="B Nazanin" panose="00000400000000000000" pitchFamily="2" charset="-78"/>
                  </a:rPr>
                  <a:t> </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impact factor</a:t>
                </a:r>
                <a:r>
                  <a:rPr lang="en-US" sz="2000" dirty="0">
                    <a:latin typeface="Times New Roman" panose="02020603050405020304" pitchFamily="18" charset="0"/>
                    <a:cs typeface="B Nazanin" panose="00000400000000000000" pitchFamily="2" charset="-78"/>
                  </a:rPr>
                  <a:t>)</a:t>
                </a:r>
                <a:r>
                  <a:rPr lang="en-US" sz="2000" dirty="0">
                    <a:cs typeface="B Nazanin" panose="00000400000000000000" pitchFamily="2" charset="-78"/>
                  </a:rPr>
                  <a:t> </a:t>
                </a:r>
                <a:r>
                  <a:rPr lang="fa-IR" sz="2000" dirty="0">
                    <a:cs typeface="B Nazanin" panose="00000400000000000000" pitchFamily="2" charset="-78"/>
                  </a:rPr>
                  <a:t>شاخصی است که نشان می‌دهد مقالات یک مجله علمی به‌طور میانگین چند بار در یک بازه زمانی مشخص توسط سایر مقالات ارجاع داده شده‌اند. این معیار برای سنجش اعتبار و اهمیت مجلات علمی استفاده می‌شود.</a:t>
                </a:r>
              </a:p>
              <a:p>
                <a:pPr marL="0" indent="0" algn="ctr" rtl="1">
                  <a:buNone/>
                </a:pPr>
                <a:r>
                  <a:rPr lang="en-US" sz="1900" dirty="0"/>
                  <a:t> = IF</a:t>
                </a:r>
                <a:r>
                  <a:rPr lang="fa-IR" sz="1900" dirty="0"/>
                  <a:t> </a:t>
                </a:r>
                <a14:m>
                  <m:oMath xmlns:m="http://schemas.openxmlformats.org/officeDocument/2006/math">
                    <m:f>
                      <m:fPr>
                        <m:ctrlPr>
                          <a:rPr lang="fa-IR" sz="1900" i="1" smtClean="0">
                            <a:latin typeface="Cambria Math" panose="02040503050406030204" pitchFamily="18" charset="0"/>
                          </a:rPr>
                        </m:ctrlPr>
                      </m:fPr>
                      <m:num>
                        <m:r>
                          <m:rPr>
                            <m:nor/>
                          </m:rPr>
                          <a:rPr lang="en-US" sz="1900"/>
                          <m:t>Number</m:t>
                        </m:r>
                        <m:r>
                          <m:rPr>
                            <m:nor/>
                          </m:rPr>
                          <a:rPr lang="en-US" sz="1900"/>
                          <m:t> </m:t>
                        </m:r>
                        <m:r>
                          <m:rPr>
                            <m:nor/>
                          </m:rPr>
                          <a:rPr lang="en-US" sz="1900"/>
                          <m:t>of</m:t>
                        </m:r>
                        <m:r>
                          <m:rPr>
                            <m:nor/>
                          </m:rPr>
                          <a:rPr lang="en-US" sz="1900"/>
                          <m:t> </m:t>
                        </m:r>
                        <m:r>
                          <m:rPr>
                            <m:nor/>
                          </m:rPr>
                          <a:rPr lang="en-US" sz="1900"/>
                          <m:t>citations</m:t>
                        </m:r>
                        <m:r>
                          <m:rPr>
                            <m:nor/>
                          </m:rPr>
                          <a:rPr lang="en-US" sz="1900"/>
                          <m:t> </m:t>
                        </m:r>
                        <m:r>
                          <m:rPr>
                            <m:nor/>
                          </m:rPr>
                          <a:rPr lang="en-US" sz="1900"/>
                          <m:t>in</m:t>
                        </m:r>
                        <m:r>
                          <m:rPr>
                            <m:nor/>
                          </m:rPr>
                          <a:rPr lang="en-US" sz="1900"/>
                          <m:t> </m:t>
                        </m:r>
                        <m:r>
                          <m:rPr>
                            <m:nor/>
                          </m:rPr>
                          <a:rPr lang="en-US" sz="1900"/>
                          <m:t>the</m:t>
                        </m:r>
                        <m:r>
                          <m:rPr>
                            <m:nor/>
                          </m:rPr>
                          <a:rPr lang="en-US" sz="1900"/>
                          <m:t> </m:t>
                        </m:r>
                        <m:r>
                          <m:rPr>
                            <m:nor/>
                          </m:rPr>
                          <a:rPr lang="en-US" sz="1900"/>
                          <m:t>current</m:t>
                        </m:r>
                        <m:r>
                          <m:rPr>
                            <m:nor/>
                          </m:rPr>
                          <a:rPr lang="en-US" sz="1900"/>
                          <m:t> </m:t>
                        </m:r>
                        <m:r>
                          <m:rPr>
                            <m:nor/>
                          </m:rPr>
                          <a:rPr lang="en-US" sz="1900"/>
                          <m:t>year</m:t>
                        </m:r>
                        <m:r>
                          <m:rPr>
                            <m:nor/>
                          </m:rPr>
                          <a:rPr lang="en-US" sz="1900"/>
                          <m:t> </m:t>
                        </m:r>
                        <m:r>
                          <m:rPr>
                            <m:nor/>
                          </m:rPr>
                          <a:rPr lang="en-US" sz="1900"/>
                          <m:t>to</m:t>
                        </m:r>
                        <m:r>
                          <m:rPr>
                            <m:nor/>
                          </m:rPr>
                          <a:rPr lang="en-US" sz="1900"/>
                          <m:t> </m:t>
                        </m:r>
                        <m:r>
                          <m:rPr>
                            <m:nor/>
                          </m:rPr>
                          <a:rPr lang="en-US" sz="1900"/>
                          <m:t>items</m:t>
                        </m:r>
                        <m:r>
                          <m:rPr>
                            <m:nor/>
                          </m:rPr>
                          <a:rPr lang="en-US" sz="1900"/>
                          <m:t> </m:t>
                        </m:r>
                        <m:r>
                          <m:rPr>
                            <m:nor/>
                          </m:rPr>
                          <a:rPr lang="en-US" sz="1900"/>
                          <m:t>published</m:t>
                        </m:r>
                        <m:r>
                          <m:rPr>
                            <m:nor/>
                          </m:rPr>
                          <a:rPr lang="en-US" sz="1900"/>
                          <m:t> </m:t>
                        </m:r>
                        <m:r>
                          <m:rPr>
                            <m:nor/>
                          </m:rPr>
                          <a:rPr lang="en-US" sz="1900"/>
                          <m:t>in</m:t>
                        </m:r>
                        <m:r>
                          <m:rPr>
                            <m:nor/>
                          </m:rPr>
                          <a:rPr lang="en-US" sz="1900"/>
                          <m:t> </m:t>
                        </m:r>
                        <m:r>
                          <m:rPr>
                            <m:nor/>
                          </m:rPr>
                          <a:rPr lang="en-US" sz="1900"/>
                          <m:t>the</m:t>
                        </m:r>
                        <m:r>
                          <m:rPr>
                            <m:nor/>
                          </m:rPr>
                          <a:rPr lang="en-US" sz="1900"/>
                          <m:t> </m:t>
                        </m:r>
                        <m:r>
                          <m:rPr>
                            <m:nor/>
                          </m:rPr>
                          <a:rPr lang="en-US" sz="1900">
                            <a:latin typeface="Aptos" panose="020B0004020202020204" pitchFamily="34" charset="0"/>
                          </a:rPr>
                          <m:t>previous</m:t>
                        </m:r>
                        <m:r>
                          <m:rPr>
                            <m:nor/>
                          </m:rPr>
                          <a:rPr lang="en-US" sz="1900"/>
                          <m:t> </m:t>
                        </m:r>
                        <m:r>
                          <m:rPr>
                            <m:nor/>
                          </m:rPr>
                          <a:rPr lang="en-US" sz="1900"/>
                          <m:t>two</m:t>
                        </m:r>
                        <m:r>
                          <m:rPr>
                            <m:nor/>
                          </m:rPr>
                          <a:rPr lang="en-US" sz="1900"/>
                          <m:t> </m:t>
                        </m:r>
                        <m:r>
                          <m:rPr>
                            <m:nor/>
                          </m:rPr>
                          <a:rPr lang="en-US" sz="1900"/>
                          <m:t>years</m:t>
                        </m:r>
                      </m:num>
                      <m:den>
                        <m:r>
                          <m:rPr>
                            <m:nor/>
                          </m:rPr>
                          <a:rPr lang="en-US" sz="1900"/>
                          <m:t>Total</m:t>
                        </m:r>
                        <m:r>
                          <m:rPr>
                            <m:nor/>
                          </m:rPr>
                          <a:rPr lang="en-US" sz="1900"/>
                          <m:t> </m:t>
                        </m:r>
                        <m:r>
                          <m:rPr>
                            <m:nor/>
                          </m:rPr>
                          <a:rPr lang="en-US" sz="1900"/>
                          <m:t>number</m:t>
                        </m:r>
                        <m:r>
                          <m:rPr>
                            <m:nor/>
                          </m:rPr>
                          <a:rPr lang="en-US" sz="1900"/>
                          <m:t> </m:t>
                        </m:r>
                        <m:r>
                          <m:rPr>
                            <m:nor/>
                          </m:rPr>
                          <a:rPr lang="en-US" sz="1900"/>
                          <m:t>of</m:t>
                        </m:r>
                        <m:r>
                          <m:rPr>
                            <m:nor/>
                          </m:rPr>
                          <a:rPr lang="en-US" sz="1900"/>
                          <m:t> </m:t>
                        </m:r>
                        <m:r>
                          <m:rPr>
                            <m:nor/>
                          </m:rPr>
                          <a:rPr lang="en-US" sz="1900"/>
                          <m:t>citable</m:t>
                        </m:r>
                        <m:r>
                          <m:rPr>
                            <m:nor/>
                          </m:rPr>
                          <a:rPr lang="en-US" sz="1900"/>
                          <m:t> </m:t>
                        </m:r>
                        <m:r>
                          <m:rPr>
                            <m:nor/>
                          </m:rPr>
                          <a:rPr lang="en-US" sz="1900"/>
                          <m:t>items</m:t>
                        </m:r>
                        <m:r>
                          <m:rPr>
                            <m:nor/>
                          </m:rPr>
                          <a:rPr lang="en-US" sz="1900"/>
                          <m:t> </m:t>
                        </m:r>
                        <m:r>
                          <m:rPr>
                            <m:nor/>
                          </m:rPr>
                          <a:rPr lang="en-US" sz="1900"/>
                          <m:t>published</m:t>
                        </m:r>
                        <m:r>
                          <m:rPr>
                            <m:nor/>
                          </m:rPr>
                          <a:rPr lang="en-US" sz="1900"/>
                          <m:t> </m:t>
                        </m:r>
                        <m:r>
                          <m:rPr>
                            <m:nor/>
                          </m:rPr>
                          <a:rPr lang="en-US" sz="1900"/>
                          <m:t>in</m:t>
                        </m:r>
                        <m:r>
                          <m:rPr>
                            <m:nor/>
                          </m:rPr>
                          <a:rPr lang="en-US" sz="1900"/>
                          <m:t> </m:t>
                        </m:r>
                        <m:r>
                          <m:rPr>
                            <m:nor/>
                          </m:rPr>
                          <a:rPr lang="en-US" sz="1900"/>
                          <m:t>the</m:t>
                        </m:r>
                        <m:r>
                          <m:rPr>
                            <m:nor/>
                          </m:rPr>
                          <a:rPr lang="en-US" sz="1900"/>
                          <m:t> </m:t>
                        </m:r>
                        <m:r>
                          <m:rPr>
                            <m:nor/>
                          </m:rPr>
                          <a:rPr lang="en-US" sz="1900"/>
                          <m:t>previous</m:t>
                        </m:r>
                        <m:r>
                          <m:rPr>
                            <m:nor/>
                          </m:rPr>
                          <a:rPr lang="en-US" sz="1900"/>
                          <m:t> </m:t>
                        </m:r>
                        <m:r>
                          <m:rPr>
                            <m:nor/>
                          </m:rPr>
                          <a:rPr lang="en-US" sz="1900"/>
                          <m:t>two</m:t>
                        </m:r>
                        <m:r>
                          <m:rPr>
                            <m:nor/>
                          </m:rPr>
                          <a:rPr lang="en-US" sz="1900"/>
                          <m:t> </m:t>
                        </m:r>
                        <m:r>
                          <m:rPr>
                            <m:nor/>
                          </m:rPr>
                          <a:rPr lang="en-US" sz="1900"/>
                          <m:t>years</m:t>
                        </m:r>
                      </m:den>
                    </m:f>
                  </m:oMath>
                </a14:m>
                <a:endParaRPr lang="fa-IR" sz="1900" dirty="0"/>
              </a:p>
            </p:txBody>
          </p:sp>
        </mc:Choice>
        <mc:Fallback xmlns="">
          <p:sp>
            <p:nvSpPr>
              <p:cNvPr id="2" name="Content Placeholder 1">
                <a:extLst>
                  <a:ext uri="{FF2B5EF4-FFF2-40B4-BE49-F238E27FC236}">
                    <a16:creationId xmlns:a16="http://schemas.microsoft.com/office/drawing/2014/main" id="{049EAB22-43CA-9F77-E3C3-12AE2392E8FF}"/>
                  </a:ext>
                </a:extLst>
              </p:cNvPr>
              <p:cNvSpPr>
                <a:spLocks noGrp="1" noRot="1" noChangeAspect="1" noMove="1" noResize="1" noEditPoints="1" noAdjustHandles="1" noChangeArrowheads="1" noChangeShapeType="1" noTextEdit="1"/>
              </p:cNvSpPr>
              <p:nvPr>
                <p:ph idx="1"/>
              </p:nvPr>
            </p:nvSpPr>
            <p:spPr>
              <a:xfrm>
                <a:off x="150812" y="990600"/>
                <a:ext cx="11734800" cy="2133600"/>
              </a:xfrm>
              <a:blipFill>
                <a:blip r:embed="rId2"/>
                <a:stretch>
                  <a:fillRect t="-3143" r="-26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71E97C7-C3DC-34AC-88CE-83919D58D771}"/>
              </a:ext>
            </a:extLst>
          </p:cNvPr>
          <p:cNvSpPr txBox="1"/>
          <p:nvPr/>
        </p:nvSpPr>
        <p:spPr>
          <a:xfrm>
            <a:off x="1117309" y="76200"/>
            <a:ext cx="10768303" cy="699615"/>
          </a:xfrm>
          <a:prstGeom prst="rect">
            <a:avLst/>
          </a:prstGeom>
          <a:noFill/>
        </p:spPr>
        <p:txBody>
          <a:bodyPr wrap="square" rtlCol="0">
            <a:spAutoFit/>
          </a:bodyPr>
          <a:lstStyle/>
          <a:p>
            <a:pPr algn="r">
              <a:lnSpc>
                <a:spcPct val="95000"/>
              </a:lnSpc>
            </a:pPr>
            <a:r>
              <a:rPr lang="fa-IR" sz="4100" dirty="0">
                <a:solidFill>
                  <a:schemeClr val="accent2">
                    <a:lumMod val="50000"/>
                  </a:schemeClr>
                </a:solidFill>
                <a:latin typeface="Times New Roman" panose="02020603050405020304" pitchFamily="18" charset="0"/>
                <a:cs typeface="Times New Roman" panose="02020603050405020304" pitchFamily="18" charset="0"/>
              </a:rPr>
              <a:t> در مقالات علمی </a:t>
            </a:r>
            <a:r>
              <a:rPr lang="en-US" sz="4000" dirty="0">
                <a:solidFill>
                  <a:schemeClr val="accent2">
                    <a:lumMod val="50000"/>
                  </a:schemeClr>
                </a:solidFill>
                <a:latin typeface="Times New Roman" panose="02020603050405020304" pitchFamily="18" charset="0"/>
                <a:cs typeface="Times New Roman" panose="02020603050405020304" pitchFamily="18" charset="0"/>
              </a:rPr>
              <a:t>(</a:t>
            </a:r>
            <a:r>
              <a:rPr lang="en-US" sz="3800" dirty="0">
                <a:solidFill>
                  <a:schemeClr val="accent2">
                    <a:lumMod val="50000"/>
                  </a:schemeClr>
                </a:solidFill>
                <a:latin typeface="Aptos" panose="020B0004020202020204" pitchFamily="34" charset="0"/>
                <a:cs typeface="Times New Roman" panose="02020603050405020304" pitchFamily="18" charset="0"/>
              </a:rPr>
              <a:t>impact factor</a:t>
            </a:r>
            <a:r>
              <a:rPr lang="en-US" sz="4000" dirty="0">
                <a:solidFill>
                  <a:schemeClr val="accent2">
                    <a:lumMod val="50000"/>
                  </a:schemeClr>
                </a:solidFill>
                <a:latin typeface="Times New Roman" panose="02020603050405020304" pitchFamily="18" charset="0"/>
                <a:cs typeface="Times New Roman" panose="02020603050405020304" pitchFamily="18" charset="0"/>
              </a:rPr>
              <a:t>)</a:t>
            </a:r>
            <a:r>
              <a:rPr lang="fa-IR" sz="4100" dirty="0">
                <a:solidFill>
                  <a:schemeClr val="accent2">
                    <a:lumMod val="50000"/>
                  </a:schemeClr>
                </a:solidFill>
                <a:cs typeface="B Nazanin" panose="00000400000000000000" pitchFamily="2" charset="-78"/>
              </a:rPr>
              <a:t>ضریب تاثیر</a:t>
            </a:r>
            <a:endParaRPr lang="en-US" sz="4100" dirty="0">
              <a:solidFill>
                <a:schemeClr val="accent2">
                  <a:lumMod val="50000"/>
                </a:schemeClr>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C106770-B6DB-126A-E77F-EA116D451E9F}"/>
                  </a:ext>
                </a:extLst>
              </p:cNvPr>
              <p:cNvSpPr txBox="1"/>
              <p:nvPr/>
            </p:nvSpPr>
            <p:spPr>
              <a:xfrm>
                <a:off x="379412" y="4876800"/>
                <a:ext cx="2971800" cy="644792"/>
              </a:xfrm>
              <a:prstGeom prst="rect">
                <a:avLst/>
              </a:prstGeom>
              <a:noFill/>
            </p:spPr>
            <p:txBody>
              <a:bodyPr wrap="square" rtlCol="0">
                <a:spAutoFit/>
              </a:bodyPr>
              <a:lstStyle/>
              <a:p>
                <a:pPr marL="0" algn="ctr" defTabSz="1218987" rtl="1" eaLnBrk="1" latinLnBrk="0" hangingPunct="1">
                  <a:lnSpc>
                    <a:spcPct val="95000"/>
                  </a:lnSpc>
                </a:pPr>
                <a14:m>
                  <m:oMath xmlns:m="http://schemas.openxmlformats.org/officeDocument/2006/math">
                    <m:r>
                      <m:rPr>
                        <m:sty m:val="p"/>
                      </m:rPr>
                      <a:rPr lang="en-US" sz="2600" i="1" smtClean="0">
                        <a:latin typeface="Cambria Math" panose="02040503050406030204" pitchFamily="18" charset="0"/>
                      </a:rPr>
                      <m:t>I</m:t>
                    </m:r>
                    <m:r>
                      <a:rPr lang="en-US" sz="2600" b="0" i="1" smtClean="0">
                        <a:latin typeface="Cambria Math" panose="02040503050406030204" pitchFamily="18" charset="0"/>
                      </a:rPr>
                      <m:t>𝐹</m:t>
                    </m:r>
                    <m:r>
                      <a:rPr lang="en-US" sz="2600" b="0" i="1" smtClean="0">
                        <a:latin typeface="Cambria Math" panose="02040503050406030204" pitchFamily="18" charset="0"/>
                      </a:rPr>
                      <m:t>=</m:t>
                    </m:r>
                    <m:f>
                      <m:fPr>
                        <m:ctrlPr>
                          <a:rPr lang="en-US" sz="2600" i="1" smtClean="0">
                            <a:latin typeface="Cambria Math" panose="02040503050406030204" pitchFamily="18" charset="0"/>
                          </a:rPr>
                        </m:ctrlPr>
                      </m:fPr>
                      <m:num>
                        <m:r>
                          <a:rPr lang="en-US" sz="2600" b="0" i="1" smtClean="0">
                            <a:latin typeface="Cambria Math" panose="02040503050406030204" pitchFamily="18" charset="0"/>
                          </a:rPr>
                          <m:t>500</m:t>
                        </m:r>
                      </m:num>
                      <m:den>
                        <m:r>
                          <a:rPr lang="en-US" sz="2600" b="0" i="1" smtClean="0">
                            <a:latin typeface="Cambria Math" panose="02040503050406030204" pitchFamily="18" charset="0"/>
                          </a:rPr>
                          <m:t>100</m:t>
                        </m:r>
                      </m:den>
                    </m:f>
                  </m:oMath>
                </a14:m>
                <a:r>
                  <a:rPr lang="en-US" sz="2600" dirty="0">
                    <a:latin typeface="Aptos" panose="020B0004020202020204" pitchFamily="34" charset="0"/>
                  </a:rPr>
                  <a:t> = 0.5</a:t>
                </a:r>
              </a:p>
            </p:txBody>
          </p:sp>
        </mc:Choice>
        <mc:Fallback xmlns="">
          <p:sp>
            <p:nvSpPr>
              <p:cNvPr id="3" name="TextBox 2">
                <a:extLst>
                  <a:ext uri="{FF2B5EF4-FFF2-40B4-BE49-F238E27FC236}">
                    <a16:creationId xmlns:a16="http://schemas.microsoft.com/office/drawing/2014/main" id="{0C106770-B6DB-126A-E77F-EA116D451E9F}"/>
                  </a:ext>
                </a:extLst>
              </p:cNvPr>
              <p:cNvSpPr txBox="1">
                <a:spLocks noRot="1" noChangeAspect="1" noMove="1" noResize="1" noEditPoints="1" noAdjustHandles="1" noChangeArrowheads="1" noChangeShapeType="1" noTextEdit="1"/>
              </p:cNvSpPr>
              <p:nvPr/>
            </p:nvSpPr>
            <p:spPr>
              <a:xfrm>
                <a:off x="379412" y="4876800"/>
                <a:ext cx="2971800" cy="644792"/>
              </a:xfrm>
              <a:prstGeom prst="rect">
                <a:avLst/>
              </a:prstGeom>
              <a:blipFill>
                <a:blip r:embed="rId3"/>
                <a:stretch>
                  <a:fillRect b="-1037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0A3FA5B8-E3A7-49F3-5BA8-4852EEC8A3B5}"/>
              </a:ext>
            </a:extLst>
          </p:cNvPr>
          <p:cNvSpPr txBox="1"/>
          <p:nvPr/>
        </p:nvSpPr>
        <p:spPr>
          <a:xfrm>
            <a:off x="912812" y="3072081"/>
            <a:ext cx="10668000" cy="1323439"/>
          </a:xfrm>
          <a:prstGeom prst="rect">
            <a:avLst/>
          </a:prstGeom>
          <a:noFill/>
        </p:spPr>
        <p:txBody>
          <a:bodyPr wrap="square" rtlCol="0">
            <a:spAutoFit/>
          </a:bodyPr>
          <a:lstStyle/>
          <a:p>
            <a:pPr algn="r"/>
            <a:r>
              <a:rPr lang="fa-IR" sz="2000" b="1" dirty="0">
                <a:latin typeface="B Nazanin" pitchFamily="2" charset="-78"/>
                <a:cs typeface="B Nazanin" pitchFamily="2" charset="-78"/>
              </a:rPr>
              <a:t>مثال ساده:</a:t>
            </a:r>
            <a:br>
              <a:rPr lang="fa-IR" sz="2000" dirty="0">
                <a:latin typeface="B Nazanin" pitchFamily="2" charset="-78"/>
                <a:cs typeface="B Nazanin" pitchFamily="2" charset="-78"/>
              </a:rPr>
            </a:b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اگر در یک مجله در سال 2024، به مقالاتی که در </a:t>
            </a:r>
            <a:r>
              <a:rPr lang="fa-IR" sz="2000" dirty="0" err="1">
                <a:latin typeface="B Nazanin" pitchFamily="2" charset="-78"/>
                <a:cs typeface="B Nazanin" pitchFamily="2" charset="-78"/>
              </a:rPr>
              <a:t>سال‌های</a:t>
            </a:r>
            <a:r>
              <a:rPr lang="fa-IR" sz="2000" dirty="0">
                <a:latin typeface="B Nazanin" pitchFamily="2" charset="-78"/>
                <a:cs typeface="B Nazanin" pitchFamily="2" charset="-78"/>
              </a:rPr>
              <a:t> 2022 و 2023 چاپ </a:t>
            </a:r>
            <a:r>
              <a:rPr lang="fa-IR" sz="2000" dirty="0" err="1">
                <a:latin typeface="B Nazanin" pitchFamily="2" charset="-78"/>
                <a:cs typeface="B Nazanin" pitchFamily="2" charset="-78"/>
              </a:rPr>
              <a:t>شده‌اند</a:t>
            </a:r>
            <a:r>
              <a:rPr lang="fa-IR" sz="2000" dirty="0">
                <a:latin typeface="B Nazanin" pitchFamily="2" charset="-78"/>
                <a:cs typeface="B Nazanin" pitchFamily="2" charset="-78"/>
              </a:rPr>
              <a:t> 500 بار استناد شده باشد و این مجله در همان دو سال 100 مقاله منتشر کرده باشد:</a:t>
            </a:r>
          </a:p>
        </p:txBody>
      </p:sp>
      <p:pic>
        <p:nvPicPr>
          <p:cNvPr id="7" name="Picture 6" descr="A white symbol with a black background">
            <a:extLst>
              <a:ext uri="{FF2B5EF4-FFF2-40B4-BE49-F238E27FC236}">
                <a16:creationId xmlns:a16="http://schemas.microsoft.com/office/drawing/2014/main" id="{6A791AEC-34C8-47D0-09FF-71C69BEB2AD1}"/>
              </a:ext>
            </a:extLst>
          </p:cNvPr>
          <p:cNvPicPr>
            <a:picLocks noChangeAspect="1"/>
          </p:cNvPicPr>
          <p:nvPr/>
        </p:nvPicPr>
        <p:blipFill>
          <a:blip r:embed="rId4" cstate="print">
            <a:alphaModFix amt="12000"/>
            <a:extLst>
              <a:ext uri="{BEBA8EAE-BF5A-486C-A8C5-ECC9F3942E4B}">
                <a14:imgProps xmlns:a14="http://schemas.microsoft.com/office/drawing/2010/main">
                  <a14:imgLayer r:embed="rId5">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40525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32A802-F6DD-D1E9-F8A6-FE19013F3FF4}"/>
              </a:ext>
            </a:extLst>
          </p:cNvPr>
          <p:cNvSpPr>
            <a:spLocks noGrp="1"/>
          </p:cNvSpPr>
          <p:nvPr>
            <p:ph idx="1"/>
          </p:nvPr>
        </p:nvSpPr>
        <p:spPr>
          <a:xfrm>
            <a:off x="1446212" y="124426"/>
            <a:ext cx="10157354" cy="806049"/>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Nazanin" pitchFamily="2" charset="-78"/>
                <a:cs typeface="B Nazanin" pitchFamily="2" charset="-78"/>
              </a:rPr>
              <a:t>چارک (</a:t>
            </a:r>
            <a:r>
              <a:rPr lang="en-US" sz="5400" dirty="0">
                <a:solidFill>
                  <a:schemeClr val="accent2">
                    <a:lumMod val="50000"/>
                  </a:schemeClr>
                </a:solidFill>
                <a:latin typeface="B Nazanin" pitchFamily="2" charset="-78"/>
                <a:cs typeface="B Nazanin" pitchFamily="2" charset="-78"/>
              </a:rPr>
              <a:t>(</a:t>
            </a:r>
            <a:r>
              <a:rPr lang="en-US" sz="4800" dirty="0">
                <a:solidFill>
                  <a:schemeClr val="accent2">
                    <a:lumMod val="50000"/>
                  </a:schemeClr>
                </a:solidFill>
                <a:latin typeface="Times New Roman" panose="02020603050405020304" pitchFamily="18" charset="0"/>
                <a:cs typeface="Times New Roman" panose="02020603050405020304" pitchFamily="18" charset="0"/>
              </a:rPr>
              <a:t>Quartile</a:t>
            </a:r>
            <a:r>
              <a:rPr lang="fa-IR" sz="5400" dirty="0">
                <a:solidFill>
                  <a:schemeClr val="accent2">
                    <a:lumMod val="50000"/>
                  </a:schemeClr>
                </a:solidFill>
                <a:latin typeface="B Nazanin" pitchFamily="2" charset="-78"/>
                <a:cs typeface="B Nazanin" pitchFamily="2" charset="-78"/>
              </a:rPr>
              <a:t>چیست؟</a:t>
            </a:r>
            <a:endParaRPr lang="en-US" sz="5400" dirty="0">
              <a:solidFill>
                <a:schemeClr val="accent2">
                  <a:lumMod val="50000"/>
                </a:schemeClr>
              </a:solidFill>
              <a:latin typeface="B Nazanin" pitchFamily="2" charset="-78"/>
              <a:cs typeface="B Nazanin" pitchFamily="2" charset="-78"/>
            </a:endParaRPr>
          </a:p>
        </p:txBody>
      </p:sp>
      <p:sp>
        <p:nvSpPr>
          <p:cNvPr id="5" name="TextBox 4">
            <a:extLst>
              <a:ext uri="{FF2B5EF4-FFF2-40B4-BE49-F238E27FC236}">
                <a16:creationId xmlns:a16="http://schemas.microsoft.com/office/drawing/2014/main" id="{50EFC784-A610-C4B6-52B3-E2AFCF822290}"/>
              </a:ext>
            </a:extLst>
          </p:cNvPr>
          <p:cNvSpPr txBox="1"/>
          <p:nvPr/>
        </p:nvSpPr>
        <p:spPr>
          <a:xfrm>
            <a:off x="849973" y="1386147"/>
            <a:ext cx="10488877" cy="5263749"/>
          </a:xfrm>
          <a:prstGeom prst="rect">
            <a:avLst/>
          </a:prstGeom>
          <a:noFill/>
        </p:spPr>
        <p:txBody>
          <a:bodyPr wrap="square" rtlCol="0">
            <a:spAutoFit/>
          </a:bodyPr>
          <a:lstStyle/>
          <a:p>
            <a:pPr algn="r" rtl="1">
              <a:lnSpc>
                <a:spcPct val="95000"/>
              </a:lnSpc>
            </a:pPr>
            <a:r>
              <a:rPr lang="fa-IR" sz="2000" dirty="0">
                <a:latin typeface="B Nazanin" pitchFamily="2" charset="-78"/>
                <a:cs typeface="B Nazanin" pitchFamily="2" charset="-78"/>
              </a:rPr>
              <a:t> مجلات هر حوزه علمی بر اساس </a:t>
            </a:r>
            <a:r>
              <a:rPr lang="fa-IR" sz="2000" dirty="0" err="1">
                <a:latin typeface="B Nazanin" pitchFamily="2" charset="-78"/>
                <a:cs typeface="B Nazanin" pitchFamily="2" charset="-78"/>
              </a:rPr>
              <a:t>شاخص‌هایی</a:t>
            </a:r>
            <a:r>
              <a:rPr lang="fa-IR" sz="2000" dirty="0">
                <a:latin typeface="B Nazanin" pitchFamily="2" charset="-78"/>
                <a:cs typeface="B Nazanin" pitchFamily="2" charset="-78"/>
              </a:rPr>
              <a:t> مثل </a:t>
            </a:r>
            <a:r>
              <a:rPr lang="en-US" sz="1900" dirty="0">
                <a:latin typeface="Aptos" panose="020B0004020202020204" pitchFamily="34" charset="0"/>
                <a:cs typeface="Times New Roman" panose="02020603050405020304" pitchFamily="18" charset="0"/>
              </a:rPr>
              <a:t>SJR</a:t>
            </a:r>
            <a:r>
              <a:rPr lang="en-US" sz="1900" dirty="0">
                <a:latin typeface="Aptos" panose="020B0004020202020204" pitchFamily="34" charset="0"/>
                <a:cs typeface="B Nazanin" pitchFamily="2" charset="-78"/>
              </a:rPr>
              <a:t>، </a:t>
            </a:r>
            <a:r>
              <a:rPr lang="en-US" sz="1900" dirty="0">
                <a:latin typeface="Aptos" panose="020B0004020202020204" pitchFamily="34" charset="0"/>
                <a:cs typeface="Times New Roman" panose="02020603050405020304" pitchFamily="18" charset="0"/>
              </a:rPr>
              <a:t>Impact Factor</a:t>
            </a:r>
            <a:r>
              <a:rPr lang="en-US" sz="2000" dirty="0">
                <a:latin typeface="Times New Roman" panose="02020603050405020304" pitchFamily="18" charset="0"/>
                <a:cs typeface="Times New Roman" panose="02020603050405020304" pitchFamily="18" charset="0"/>
              </a:rPr>
              <a:t> </a:t>
            </a:r>
            <a:r>
              <a:rPr lang="fa-IR" sz="2000" dirty="0">
                <a:latin typeface="Times New Roman" panose="02020603050405020304" pitchFamily="18" charset="0"/>
                <a:cs typeface="Times New Roman" panose="02020603050405020304" pitchFamily="18" charset="0"/>
              </a:rPr>
              <a:t> </a:t>
            </a:r>
            <a:r>
              <a:rPr lang="fa-IR" sz="2000" dirty="0">
                <a:latin typeface="B Nazanin" pitchFamily="2" charset="-78"/>
                <a:cs typeface="B Nazanin" pitchFamily="2" charset="-78"/>
              </a:rPr>
              <a:t>یا </a:t>
            </a:r>
            <a:r>
              <a:rPr lang="en-US" sz="2000" dirty="0">
                <a:latin typeface="B Nazanin" pitchFamily="2" charset="-78"/>
                <a:cs typeface="B Nazanin" pitchFamily="2" charset="-78"/>
              </a:rPr>
              <a:t> </a:t>
            </a:r>
            <a:r>
              <a:rPr lang="en-US" sz="1900" dirty="0" err="1">
                <a:latin typeface="Aptos" panose="020B0004020202020204" pitchFamily="34" charset="0"/>
                <a:cs typeface="Times New Roman" panose="02020603050405020304" pitchFamily="18" charset="0"/>
              </a:rPr>
              <a:t>CiteScore</a:t>
            </a:r>
            <a:r>
              <a:rPr lang="fa-IR" sz="2000" dirty="0" err="1">
                <a:latin typeface="B Nazanin" pitchFamily="2" charset="-78"/>
                <a:cs typeface="B Nazanin" pitchFamily="2" charset="-78"/>
              </a:rPr>
              <a:t>رتبه‌بندی</a:t>
            </a:r>
            <a:r>
              <a:rPr lang="fa-IR" sz="2000" dirty="0">
                <a:latin typeface="B Nazanin" pitchFamily="2" charset="-78"/>
                <a:cs typeface="B Nazanin" pitchFamily="2" charset="-78"/>
              </a:rPr>
              <a:t> </a:t>
            </a:r>
            <a:r>
              <a:rPr lang="fa-IR" sz="2000" dirty="0" err="1">
                <a:latin typeface="B Nazanin" pitchFamily="2" charset="-78"/>
                <a:cs typeface="B Nazanin" pitchFamily="2" charset="-78"/>
              </a:rPr>
              <a:t>می‌شوند</a:t>
            </a:r>
            <a:r>
              <a:rPr lang="fa-IR" sz="2000" dirty="0">
                <a:latin typeface="B Nazanin" pitchFamily="2" charset="-78"/>
                <a:cs typeface="B Nazanin" pitchFamily="2" charset="-78"/>
              </a:rPr>
              <a:t>. سپس </a:t>
            </a:r>
            <a:r>
              <a:rPr lang="fa-IR" sz="2000" dirty="0" err="1">
                <a:latin typeface="B Nazanin" pitchFamily="2" charset="-78"/>
                <a:cs typeface="B Nazanin" pitchFamily="2" charset="-78"/>
              </a:rPr>
              <a:t>آن‌ها</a:t>
            </a:r>
            <a:r>
              <a:rPr lang="fa-IR" sz="2000" dirty="0">
                <a:latin typeface="B Nazanin" pitchFamily="2" charset="-78"/>
                <a:cs typeface="B Nazanin" pitchFamily="2" charset="-78"/>
              </a:rPr>
              <a:t> را به چهار بخش مساوی ۲۵٪ تقسیم </a:t>
            </a:r>
            <a:r>
              <a:rPr lang="fa-IR" sz="2000" dirty="0" err="1">
                <a:latin typeface="B Nazanin" pitchFamily="2" charset="-78"/>
                <a:cs typeface="B Nazanin" pitchFamily="2" charset="-78"/>
              </a:rPr>
              <a:t>می‌کنند</a:t>
            </a:r>
            <a:r>
              <a:rPr lang="fa-IR" sz="2000" dirty="0">
                <a:latin typeface="B Nazanin" pitchFamily="2" charset="-78"/>
                <a:cs typeface="B Nazanin" pitchFamily="2" charset="-78"/>
              </a:rPr>
              <a:t>:</a:t>
            </a:r>
          </a:p>
          <a:p>
            <a:pPr algn="r">
              <a:lnSpc>
                <a:spcPct val="95000"/>
              </a:lnSpc>
            </a:pPr>
            <a:endParaRPr lang="fa-IR" dirty="0">
              <a:latin typeface="B Nazanin" pitchFamily="2" charset="-78"/>
              <a:cs typeface="B Nazanin" pitchFamily="2" charset="-78"/>
            </a:endParaRPr>
          </a:p>
          <a:p>
            <a:pPr>
              <a:lnSpc>
                <a:spcPct val="95000"/>
              </a:lnSpc>
            </a:pPr>
            <a:r>
              <a:rPr lang="en-US" sz="2300" b="1" dirty="0">
                <a:latin typeface="Aptos" panose="020B0004020202020204" pitchFamily="34" charset="0"/>
                <a:cs typeface="Times New Roman" panose="02020603050405020304" pitchFamily="18" charset="0"/>
              </a:rPr>
              <a:t>Q1</a:t>
            </a:r>
            <a:r>
              <a:rPr lang="en-US" b="1" dirty="0">
                <a:latin typeface="Times New Roman" panose="02020603050405020304" pitchFamily="18" charset="0"/>
                <a:cs typeface="Times New Roman" panose="02020603050405020304" pitchFamily="18" charset="0"/>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بهترین ۲۵٪ مجلات آن حوزه</a:t>
            </a:r>
          </a:p>
          <a:p>
            <a:pPr marL="342900" indent="-342900" algn="r" rtl="1">
              <a:buFont typeface="Arial" panose="020B0604020202020204" pitchFamily="34" charset="0"/>
              <a:buChar char="•"/>
            </a:pPr>
            <a:r>
              <a:rPr lang="fa-IR" sz="2000" dirty="0">
                <a:latin typeface="B Nazanin" pitchFamily="2" charset="-78"/>
                <a:cs typeface="B Nazanin" pitchFamily="2" charset="-78"/>
              </a:rPr>
              <a:t>معتبرترین، </a:t>
            </a:r>
            <a:r>
              <a:rPr lang="fa-IR" sz="2000" dirty="0" err="1">
                <a:latin typeface="B Nazanin" panose="00000400000000000000" pitchFamily="2" charset="-78"/>
                <a:cs typeface="B Nazanin" pitchFamily="2" charset="-78"/>
              </a:rPr>
              <a:t>باکیفیت‌ترین</a:t>
            </a:r>
            <a:r>
              <a:rPr lang="fa-IR" sz="2000" dirty="0">
                <a:latin typeface="B Nazanin" panose="00000400000000000000" pitchFamily="2" charset="-78"/>
                <a:cs typeface="B Nazanin" pitchFamily="2" charset="-78"/>
              </a:rPr>
              <a:t>، معمولاً </a:t>
            </a:r>
            <a:r>
              <a:rPr lang="fa-IR" sz="2000" dirty="0" err="1">
                <a:latin typeface="B Nazanin" panose="00000400000000000000" pitchFamily="2" charset="-78"/>
                <a:cs typeface="B Nazanin" pitchFamily="2" charset="-78"/>
              </a:rPr>
              <a:t>سخت‌گیر</a:t>
            </a:r>
            <a:r>
              <a:rPr lang="fa-IR" sz="2000" dirty="0">
                <a:latin typeface="B Nazanin" panose="00000400000000000000" pitchFamily="2" charset="-78"/>
                <a:cs typeface="B Nazanin" pitchFamily="2" charset="-78"/>
              </a:rPr>
              <a:t> در داوری</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مناسب‌ترین</a:t>
            </a:r>
            <a:r>
              <a:rPr lang="fa-IR" sz="2000" dirty="0">
                <a:latin typeface="B Nazanin" panose="00000400000000000000" pitchFamily="2" charset="-78"/>
                <a:cs typeface="B Nazanin" pitchFamily="2" charset="-78"/>
              </a:rPr>
              <a:t> برای رزومه دکتری یا </a:t>
            </a:r>
            <a:r>
              <a:rPr lang="fa-IR" sz="2000" dirty="0" err="1">
                <a:latin typeface="B Nazanin" panose="00000400000000000000" pitchFamily="2" charset="-78"/>
                <a:cs typeface="B Nazanin" pitchFamily="2" charset="-78"/>
              </a:rPr>
              <a:t>پست‌داک</a:t>
            </a:r>
            <a:endParaRPr lang="fa-IR" sz="2000" dirty="0">
              <a:latin typeface="B Nazanin" pitchFamily="2" charset="-78"/>
              <a:cs typeface="B Nazanin" pitchFamily="2" charset="-78"/>
            </a:endParaRPr>
          </a:p>
          <a:p>
            <a:pPr marL="342900" indent="-342900" algn="r" rtl="1">
              <a:buClr>
                <a:schemeClr val="accent5">
                  <a:lumMod val="50000"/>
                </a:schemeClr>
              </a:buClr>
              <a:buFont typeface="Arial" panose="020B0604020202020204" pitchFamily="34" charset="0"/>
              <a:buChar char="•"/>
            </a:pPr>
            <a:r>
              <a:rPr lang="fa-IR" sz="2000" dirty="0">
                <a:latin typeface="B Nazanin" pitchFamily="2" charset="-78"/>
                <a:cs typeface="B Nazanin" pitchFamily="2" charset="-78"/>
              </a:rPr>
              <a:t>هزینه </a:t>
            </a:r>
            <a:r>
              <a:rPr lang="en-US" sz="1900" dirty="0">
                <a:latin typeface="Aptos" panose="020B0004020202020204" pitchFamily="34" charset="0"/>
                <a:cs typeface="B Nazanin" panose="00000400000000000000" pitchFamily="2" charset="-78"/>
              </a:rPr>
              <a:t>APC</a:t>
            </a:r>
            <a:r>
              <a:rPr lang="fa-IR" sz="2000" dirty="0">
                <a:latin typeface="Times New Roman" panose="02020603050405020304" pitchFamily="18" charset="0"/>
                <a:cs typeface="B Nazanin" panose="00000400000000000000" pitchFamily="2" charset="-78"/>
              </a:rPr>
              <a:t> اگر</a:t>
            </a:r>
            <a:r>
              <a:rPr lang="fa-IR" sz="2000" dirty="0">
                <a:latin typeface="B Nazanin" panose="00000400000000000000" pitchFamily="2" charset="-78"/>
                <a:cs typeface="B Nazanin" pitchFamily="2" charset="-78"/>
              </a:rPr>
              <a:t> (</a:t>
            </a:r>
            <a:r>
              <a:rPr lang="en-US" sz="1900" dirty="0">
                <a:latin typeface="Aptos" panose="020B0004020202020204" pitchFamily="34" charset="0"/>
                <a:cs typeface="B Nazanin" panose="00000400000000000000" pitchFamily="2" charset="-78"/>
              </a:rPr>
              <a:t>Open Access</a:t>
            </a:r>
            <a:r>
              <a:rPr lang="fa-IR" sz="2000" dirty="0">
                <a:latin typeface="B Nazanin" panose="00000400000000000000" pitchFamily="2" charset="-78"/>
                <a:cs typeface="B Nazanin" pitchFamily="2" charset="-78"/>
              </a:rPr>
              <a:t>) باشد معمولاً بالاست</a:t>
            </a:r>
          </a:p>
          <a:p>
            <a:pPr marL="342900" indent="-342900" algn="r" rtl="1">
              <a:buFont typeface="Arial" panose="020B0604020202020204" pitchFamily="34" charset="0"/>
              <a:buChar char="•"/>
            </a:pPr>
            <a:r>
              <a:rPr lang="fa-IR" sz="2000" dirty="0">
                <a:latin typeface="B Nazanin" panose="00000400000000000000" pitchFamily="2" charset="-78"/>
                <a:cs typeface="B Nazanin" pitchFamily="2" charset="-78"/>
              </a:rPr>
              <a:t>مشخصه غیررسمی: پذیرش سخت / داوری طولانی</a:t>
            </a:r>
          </a:p>
          <a:p>
            <a:pPr algn="r">
              <a:lnSpc>
                <a:spcPct val="95000"/>
              </a:lnSpc>
            </a:pPr>
            <a:endParaRPr lang="fa-IR" dirty="0">
              <a:latin typeface="B Nazanin" pitchFamily="2" charset="-78"/>
              <a:cs typeface="B Nazanin" pitchFamily="2" charset="-78"/>
            </a:endParaRPr>
          </a:p>
          <a:p>
            <a:pPr>
              <a:lnSpc>
                <a:spcPct val="95000"/>
              </a:lnSpc>
            </a:pPr>
            <a:r>
              <a:rPr lang="en-US" sz="2300" b="1" dirty="0">
                <a:latin typeface="Aptos" panose="020B0004020202020204" pitchFamily="34" charset="0"/>
                <a:cs typeface="Times New Roman" panose="02020603050405020304" pitchFamily="18" charset="0"/>
              </a:rPr>
              <a:t>Q2</a:t>
            </a:r>
            <a:r>
              <a:rPr lang="en-US" b="1" dirty="0">
                <a:latin typeface="Times New Roman" panose="02020603050405020304" pitchFamily="18" charset="0"/>
                <a:cs typeface="Times New Roman" panose="02020603050405020304" pitchFamily="18" charset="0"/>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۲۵٪ دوم مجلات</a:t>
            </a:r>
          </a:p>
          <a:p>
            <a:pPr marL="342900" indent="-342900" algn="r" rtl="1">
              <a:buFont typeface="Arial" panose="020B0604020202020204" pitchFamily="34" charset="0"/>
              <a:buChar char="•"/>
            </a:pPr>
            <a:r>
              <a:rPr lang="fa-IR" sz="2000" dirty="0">
                <a:latin typeface="B Nazanin" pitchFamily="2" charset="-78"/>
                <a:cs typeface="B Nazanin" pitchFamily="2" charset="-78"/>
              </a:rPr>
              <a:t>همچنان خوب و معتبر</a:t>
            </a:r>
          </a:p>
          <a:p>
            <a:pPr marL="342900" indent="-342900" algn="r" rtl="1">
              <a:buFont typeface="Arial" panose="020B0604020202020204" pitchFamily="34" charset="0"/>
              <a:buChar char="•"/>
            </a:pPr>
            <a:r>
              <a:rPr lang="fa-IR" sz="2000" dirty="0">
                <a:latin typeface="B Nazanin" pitchFamily="2" charset="-78"/>
                <a:cs typeface="B Nazanin" pitchFamily="2" charset="-78"/>
              </a:rPr>
              <a:t>پذیرش کمی </a:t>
            </a:r>
            <a:r>
              <a:rPr lang="fa-IR" sz="2000" dirty="0" err="1">
                <a:latin typeface="B Nazanin" panose="00000400000000000000" pitchFamily="2" charset="-78"/>
                <a:cs typeface="B Nazanin" pitchFamily="2" charset="-78"/>
              </a:rPr>
              <a:t>آسان‌تر</a:t>
            </a:r>
            <a:r>
              <a:rPr lang="fa-IR" sz="2000" dirty="0">
                <a:latin typeface="B Nazanin" panose="00000400000000000000" pitchFamily="2" charset="-78"/>
                <a:cs typeface="B Nazanin" pitchFamily="2" charset="-78"/>
              </a:rPr>
              <a:t> از </a:t>
            </a:r>
            <a:r>
              <a:rPr lang="en-US" sz="1900" dirty="0">
                <a:latin typeface="Aptos" panose="020B0004020202020204" pitchFamily="34" charset="0"/>
                <a:cs typeface="B Nazanin" panose="00000400000000000000" pitchFamily="2" charset="-78"/>
              </a:rPr>
              <a:t>Q1</a:t>
            </a:r>
          </a:p>
          <a:p>
            <a:pPr marL="342900" indent="-342900" algn="r" rtl="1">
              <a:buFont typeface="Arial" panose="020B0604020202020204" pitchFamily="34" charset="0"/>
              <a:buChar char="•"/>
            </a:pPr>
            <a:r>
              <a:rPr lang="fa-IR" sz="2000" dirty="0">
                <a:latin typeface="B Nazanin" panose="00000400000000000000" pitchFamily="2" charset="-78"/>
                <a:cs typeface="B Nazanin" pitchFamily="2" charset="-78"/>
              </a:rPr>
              <a:t>برای </a:t>
            </a:r>
            <a:r>
              <a:rPr lang="fa-IR" sz="2000" dirty="0" err="1">
                <a:latin typeface="B Nazanin" panose="00000400000000000000" pitchFamily="2" charset="-78"/>
                <a:cs typeface="B Nazanin" pitchFamily="2" charset="-78"/>
              </a:rPr>
              <a:t>اپلای</a:t>
            </a:r>
            <a:r>
              <a:rPr lang="fa-IR" sz="2000" dirty="0">
                <a:latin typeface="B Nazanin" panose="00000400000000000000" pitchFamily="2" charset="-78"/>
                <a:cs typeface="B Nazanin" pitchFamily="2" charset="-78"/>
              </a:rPr>
              <a:t> ارشد، دکتری و رزومه پژوهشی مناسب</a:t>
            </a:r>
          </a:p>
          <a:p>
            <a:pPr algn="r">
              <a:lnSpc>
                <a:spcPct val="95000"/>
              </a:lnSpc>
            </a:pPr>
            <a:endParaRPr lang="en-US" sz="2000" dirty="0">
              <a:latin typeface="B Nazanin" pitchFamily="2" charset="-78"/>
              <a:cs typeface="B Nazanin" pitchFamily="2" charset="-78"/>
            </a:endParaRPr>
          </a:p>
        </p:txBody>
      </p:sp>
      <p:pic>
        <p:nvPicPr>
          <p:cNvPr id="4" name="Picture 3" descr="A white symbol with a black background">
            <a:extLst>
              <a:ext uri="{FF2B5EF4-FFF2-40B4-BE49-F238E27FC236}">
                <a16:creationId xmlns:a16="http://schemas.microsoft.com/office/drawing/2014/main" id="{D17C5334-FCF3-2800-EB19-A01890411ED2}"/>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64421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B538322-B3E8-EC84-9564-C79BA7A5F248}"/>
              </a:ext>
            </a:extLst>
          </p:cNvPr>
          <p:cNvSpPr>
            <a:spLocks noGrp="1"/>
          </p:cNvSpPr>
          <p:nvPr>
            <p:ph idx="1"/>
          </p:nvPr>
        </p:nvSpPr>
        <p:spPr>
          <a:xfrm>
            <a:off x="1117309" y="685800"/>
            <a:ext cx="10157354" cy="5791200"/>
          </a:xfrm>
        </p:spPr>
        <p:txBody>
          <a:bodyPr/>
          <a:lstStyle/>
          <a:p>
            <a:pPr marL="0" indent="0" algn="l" defTabSz="1218987" rtl="0" eaLnBrk="1" latinLnBrk="0" hangingPunct="1">
              <a:lnSpc>
                <a:spcPct val="95000"/>
              </a:lnSpc>
              <a:spcBef>
                <a:spcPts val="1866"/>
              </a:spcBef>
              <a:buClr>
                <a:schemeClr val="accent6">
                  <a:lumMod val="50000"/>
                </a:schemeClr>
              </a:buClr>
              <a:buSzPct val="100000"/>
              <a:buFont typeface="Arial" pitchFamily="34" charset="0"/>
              <a:buNone/>
            </a:pPr>
            <a:r>
              <a:rPr lang="en-US" sz="2300" b="1" dirty="0">
                <a:latin typeface="Aptos" panose="020B0004020202020204" pitchFamily="34" charset="0"/>
                <a:cs typeface="Times New Roman" panose="02020603050405020304" pitchFamily="18" charset="0"/>
              </a:rPr>
              <a:t>Q3</a:t>
            </a:r>
            <a:r>
              <a:rPr lang="en-US" b="1" dirty="0">
                <a:latin typeface="Times New Roman" panose="02020603050405020304" pitchFamily="18" charset="0"/>
                <a:cs typeface="Times New Roman" panose="02020603050405020304" pitchFamily="18" charset="0"/>
              </a:rPr>
              <a:t>:</a:t>
            </a:r>
          </a:p>
          <a:p>
            <a:pPr algn="r" rtl="1"/>
            <a:r>
              <a:rPr lang="fa-IR" sz="2000" dirty="0">
                <a:latin typeface="B Nazanin" pitchFamily="2" charset="-78"/>
                <a:cs typeface="B Nazanin" pitchFamily="2" charset="-78"/>
              </a:rPr>
              <a:t>۲۵٪ سوم</a:t>
            </a:r>
          </a:p>
          <a:p>
            <a:pPr algn="r" rtl="1"/>
            <a:r>
              <a:rPr lang="fa-IR" sz="2000" dirty="0">
                <a:latin typeface="B Nazanin" pitchFamily="2" charset="-78"/>
                <a:cs typeface="B Nazanin" pitchFamily="2" charset="-78"/>
              </a:rPr>
              <a:t>متوسط، معمولاً </a:t>
            </a:r>
            <a:r>
              <a:rPr lang="fa-IR" sz="2000" dirty="0" err="1">
                <a:latin typeface="B Nazanin" pitchFamily="2" charset="-78"/>
                <a:cs typeface="B Nazanin" pitchFamily="2" charset="-78"/>
              </a:rPr>
              <a:t>راحت‌تر</a:t>
            </a:r>
            <a:r>
              <a:rPr lang="fa-IR" sz="2000" dirty="0">
                <a:latin typeface="B Nazanin" pitchFamily="2" charset="-78"/>
                <a:cs typeface="B Nazanin" pitchFamily="2" charset="-78"/>
              </a:rPr>
              <a:t> برای انتشار مقاله</a:t>
            </a:r>
          </a:p>
          <a:p>
            <a:pPr algn="r" rtl="1"/>
            <a:r>
              <a:rPr lang="fa-IR" sz="2000" dirty="0">
                <a:latin typeface="B Nazanin" pitchFamily="2" charset="-78"/>
                <a:cs typeface="B Nazanin" pitchFamily="2" charset="-78"/>
              </a:rPr>
              <a:t>مناسب برای شروع کار پژوهشی، پایتخت کردن </a:t>
            </a:r>
            <a:r>
              <a:rPr lang="fa-IR" sz="2000" dirty="0" err="1">
                <a:latin typeface="B Nazanin" pitchFamily="2" charset="-78"/>
                <a:cs typeface="B Nazanin" pitchFamily="2" charset="-78"/>
              </a:rPr>
              <a:t>ایده‌های</a:t>
            </a:r>
            <a:r>
              <a:rPr lang="fa-IR" sz="2000" dirty="0">
                <a:latin typeface="B Nazanin" pitchFamily="2" charset="-78"/>
                <a:cs typeface="B Nazanin" pitchFamily="2" charset="-78"/>
              </a:rPr>
              <a:t> کوچک</a:t>
            </a:r>
          </a:p>
          <a:p>
            <a:pPr algn="r" rtl="1"/>
            <a:endParaRPr lang="fa-IR" sz="2000" dirty="0">
              <a:latin typeface="B Nazanin" pitchFamily="2" charset="-78"/>
              <a:cs typeface="B Nazanin" pitchFamily="2" charset="-78"/>
            </a:endParaRPr>
          </a:p>
          <a:p>
            <a:pPr marL="0" indent="0" rtl="1">
              <a:buNone/>
            </a:pPr>
            <a:r>
              <a:rPr lang="en-US" sz="2300" b="1" dirty="0">
                <a:latin typeface="Aptos" panose="020B0004020202020204" pitchFamily="34" charset="0"/>
                <a:cs typeface="Times New Roman" panose="02020603050405020304" pitchFamily="18" charset="0"/>
              </a:rPr>
              <a:t>Q4</a:t>
            </a:r>
            <a:r>
              <a:rPr lang="en-US" b="1" dirty="0">
                <a:latin typeface="Times New Roman" panose="02020603050405020304" pitchFamily="18" charset="0"/>
                <a:cs typeface="Times New Roman" panose="02020603050405020304" pitchFamily="18" charset="0"/>
              </a:rPr>
              <a:t>:</a:t>
            </a:r>
          </a:p>
          <a:p>
            <a:pPr algn="r" rtl="1"/>
            <a:r>
              <a:rPr lang="fa-IR" sz="2000" dirty="0">
                <a:latin typeface="B Nazanin" panose="00000400000000000000" pitchFamily="2" charset="-78"/>
                <a:cs typeface="B Nazanin" pitchFamily="2" charset="-78"/>
              </a:rPr>
              <a:t>۲۵٪ آخر</a:t>
            </a:r>
          </a:p>
          <a:p>
            <a:pPr algn="r" rtl="1"/>
            <a:r>
              <a:rPr lang="fa-IR" sz="2000" dirty="0" err="1">
                <a:latin typeface="B Nazanin" panose="00000400000000000000" pitchFamily="2" charset="-78"/>
                <a:cs typeface="B Nazanin" pitchFamily="2" charset="-78"/>
              </a:rPr>
              <a:t>کم‌اعتبارترین</a:t>
            </a:r>
            <a:r>
              <a:rPr lang="fa-IR" sz="2000" dirty="0">
                <a:latin typeface="B Nazanin" panose="00000400000000000000" pitchFamily="2" charset="-78"/>
                <a:cs typeface="B Nazanin" pitchFamily="2" charset="-78"/>
              </a:rPr>
              <a:t> میان </a:t>
            </a:r>
            <a:r>
              <a:rPr lang="fa-IR" sz="2000" dirty="0" err="1">
                <a:latin typeface="B Nazanin" panose="00000400000000000000" pitchFamily="2" charset="-78"/>
                <a:cs typeface="B Nazanin" pitchFamily="2" charset="-78"/>
              </a:rPr>
              <a:t>مجله‌های</a:t>
            </a:r>
            <a:r>
              <a:rPr lang="fa-IR" sz="2000" dirty="0">
                <a:latin typeface="B Nazanin" panose="00000400000000000000" pitchFamily="2" charset="-78"/>
                <a:cs typeface="B Nazanin" pitchFamily="2" charset="-78"/>
              </a:rPr>
              <a:t> معتبر </a:t>
            </a:r>
            <a:r>
              <a:rPr lang="en-US" sz="1900" dirty="0">
                <a:latin typeface="Aptos" panose="020B0004020202020204" pitchFamily="34" charset="0"/>
                <a:cs typeface="B Nazanin" panose="00000400000000000000" pitchFamily="2" charset="-78"/>
              </a:rPr>
              <a:t>Scopus/JCR</a:t>
            </a:r>
          </a:p>
          <a:p>
            <a:pPr algn="r" rtl="1"/>
            <a:r>
              <a:rPr lang="fa-IR" sz="2000" dirty="0">
                <a:latin typeface="B Nazanin" panose="00000400000000000000" pitchFamily="2" charset="-78"/>
                <a:cs typeface="B Nazanin" pitchFamily="2" charset="-78"/>
              </a:rPr>
              <a:t>معمولاً سطح علمی </a:t>
            </a:r>
            <a:r>
              <a:rPr lang="fa-IR" sz="2000" dirty="0" err="1">
                <a:latin typeface="B Nazanin" panose="00000400000000000000" pitchFamily="2" charset="-78"/>
                <a:cs typeface="B Nazanin" pitchFamily="2" charset="-78"/>
              </a:rPr>
              <a:t>پایین‌تر</a:t>
            </a:r>
            <a:r>
              <a:rPr lang="fa-IR" sz="2000" dirty="0">
                <a:latin typeface="B Nazanin" panose="00000400000000000000" pitchFamily="2" charset="-78"/>
                <a:cs typeface="B Nazanin" pitchFamily="2" charset="-78"/>
              </a:rPr>
              <a:t>، پذیرش </a:t>
            </a:r>
            <a:r>
              <a:rPr lang="fa-IR" sz="2000" dirty="0" err="1">
                <a:latin typeface="B Nazanin" panose="00000400000000000000" pitchFamily="2" charset="-78"/>
                <a:cs typeface="B Nazanin" pitchFamily="2" charset="-78"/>
              </a:rPr>
              <a:t>راحت‌تر</a:t>
            </a: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برای رزومه کمتر تاثیرگذار</a:t>
            </a:r>
          </a:p>
          <a:p>
            <a:pPr marL="0" indent="0" algn="r" rtl="1">
              <a:buNone/>
            </a:pPr>
            <a:endParaRPr lang="fa-IR" sz="2000" dirty="0">
              <a:latin typeface="Times New Roman" panose="02020603050405020304" pitchFamily="18" charset="0"/>
              <a:cs typeface="Times New Roman" panose="02020603050405020304" pitchFamily="18" charset="0"/>
            </a:endParaRPr>
          </a:p>
          <a:p>
            <a:pPr marL="0" indent="0" algn="r" defTabSz="1218987" rtl="0" eaLnBrk="1" latinLnBrk="0" hangingPunct="1">
              <a:lnSpc>
                <a:spcPct val="95000"/>
              </a:lnSpc>
              <a:spcBef>
                <a:spcPts val="1866"/>
              </a:spcBef>
              <a:buClr>
                <a:schemeClr val="accent6">
                  <a:lumMod val="50000"/>
                </a:schemeClr>
              </a:buClr>
              <a:buSzPct val="100000"/>
              <a:buFont typeface="Arial" pitchFamily="34" charset="0"/>
              <a:buNone/>
            </a:pPr>
            <a:endParaRPr lang="en-US" dirty="0">
              <a:latin typeface="Times New Roman" panose="02020603050405020304" pitchFamily="18" charset="0"/>
              <a:cs typeface="Times New Roman" panose="02020603050405020304" pitchFamily="18" charset="0"/>
            </a:endParaRPr>
          </a:p>
        </p:txBody>
      </p:sp>
      <p:pic>
        <p:nvPicPr>
          <p:cNvPr id="4" name="Picture 3" descr="A white symbol with a black background">
            <a:extLst>
              <a:ext uri="{FF2B5EF4-FFF2-40B4-BE49-F238E27FC236}">
                <a16:creationId xmlns:a16="http://schemas.microsoft.com/office/drawing/2014/main" id="{62372147-777C-7857-4766-9D4C0DCE69EC}"/>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612128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14BF97-58D0-EBCF-B0D3-796381718418}"/>
              </a:ext>
            </a:extLst>
          </p:cNvPr>
          <p:cNvSpPr>
            <a:spLocks noGrp="1"/>
          </p:cNvSpPr>
          <p:nvPr>
            <p:ph idx="1"/>
          </p:nvPr>
        </p:nvSpPr>
        <p:spPr>
          <a:xfrm>
            <a:off x="1522412" y="152400"/>
            <a:ext cx="10157354" cy="10668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4600" dirty="0">
                <a:solidFill>
                  <a:schemeClr val="accent2">
                    <a:lumMod val="50000"/>
                  </a:schemeClr>
                </a:solidFill>
                <a:latin typeface="Times New Roman" panose="02020603050405020304" pitchFamily="18" charset="0"/>
                <a:cs typeface="Times New Roman" panose="02020603050405020304" pitchFamily="18" charset="0"/>
              </a:rPr>
              <a:t>ساختار و چهارچوب مقاله علمی</a:t>
            </a:r>
            <a:endParaRPr lang="en-US" sz="46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927E989-D46F-A2FB-563F-F68ED3BBDF9D}"/>
              </a:ext>
            </a:extLst>
          </p:cNvPr>
          <p:cNvSpPr txBox="1"/>
          <p:nvPr/>
        </p:nvSpPr>
        <p:spPr>
          <a:xfrm>
            <a:off x="455612" y="1229032"/>
            <a:ext cx="11224154" cy="3897221"/>
          </a:xfrm>
          <a:prstGeom prst="rect">
            <a:avLst/>
          </a:prstGeom>
          <a:noFill/>
        </p:spPr>
        <p:txBody>
          <a:bodyPr wrap="square" rtlCol="0">
            <a:spAutoFit/>
          </a:bodyPr>
          <a:lstStyle/>
          <a:p>
            <a:pPr algn="r" rtl="1">
              <a:lnSpc>
                <a:spcPct val="95000"/>
              </a:lnSpc>
            </a:pPr>
            <a:r>
              <a:rPr lang="fa-IR" sz="2000" dirty="0">
                <a:latin typeface="B Nazanin" panose="00000400000000000000" pitchFamily="2" charset="-78"/>
                <a:cs typeface="B Nazanin" pitchFamily="2" charset="-78"/>
              </a:rPr>
              <a:t>ساختار و چهارچوب استاندارد یک مقاله علمی </a:t>
            </a:r>
            <a:r>
              <a:rPr lang="en-US" sz="2000" dirty="0">
                <a:latin typeface="B Nazanin" panose="00000400000000000000" pitchFamily="2" charset="-78"/>
                <a:cs typeface="B Nazanin" pitchFamily="2" charset="-78"/>
              </a:rPr>
              <a:t> </a:t>
            </a:r>
            <a:r>
              <a:rPr lang="en-US" sz="2000" dirty="0">
                <a:latin typeface="Times New Roman" panose="02020603050405020304" pitchFamily="18" charset="0"/>
                <a:cs typeface="B Nazanin" panose="00000400000000000000" pitchFamily="2" charset="-78"/>
              </a:rPr>
              <a:t>(</a:t>
            </a:r>
            <a:r>
              <a:rPr lang="en-US" sz="1900" dirty="0">
                <a:latin typeface="Aptos" panose="020B0004020202020204" pitchFamily="34" charset="0"/>
                <a:cs typeface="B Nazanin" panose="00000400000000000000" pitchFamily="2" charset="-78"/>
              </a:rPr>
              <a:t>Academic Paper</a:t>
            </a:r>
            <a:r>
              <a:rPr lang="en-US" sz="2000" dirty="0">
                <a:latin typeface="Times New Roman" panose="02020603050405020304" pitchFamily="18" charset="0"/>
                <a:cs typeface="B Nazanin" panose="00000400000000000000" pitchFamily="2" charset="-78"/>
              </a:rPr>
              <a:t>)</a:t>
            </a:r>
            <a:r>
              <a:rPr lang="fa-IR" sz="2000" dirty="0">
                <a:latin typeface="B Nazanin" panose="00000400000000000000" pitchFamily="2" charset="-78"/>
                <a:cs typeface="B Nazanin" pitchFamily="2" charset="-78"/>
              </a:rPr>
              <a:t>تقریباً در همه </a:t>
            </a:r>
            <a:r>
              <a:rPr lang="fa-IR" sz="2000" dirty="0" err="1">
                <a:latin typeface="B Nazanin" panose="00000400000000000000" pitchFamily="2" charset="-78"/>
                <a:cs typeface="B Nazanin" pitchFamily="2" charset="-78"/>
              </a:rPr>
              <a:t>رشته‌ها</a:t>
            </a:r>
            <a:r>
              <a:rPr lang="fa-IR" sz="2000" dirty="0">
                <a:latin typeface="B Nazanin" panose="00000400000000000000" pitchFamily="2" charset="-78"/>
                <a:cs typeface="B Nazanin" pitchFamily="2" charset="-78"/>
              </a:rPr>
              <a:t> مشابه است؛ مخصوصاً در کامپیوتر، مهندسی، پزشکی، و علوم پایه. این ساختار معمولاً با نام</a:t>
            </a:r>
            <a:r>
              <a:rPr lang="en-US" sz="2000" dirty="0">
                <a:latin typeface="B Nazanin" panose="00000400000000000000" pitchFamily="2" charset="-78"/>
                <a:cs typeface="B Nazanin" pitchFamily="2" charset="-78"/>
              </a:rPr>
              <a:t> </a:t>
            </a:r>
            <a:r>
              <a:rPr lang="en-US" sz="1900" b="1" dirty="0" err="1">
                <a:latin typeface="Aptos" panose="020B0004020202020204" pitchFamily="34" charset="0"/>
                <a:cs typeface="B Nazanin" panose="00000400000000000000" pitchFamily="2" charset="-78"/>
              </a:rPr>
              <a:t>IMRaD</a:t>
            </a:r>
            <a:r>
              <a:rPr lang="en-US" sz="2000" dirty="0">
                <a:latin typeface="B Nazanin" panose="00000400000000000000" pitchFamily="2" charset="-78"/>
                <a:cs typeface="B Nazanin" pitchFamily="2" charset="-78"/>
              </a:rPr>
              <a:t> </a:t>
            </a:r>
            <a:r>
              <a:rPr lang="fa-IR" sz="2000" dirty="0">
                <a:latin typeface="B Nazanin" panose="00000400000000000000" pitchFamily="2" charset="-78"/>
                <a:cs typeface="B Nazanin" pitchFamily="2" charset="-78"/>
              </a:rPr>
              <a:t>شناخته </a:t>
            </a:r>
            <a:r>
              <a:rPr lang="fa-IR" sz="2000" dirty="0" err="1">
                <a:latin typeface="B Nazanin" panose="00000400000000000000" pitchFamily="2" charset="-78"/>
                <a:cs typeface="B Nazanin" pitchFamily="2" charset="-78"/>
              </a:rPr>
              <a:t>می‌شود</a:t>
            </a:r>
            <a:r>
              <a:rPr lang="fa-IR" sz="2000" dirty="0">
                <a:latin typeface="B Nazanin" panose="00000400000000000000" pitchFamily="2" charset="-78"/>
                <a:cs typeface="B Nazanin" pitchFamily="2" charset="-78"/>
              </a:rPr>
              <a:t>:</a:t>
            </a:r>
            <a:endParaRPr lang="en-US" sz="2000" dirty="0">
              <a:latin typeface="B Nazanin" panose="00000400000000000000" pitchFamily="2" charset="-78"/>
              <a:cs typeface="B Nazanin" pitchFamily="2" charset="-78"/>
            </a:endParaRPr>
          </a:p>
          <a:p>
            <a:pPr algn="r" rtl="1">
              <a:lnSpc>
                <a:spcPct val="95000"/>
              </a:lnSpc>
            </a:pPr>
            <a:endParaRPr lang="en-US" sz="1900" dirty="0">
              <a:latin typeface="Aptos" panose="020B0004020202020204" pitchFamily="34" charset="0"/>
              <a:cs typeface="B Nazanin" pitchFamily="2" charset="-78"/>
            </a:endParaRPr>
          </a:p>
          <a:p>
            <a:pPr marL="457200" indent="-457200" algn="r" rtl="1">
              <a:lnSpc>
                <a:spcPct val="95000"/>
              </a:lnSpc>
              <a:buAutoNum type="arabicPeriod"/>
            </a:pPr>
            <a:r>
              <a:rPr lang="fa-IR" sz="2000" dirty="0">
                <a:latin typeface="Aptos" panose="020B0004020202020204" pitchFamily="34" charset="0"/>
                <a:cs typeface="B Nazanin" pitchFamily="2" charset="-78"/>
              </a:rPr>
              <a:t>عنوان</a:t>
            </a:r>
            <a:r>
              <a:rPr lang="fa-IR" sz="1900" dirty="0">
                <a:latin typeface="Aptos" panose="020B0004020202020204" pitchFamily="34" charset="0"/>
                <a:cs typeface="B Nazanin" pitchFamily="2" charset="-78"/>
              </a:rPr>
              <a:t> </a:t>
            </a:r>
            <a:r>
              <a:rPr lang="en-US" sz="1900" dirty="0">
                <a:latin typeface="Aptos" panose="020B0004020202020204" pitchFamily="34" charset="0"/>
                <a:cs typeface="Times New Roman" panose="02020603050405020304" pitchFamily="18" charset="0"/>
              </a:rPr>
              <a:t>(Title)</a:t>
            </a:r>
          </a:p>
          <a:p>
            <a:pPr marL="457200" indent="-457200" algn="r" rtl="1">
              <a:lnSpc>
                <a:spcPct val="95000"/>
              </a:lnSpc>
              <a:buAutoNum type="arabicPeriod"/>
            </a:pPr>
            <a:r>
              <a:rPr lang="fa-IR" sz="2000" dirty="0">
                <a:latin typeface="Aptos" panose="020B0004020202020204" pitchFamily="34" charset="0"/>
                <a:cs typeface="B Nazanin" pitchFamily="2" charset="-78"/>
              </a:rPr>
              <a:t>چکیده</a:t>
            </a:r>
            <a:r>
              <a:rPr lang="fa-IR" sz="1900" dirty="0">
                <a:latin typeface="Aptos" panose="020B0004020202020204" pitchFamily="34" charset="0"/>
                <a:cs typeface="B Nazanin" pitchFamily="2" charset="-78"/>
              </a:rPr>
              <a:t> </a:t>
            </a:r>
            <a:r>
              <a:rPr lang="en-US" sz="1900" dirty="0">
                <a:latin typeface="Aptos" panose="020B0004020202020204" pitchFamily="34" charset="0"/>
                <a:cs typeface="Times New Roman" panose="02020603050405020304" pitchFamily="18" charset="0"/>
              </a:rPr>
              <a:t>(Abstract)</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err="1">
                <a:latin typeface="Aptos" panose="020B0004020202020204" pitchFamily="34" charset="0"/>
                <a:cs typeface="B Nazanin" pitchFamily="2" charset="-78"/>
              </a:rPr>
              <a:t>کلیدواژه</a:t>
            </a:r>
            <a:r>
              <a:rPr lang="fa-IR" sz="2000" dirty="0">
                <a:latin typeface="Aptos" panose="020B0004020202020204" pitchFamily="34" charset="0"/>
                <a:cs typeface="B Nazanin" pitchFamily="2" charset="-78"/>
              </a:rPr>
              <a:t> ها </a:t>
            </a:r>
            <a:r>
              <a:rPr lang="en-US" sz="1900" dirty="0">
                <a:latin typeface="Aptos" panose="020B0004020202020204" pitchFamily="34" charset="0"/>
                <a:cs typeface="Times New Roman" panose="02020603050405020304" pitchFamily="18" charset="0"/>
              </a:rPr>
              <a:t>(Keywords)</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a:latin typeface="Aptos" panose="020B0004020202020204" pitchFamily="34" charset="0"/>
                <a:cs typeface="B Nazanin" pitchFamily="2" charset="-78"/>
              </a:rPr>
              <a:t>مقدمه</a:t>
            </a:r>
            <a:r>
              <a:rPr lang="fa-IR" sz="1900" dirty="0">
                <a:latin typeface="Aptos" panose="020B0004020202020204" pitchFamily="34" charset="0"/>
                <a:cs typeface="B Nazanin" pitchFamily="2" charset="-78"/>
              </a:rPr>
              <a:t> </a:t>
            </a:r>
            <a:r>
              <a:rPr lang="en-US" sz="1900" dirty="0">
                <a:latin typeface="Aptos" panose="020B0004020202020204" pitchFamily="34" charset="0"/>
                <a:cs typeface="Times New Roman" panose="02020603050405020304" pitchFamily="18" charset="0"/>
              </a:rPr>
              <a:t>(Introduction)</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a:latin typeface="Aptos" panose="020B0004020202020204" pitchFamily="34" charset="0"/>
                <a:cs typeface="B Nazanin" pitchFamily="2" charset="-78"/>
              </a:rPr>
              <a:t>مرور پیشینه تحقیق </a:t>
            </a:r>
            <a:r>
              <a:rPr lang="en-US" sz="1900" dirty="0">
                <a:latin typeface="Aptos" panose="020B0004020202020204" pitchFamily="34" charset="0"/>
                <a:cs typeface="Times New Roman" panose="02020603050405020304" pitchFamily="18" charset="0"/>
              </a:rPr>
              <a:t>(Literature Review)</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a:latin typeface="Aptos" panose="020B0004020202020204" pitchFamily="34" charset="0"/>
                <a:cs typeface="B Nazanin" pitchFamily="2" charset="-78"/>
              </a:rPr>
              <a:t>روش تحقیق </a:t>
            </a:r>
            <a:r>
              <a:rPr lang="en-US" sz="1900" dirty="0">
                <a:latin typeface="Aptos" panose="020B0004020202020204" pitchFamily="34" charset="0"/>
                <a:cs typeface="Times New Roman" panose="02020603050405020304" pitchFamily="18" charset="0"/>
              </a:rPr>
              <a:t>(Methodology / Materials &amp; Methods)</a:t>
            </a:r>
          </a:p>
          <a:p>
            <a:pPr marL="457200" indent="-457200" algn="r" rtl="1">
              <a:lnSpc>
                <a:spcPct val="95000"/>
              </a:lnSpc>
              <a:buAutoNum type="arabicPeriod"/>
            </a:pPr>
            <a:r>
              <a:rPr lang="fa-IR" sz="2000" dirty="0">
                <a:latin typeface="Aptos" panose="020B0004020202020204" pitchFamily="34" charset="0"/>
                <a:cs typeface="B Nazanin" pitchFamily="2" charset="-78"/>
              </a:rPr>
              <a:t>نتایج و بحث </a:t>
            </a:r>
            <a:r>
              <a:rPr lang="en-US" sz="1900" dirty="0">
                <a:latin typeface="Aptos" panose="020B0004020202020204" pitchFamily="34" charset="0"/>
                <a:cs typeface="Times New Roman" panose="02020603050405020304" pitchFamily="18" charset="0"/>
              </a:rPr>
              <a:t>(Results / Results &amp; Discussion)</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a:latin typeface="Aptos" panose="020B0004020202020204" pitchFamily="34" charset="0"/>
                <a:cs typeface="B Nazanin" pitchFamily="2" charset="-78"/>
              </a:rPr>
              <a:t>نتیجه گیری </a:t>
            </a:r>
            <a:r>
              <a:rPr lang="en-US" sz="1900" dirty="0">
                <a:latin typeface="Aptos" panose="020B0004020202020204" pitchFamily="34" charset="0"/>
                <a:cs typeface="Times New Roman" panose="02020603050405020304" pitchFamily="18" charset="0"/>
              </a:rPr>
              <a:t>(Conclusion)</a:t>
            </a:r>
            <a:endParaRPr lang="fa-IR" sz="1900" dirty="0">
              <a:latin typeface="Aptos" panose="020B0004020202020204" pitchFamily="34" charset="0"/>
              <a:cs typeface="Times New Roman" panose="02020603050405020304" pitchFamily="18" charset="0"/>
            </a:endParaRPr>
          </a:p>
          <a:p>
            <a:pPr marL="457200" indent="-457200" algn="r" rtl="1">
              <a:lnSpc>
                <a:spcPct val="95000"/>
              </a:lnSpc>
              <a:buAutoNum type="arabicPeriod"/>
            </a:pPr>
            <a:r>
              <a:rPr lang="fa-IR" sz="2000" dirty="0">
                <a:latin typeface="Aptos" panose="020B0004020202020204" pitchFamily="34" charset="0"/>
                <a:cs typeface="B Nazanin" pitchFamily="2" charset="-78"/>
              </a:rPr>
              <a:t>مراجع</a:t>
            </a:r>
            <a:r>
              <a:rPr lang="fa-IR" sz="1900" dirty="0">
                <a:latin typeface="Aptos" panose="020B0004020202020204" pitchFamily="34" charset="0"/>
                <a:cs typeface="B Nazanin" pitchFamily="2" charset="-78"/>
              </a:rPr>
              <a:t> </a:t>
            </a:r>
            <a:r>
              <a:rPr lang="en-US" sz="1900" dirty="0">
                <a:latin typeface="Aptos" panose="020B0004020202020204" pitchFamily="34" charset="0"/>
                <a:cs typeface="Times New Roman" panose="02020603050405020304" pitchFamily="18" charset="0"/>
              </a:rPr>
              <a:t>(References)</a:t>
            </a:r>
            <a:endParaRPr lang="fa-IR" sz="1900" dirty="0">
              <a:latin typeface="Aptos" panose="020B0004020202020204" pitchFamily="34" charset="0"/>
              <a:cs typeface="Times New Roman" panose="02020603050405020304" pitchFamily="18" charset="0"/>
            </a:endParaRPr>
          </a:p>
          <a:p>
            <a:pPr algn="r" rtl="1">
              <a:lnSpc>
                <a:spcPct val="95000"/>
              </a:lnSpc>
            </a:pPr>
            <a:endParaRPr lang="en-US" sz="2000" dirty="0">
              <a:latin typeface="B Nazanin" pitchFamily="2" charset="-78"/>
              <a:cs typeface="B Nazanin" pitchFamily="2" charset="-78"/>
            </a:endParaRPr>
          </a:p>
        </p:txBody>
      </p:sp>
      <p:pic>
        <p:nvPicPr>
          <p:cNvPr id="6" name="Picture 5" descr="A diagram of a pyramid&#10;&#10;AI-generated content may be incorrect.">
            <a:extLst>
              <a:ext uri="{FF2B5EF4-FFF2-40B4-BE49-F238E27FC236}">
                <a16:creationId xmlns:a16="http://schemas.microsoft.com/office/drawing/2014/main" id="{11BFADB9-7BDE-8C27-8C39-F5BE640F4247}"/>
              </a:ext>
            </a:extLst>
          </p:cNvPr>
          <p:cNvPicPr>
            <a:picLocks noChangeAspect="1"/>
          </p:cNvPicPr>
          <p:nvPr/>
        </p:nvPicPr>
        <p:blipFill>
          <a:blip r:embed="rId2">
            <a:extLst>
              <a:ext uri="{28A0092B-C50C-407E-A947-70E740481C1C}">
                <a14:useLocalDpi xmlns:a14="http://schemas.microsoft.com/office/drawing/2010/main" val="0"/>
              </a:ext>
            </a:extLst>
          </a:blip>
          <a:srcRect b="4193"/>
          <a:stretch>
            <a:fillRect/>
          </a:stretch>
        </p:blipFill>
        <p:spPr>
          <a:xfrm>
            <a:off x="989012" y="2110978"/>
            <a:ext cx="5105400" cy="3908822"/>
          </a:xfrm>
          <a:prstGeom prst="rect">
            <a:avLst/>
          </a:prstGeom>
        </p:spPr>
      </p:pic>
      <p:pic>
        <p:nvPicPr>
          <p:cNvPr id="5" name="Picture 4" descr="A white symbol with a black background">
            <a:extLst>
              <a:ext uri="{FF2B5EF4-FFF2-40B4-BE49-F238E27FC236}">
                <a16:creationId xmlns:a16="http://schemas.microsoft.com/office/drawing/2014/main" id="{5E367F56-82E2-EBAC-3389-0C2BCE390AA9}"/>
              </a:ext>
            </a:extLst>
          </p:cNvPr>
          <p:cNvPicPr>
            <a:picLocks noChangeAspect="1"/>
          </p:cNvPicPr>
          <p:nvPr/>
        </p:nvPicPr>
        <p:blipFill>
          <a:blip r:embed="rId3" cstate="print">
            <a:alphaModFix amt="12000"/>
            <a:extLst>
              <a:ext uri="{BEBA8EAE-BF5A-486C-A8C5-ECC9F3942E4B}">
                <a14:imgProps xmlns:a14="http://schemas.microsoft.com/office/drawing/2010/main">
                  <a14:imgLayer r:embed="rId4">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095617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70C4CA-D71F-163D-AF9D-89963BF14851}"/>
              </a:ext>
            </a:extLst>
          </p:cNvPr>
          <p:cNvSpPr>
            <a:spLocks noGrp="1"/>
          </p:cNvSpPr>
          <p:nvPr>
            <p:ph idx="1"/>
          </p:nvPr>
        </p:nvSpPr>
        <p:spPr>
          <a:xfrm>
            <a:off x="1370012" y="228600"/>
            <a:ext cx="10157354" cy="914400"/>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Times New Roman" panose="02020603050405020304" pitchFamily="18" charset="0"/>
                <a:cs typeface="Times New Roman" panose="02020603050405020304" pitchFamily="18" charset="0"/>
              </a:rPr>
              <a:t>۱. عنوان </a:t>
            </a:r>
            <a:r>
              <a:rPr lang="en-US" sz="5400" dirty="0">
                <a:solidFill>
                  <a:schemeClr val="accent2">
                    <a:lumMod val="50000"/>
                  </a:schemeClr>
                </a:solidFill>
                <a:latin typeface="Times New Roman" panose="02020603050405020304" pitchFamily="18" charset="0"/>
                <a:cs typeface="Times New Roman" panose="02020603050405020304" pitchFamily="18" charset="0"/>
              </a:rPr>
              <a:t>  (</a:t>
            </a:r>
            <a:r>
              <a:rPr lang="en-US" sz="5000" dirty="0">
                <a:solidFill>
                  <a:schemeClr val="accent2">
                    <a:lumMod val="50000"/>
                  </a:schemeClr>
                </a:solidFill>
                <a:latin typeface="Aptos" panose="020B0004020202020204" pitchFamily="34" charset="0"/>
                <a:cs typeface="Times New Roman" panose="02020603050405020304" pitchFamily="18" charset="0"/>
              </a:rPr>
              <a:t>Title</a:t>
            </a:r>
            <a:r>
              <a:rPr lang="en-US" sz="5400" dirty="0">
                <a:solidFill>
                  <a:schemeClr val="accent2">
                    <a:lumMod val="50000"/>
                  </a:schemeClr>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C0AEF46A-D6A8-587A-1223-1387752EF3EA}"/>
              </a:ext>
            </a:extLst>
          </p:cNvPr>
          <p:cNvSpPr txBox="1"/>
          <p:nvPr/>
        </p:nvSpPr>
        <p:spPr>
          <a:xfrm>
            <a:off x="531812" y="1371600"/>
            <a:ext cx="10995554" cy="4912883"/>
          </a:xfrm>
          <a:prstGeom prst="rect">
            <a:avLst/>
          </a:prstGeom>
          <a:noFill/>
        </p:spPr>
        <p:txBody>
          <a:bodyPr wrap="square" rtlCol="0">
            <a:spAutoFit/>
          </a:bodyPr>
          <a:lstStyle/>
          <a:p>
            <a:pPr algn="r">
              <a:lnSpc>
                <a:spcPct val="95000"/>
              </a:lnSpc>
            </a:pPr>
            <a:r>
              <a:rPr lang="fa-IR" sz="2000" dirty="0">
                <a:latin typeface="B Nazanin" panose="00000400000000000000" pitchFamily="2" charset="-78"/>
                <a:cs typeface="B Nazanin" pitchFamily="2" charset="-78"/>
              </a:rPr>
              <a:t>عنوان مقاله علمی اولین چیزی است که خواننده، داور یا پژوهشگر با آن مواجه </a:t>
            </a:r>
            <a:r>
              <a:rPr lang="fa-IR" sz="2000" dirty="0" err="1">
                <a:latin typeface="B Nazanin" panose="00000400000000000000" pitchFamily="2" charset="-78"/>
                <a:cs typeface="B Nazanin" pitchFamily="2" charset="-78"/>
              </a:rPr>
              <a:t>می‌شود</a:t>
            </a:r>
            <a:r>
              <a:rPr lang="fa-IR" sz="2000" dirty="0">
                <a:latin typeface="B Nazanin" panose="00000400000000000000" pitchFamily="2" charset="-78"/>
                <a:cs typeface="B Nazanin" pitchFamily="2" charset="-78"/>
              </a:rPr>
              <a:t>. در واقع ویترین مقاله است و باید هم جذاب باشد و هم دقیق.</a:t>
            </a:r>
          </a:p>
          <a:p>
            <a:pPr marL="0" algn="r" defTabSz="1218987" rtl="0" eaLnBrk="1" latinLnBrk="0" hangingPunct="1">
              <a:lnSpc>
                <a:spcPct val="95000"/>
              </a:lnSpc>
            </a:pPr>
            <a:endParaRPr lang="en-US" sz="2000" dirty="0">
              <a:latin typeface="B Nazanin" panose="00000400000000000000" pitchFamily="2" charset="-78"/>
              <a:cs typeface="B Nazanin" pitchFamily="2" charset="-78"/>
            </a:endParaRPr>
          </a:p>
          <a:p>
            <a:pPr marL="0" algn="r" defTabSz="1218987" rtl="0" eaLnBrk="1" latinLnBrk="0" hangingPunct="1">
              <a:lnSpc>
                <a:spcPct val="95000"/>
              </a:lnSpc>
            </a:pPr>
            <a:r>
              <a:rPr lang="fa-IR" sz="2000" dirty="0">
                <a:latin typeface="B Nazanin" pitchFamily="2" charset="-78"/>
                <a:cs typeface="B Nazanin" pitchFamily="2" charset="-78"/>
              </a:rPr>
              <a:t>ویژگی های یک عنوان مناسب:</a:t>
            </a:r>
          </a:p>
          <a:p>
            <a:pPr marL="342900" indent="-342900" algn="r" rtl="1">
              <a:buFont typeface="Arial" panose="020B0604020202020204" pitchFamily="34" charset="0"/>
              <a:buChar char="•"/>
            </a:pPr>
            <a:r>
              <a:rPr lang="fa-IR" sz="2000" dirty="0">
                <a:latin typeface="B Nazanin" pitchFamily="2" charset="-78"/>
                <a:cs typeface="B Nazanin" pitchFamily="2" charset="-78"/>
              </a:rPr>
              <a:t>شفافیت و دقت: باید دقیقاً موضوع پژوهش را بیان کند، بدون ابهام.</a:t>
            </a:r>
          </a:p>
          <a:p>
            <a:pPr marL="342900" indent="-342900" algn="r" rtl="1">
              <a:buFont typeface="Arial" panose="020B0604020202020204" pitchFamily="34" charset="0"/>
              <a:buChar char="•"/>
            </a:pPr>
            <a:r>
              <a:rPr lang="fa-IR" sz="2000" dirty="0">
                <a:latin typeface="B Nazanin" pitchFamily="2" charset="-78"/>
                <a:cs typeface="B Nazanin" pitchFamily="2" charset="-78"/>
              </a:rPr>
              <a:t>اختصار: نه خیلی طولانی و نه خیلی کوتاه؛ معمولاً بین 10 تا 15 کلمه مناسب است.</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کلیدواژه‌ها</a:t>
            </a:r>
            <a:r>
              <a:rPr lang="fa-IR" sz="2000" dirty="0">
                <a:latin typeface="B Nazanin" panose="00000400000000000000" pitchFamily="2" charset="-78"/>
                <a:cs typeface="B Nazanin" pitchFamily="2" charset="-78"/>
              </a:rPr>
              <a:t>: استفاده از واژگان کلیدی مرتبط باعث </a:t>
            </a:r>
            <a:r>
              <a:rPr lang="fa-IR" sz="2000" dirty="0" err="1">
                <a:latin typeface="B Nazanin" panose="00000400000000000000" pitchFamily="2" charset="-78"/>
                <a:cs typeface="B Nazanin" pitchFamily="2" charset="-78"/>
              </a:rPr>
              <a:t>می‌شود</a:t>
            </a:r>
            <a:r>
              <a:rPr lang="fa-IR" sz="2000" dirty="0">
                <a:latin typeface="B Nazanin" panose="00000400000000000000" pitchFamily="2" charset="-78"/>
                <a:cs typeface="B Nazanin" pitchFamily="2" charset="-78"/>
              </a:rPr>
              <a:t> مقاله در </a:t>
            </a:r>
            <a:r>
              <a:rPr lang="fa-IR" sz="2000" dirty="0" err="1">
                <a:latin typeface="B Nazanin" panose="00000400000000000000" pitchFamily="2" charset="-78"/>
                <a:cs typeface="B Nazanin" pitchFamily="2" charset="-78"/>
              </a:rPr>
              <a:t>موتورهای</a:t>
            </a:r>
            <a:r>
              <a:rPr lang="fa-IR" sz="2000" dirty="0">
                <a:latin typeface="B Nazanin" pitchFamily="2" charset="-78"/>
                <a:cs typeface="B Nazanin" pitchFamily="2" charset="-78"/>
              </a:rPr>
              <a:t> جستجو بهتر دیده شود.</a:t>
            </a:r>
          </a:p>
          <a:p>
            <a:pPr marL="342900" indent="-342900" algn="r" rtl="1">
              <a:buFont typeface="Arial" panose="020B0604020202020204" pitchFamily="34" charset="0"/>
              <a:buChar char="•"/>
            </a:pPr>
            <a:r>
              <a:rPr lang="fa-IR" sz="2000" dirty="0">
                <a:latin typeface="B Nazanin" pitchFamily="2" charset="-78"/>
                <a:cs typeface="B Nazanin" pitchFamily="2" charset="-78"/>
              </a:rPr>
              <a:t>جذابیت: باید توجه خواننده را جلب کند، اما از اغراق یا </a:t>
            </a:r>
            <a:r>
              <a:rPr lang="fa-IR" sz="2000" dirty="0" err="1">
                <a:latin typeface="B Nazanin" panose="00000400000000000000" pitchFamily="2" charset="-78"/>
                <a:cs typeface="B Nazanin" pitchFamily="2" charset="-78"/>
              </a:rPr>
              <a:t>کلی‌گویی</a:t>
            </a:r>
            <a:r>
              <a:rPr lang="fa-IR" sz="2000" dirty="0">
                <a:latin typeface="B Nazanin" pitchFamily="2" charset="-78"/>
                <a:cs typeface="B Nazanin" pitchFamily="2" charset="-78"/>
              </a:rPr>
              <a:t> پرهیز شود.</a:t>
            </a:r>
          </a:p>
          <a:p>
            <a:pPr marL="342900" indent="-342900" algn="r" rtl="1">
              <a:buFont typeface="Arial" panose="020B0604020202020204" pitchFamily="34" charset="0"/>
              <a:buChar char="•"/>
            </a:pPr>
            <a:r>
              <a:rPr lang="fa-IR" sz="2000" dirty="0">
                <a:latin typeface="B Nazanin" pitchFamily="2" charset="-78"/>
                <a:cs typeface="B Nazanin" pitchFamily="2" charset="-78"/>
              </a:rPr>
              <a:t>ساختار استاندارد: بسیاری از مجلات علمی ترجیح </a:t>
            </a:r>
            <a:r>
              <a:rPr lang="fa-IR" sz="2000" dirty="0" err="1">
                <a:latin typeface="B Nazanin" panose="00000400000000000000" pitchFamily="2" charset="-78"/>
                <a:cs typeface="B Nazanin" pitchFamily="2" charset="-78"/>
              </a:rPr>
              <a:t>می‌دهند</a:t>
            </a:r>
            <a:r>
              <a:rPr lang="fa-IR" sz="2000" dirty="0">
                <a:latin typeface="B Nazanin" pitchFamily="2" charset="-78"/>
                <a:cs typeface="B Nazanin" pitchFamily="2" charset="-78"/>
              </a:rPr>
              <a:t> عنوان شامل متغیر اصلی، جامعه مورد مطالعه و روش تحقیق باشد.</a:t>
            </a:r>
          </a:p>
          <a:p>
            <a:pPr marL="0" algn="r" defTabSz="1218987" rtl="0" eaLnBrk="1" latinLnBrk="0" hangingPunct="1">
              <a:lnSpc>
                <a:spcPct val="95000"/>
              </a:lnSpc>
            </a:pPr>
            <a:endParaRPr lang="fa-IR" sz="2000" dirty="0">
              <a:latin typeface="B Nazanin" pitchFamily="2" charset="-78"/>
              <a:cs typeface="B Nazanin" pitchFamily="2" charset="-78"/>
            </a:endParaRPr>
          </a:p>
          <a:p>
            <a:pPr marL="0" algn="r" defTabSz="1218987" rtl="0" eaLnBrk="1" latinLnBrk="0" hangingPunct="1">
              <a:lnSpc>
                <a:spcPct val="95000"/>
              </a:lnSpc>
            </a:pPr>
            <a:r>
              <a:rPr lang="fa-IR" sz="2000" dirty="0">
                <a:latin typeface="B Nazanin" pitchFamily="2" charset="-78"/>
                <a:cs typeface="B Nazanin" pitchFamily="2" charset="-78"/>
              </a:rPr>
              <a:t>نکات مهم انتخاب عنوان:</a:t>
            </a:r>
          </a:p>
          <a:p>
            <a:pPr marL="342900" indent="-342900" algn="r" rtl="1">
              <a:buFont typeface="Arial" panose="020B0604020202020204" pitchFamily="34" charset="0"/>
              <a:buChar char="•"/>
            </a:pPr>
            <a:r>
              <a:rPr lang="fa-IR" sz="2000" dirty="0">
                <a:latin typeface="B Nazanin" pitchFamily="2" charset="-78"/>
                <a:cs typeface="B Nazanin" pitchFamily="2" charset="-78"/>
              </a:rPr>
              <a:t>از اصطلاحات تخصصی بیش از حد یا اختصارات ناشناخته پرهیز کنید.</a:t>
            </a:r>
          </a:p>
          <a:p>
            <a:pPr marL="342900" indent="-342900" algn="r" rtl="1">
              <a:buFont typeface="Arial" panose="020B0604020202020204" pitchFamily="34" charset="0"/>
              <a:buChar char="•"/>
            </a:pPr>
            <a:r>
              <a:rPr lang="fa-IR" sz="2000" dirty="0">
                <a:latin typeface="B Nazanin" pitchFamily="2" charset="-78"/>
                <a:cs typeface="B Nazanin" pitchFamily="2" charset="-78"/>
              </a:rPr>
              <a:t>از </a:t>
            </a:r>
            <a:r>
              <a:rPr lang="fa-IR" sz="2000" dirty="0" err="1">
                <a:latin typeface="B Nazanin" panose="00000400000000000000" pitchFamily="2" charset="-78"/>
                <a:cs typeface="B Nazanin" pitchFamily="2" charset="-78"/>
              </a:rPr>
              <a:t>واژه‌های</a:t>
            </a:r>
            <a:r>
              <a:rPr lang="fa-IR" sz="2000" dirty="0">
                <a:latin typeface="B Nazanin" pitchFamily="2" charset="-78"/>
                <a:cs typeface="B Nazanin" pitchFamily="2" charset="-78"/>
              </a:rPr>
              <a:t> عمومی مثل "بررسی"، "مطالعه" بدون توضیح کافی استفاده نکنید.</a:t>
            </a:r>
          </a:p>
          <a:p>
            <a:pPr marL="342900" indent="-342900" algn="r" rtl="1">
              <a:buFont typeface="Arial" panose="020B0604020202020204" pitchFamily="34" charset="0"/>
              <a:buChar char="•"/>
            </a:pPr>
            <a:r>
              <a:rPr lang="fa-IR" sz="2000" dirty="0">
                <a:latin typeface="B Nazanin" pitchFamily="2" charset="-78"/>
                <a:cs typeface="B Nazanin" pitchFamily="2" charset="-78"/>
              </a:rPr>
              <a:t>اگر پژوهش محدود به مکان یا زمان خاصی است، ذکر آن در عنوان مفید است.</a:t>
            </a:r>
          </a:p>
          <a:p>
            <a:pPr marL="342900" indent="-342900" algn="r" rtl="1">
              <a:buFont typeface="Arial" panose="020B0604020202020204" pitchFamily="34" charset="0"/>
              <a:buChar char="•"/>
            </a:pPr>
            <a:r>
              <a:rPr lang="fa-IR" sz="2000" dirty="0">
                <a:latin typeface="B Nazanin" pitchFamily="2" charset="-78"/>
                <a:cs typeface="B Nazanin" pitchFamily="2" charset="-78"/>
              </a:rPr>
              <a:t>عنوان باید با محتوای مقاله کاملاً هماهنگ باشد؛ نه کمتر و نه بیشتر.</a:t>
            </a:r>
          </a:p>
          <a:p>
            <a:pPr marL="0" algn="r" defTabSz="1218987" rtl="0" eaLnBrk="1" latinLnBrk="0" hangingPunct="1">
              <a:lnSpc>
                <a:spcPct val="95000"/>
              </a:lnSpc>
            </a:pPr>
            <a:endParaRPr lang="en-US" sz="2000" dirty="0">
              <a:latin typeface="B Nazanin" pitchFamily="2" charset="-78"/>
              <a:cs typeface="B Nazanin" pitchFamily="2" charset="-78"/>
            </a:endParaRPr>
          </a:p>
        </p:txBody>
      </p:sp>
      <p:pic>
        <p:nvPicPr>
          <p:cNvPr id="5" name="Picture 4" descr="A white symbol with a black background">
            <a:extLst>
              <a:ext uri="{FF2B5EF4-FFF2-40B4-BE49-F238E27FC236}">
                <a16:creationId xmlns:a16="http://schemas.microsoft.com/office/drawing/2014/main" id="{A329948B-A861-A4F7-55A6-BF0622C0DF5F}"/>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74854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5FB80B-B0DE-EAFB-C11E-35486794CC3C}"/>
              </a:ext>
            </a:extLst>
          </p:cNvPr>
          <p:cNvSpPr>
            <a:spLocks noGrp="1"/>
          </p:cNvSpPr>
          <p:nvPr>
            <p:ph idx="1"/>
          </p:nvPr>
        </p:nvSpPr>
        <p:spPr>
          <a:xfrm>
            <a:off x="1446212" y="152400"/>
            <a:ext cx="10157354" cy="838200"/>
          </a:xfrm>
        </p:spPr>
        <p:txBody>
          <a:bodyPr>
            <a:no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Times New Roman" panose="02020603050405020304" pitchFamily="18" charset="0"/>
                <a:cs typeface="B Nazanin" pitchFamily="2" charset="-78"/>
              </a:rPr>
              <a:t>2</a:t>
            </a:r>
            <a:r>
              <a:rPr lang="en-US" sz="5400" dirty="0">
                <a:solidFill>
                  <a:schemeClr val="accent2">
                    <a:lumMod val="50000"/>
                  </a:schemeClr>
                </a:solidFill>
                <a:latin typeface="Times New Roman" panose="02020603050405020304" pitchFamily="18" charset="0"/>
                <a:cs typeface="B Nazanin" pitchFamily="2" charset="-78"/>
              </a:rPr>
              <a:t> .</a:t>
            </a:r>
            <a:r>
              <a:rPr lang="fa-IR" sz="5400" dirty="0">
                <a:solidFill>
                  <a:schemeClr val="accent2">
                    <a:lumMod val="50000"/>
                  </a:schemeClr>
                </a:solidFill>
                <a:latin typeface="Times New Roman" panose="02020603050405020304" pitchFamily="18" charset="0"/>
                <a:cs typeface="Times New Roman" panose="02020603050405020304" pitchFamily="18" charset="0"/>
              </a:rPr>
              <a:t>چکیده</a:t>
            </a:r>
            <a:r>
              <a:rPr lang="en-US" sz="5400" dirty="0">
                <a:solidFill>
                  <a:schemeClr val="accent2">
                    <a:lumMod val="50000"/>
                  </a:schemeClr>
                </a:solidFill>
                <a:latin typeface="Times New Roman" panose="02020603050405020304" pitchFamily="18" charset="0"/>
                <a:cs typeface="B Nazanin" pitchFamily="2" charset="-78"/>
              </a:rPr>
              <a:t> </a:t>
            </a:r>
            <a:r>
              <a:rPr lang="en-US" sz="4800" dirty="0">
                <a:solidFill>
                  <a:schemeClr val="accent2">
                    <a:lumMod val="50000"/>
                  </a:schemeClr>
                </a:solidFill>
                <a:latin typeface="B Nazanin" pitchFamily="2" charset="-78"/>
                <a:cs typeface="B Nazanin" pitchFamily="2" charset="-78"/>
              </a:rPr>
              <a:t>(</a:t>
            </a:r>
            <a:r>
              <a:rPr lang="en-US" sz="4800" dirty="0">
                <a:solidFill>
                  <a:schemeClr val="accent2">
                    <a:lumMod val="50000"/>
                  </a:schemeClr>
                </a:solidFill>
                <a:latin typeface="Aptos" panose="020B0004020202020204" pitchFamily="34" charset="0"/>
                <a:cs typeface="B Nazanin" pitchFamily="2" charset="-78"/>
              </a:rPr>
              <a:t>Abstract</a:t>
            </a:r>
            <a:r>
              <a:rPr lang="en-US" sz="4800" dirty="0">
                <a:solidFill>
                  <a:schemeClr val="accent2">
                    <a:lumMod val="50000"/>
                  </a:schemeClr>
                </a:solidFill>
                <a:latin typeface="B Nazanin" pitchFamily="2" charset="-78"/>
                <a:cs typeface="B Nazanin" pitchFamily="2" charset="-78"/>
              </a:rPr>
              <a:t>) </a:t>
            </a:r>
          </a:p>
        </p:txBody>
      </p:sp>
      <p:sp>
        <p:nvSpPr>
          <p:cNvPr id="3" name="TextBox 2">
            <a:extLst>
              <a:ext uri="{FF2B5EF4-FFF2-40B4-BE49-F238E27FC236}">
                <a16:creationId xmlns:a16="http://schemas.microsoft.com/office/drawing/2014/main" id="{BD544094-65F4-2D66-55B1-4339D2CAF654}"/>
              </a:ext>
            </a:extLst>
          </p:cNvPr>
          <p:cNvSpPr txBox="1"/>
          <p:nvPr/>
        </p:nvSpPr>
        <p:spPr>
          <a:xfrm>
            <a:off x="569912" y="1295400"/>
            <a:ext cx="11049000" cy="5543825"/>
          </a:xfrm>
          <a:prstGeom prst="rect">
            <a:avLst/>
          </a:prstGeom>
          <a:noFill/>
        </p:spPr>
        <p:txBody>
          <a:bodyPr wrap="square" rtlCol="0">
            <a:spAutoFit/>
          </a:bodyPr>
          <a:lstStyle/>
          <a:p>
            <a:pPr algn="r" rtl="1">
              <a:lnSpc>
                <a:spcPct val="95000"/>
              </a:lnSpc>
            </a:pPr>
            <a:r>
              <a:rPr lang="fa-IR" sz="2000" dirty="0">
                <a:latin typeface="B Nazanin" panose="00000400000000000000" pitchFamily="2" charset="-78"/>
                <a:cs typeface="B Nazanin" pitchFamily="2" charset="-78"/>
              </a:rPr>
              <a:t>چکیده </a:t>
            </a:r>
            <a:r>
              <a:rPr lang="en-US" sz="2000" dirty="0">
                <a:latin typeface="B Nazanin" panose="00000400000000000000" pitchFamily="2" charset="-78"/>
                <a:cs typeface="B Nazanin" pitchFamily="2" charset="-78"/>
              </a:rPr>
              <a:t> (</a:t>
            </a:r>
            <a:r>
              <a:rPr lang="en-US" sz="1900" dirty="0">
                <a:latin typeface="Aptos" panose="020B0004020202020204" pitchFamily="34" charset="0"/>
                <a:cs typeface="B Nazanin" pitchFamily="2" charset="-78"/>
              </a:rPr>
              <a:t>Abstract</a:t>
            </a:r>
            <a:r>
              <a:rPr lang="en-US" sz="2000" dirty="0">
                <a:latin typeface="B Nazanin" panose="00000400000000000000" pitchFamily="2" charset="-78"/>
                <a:cs typeface="B Nazanin" pitchFamily="2" charset="-78"/>
              </a:rPr>
              <a:t>)</a:t>
            </a:r>
            <a:r>
              <a:rPr lang="fa-IR" sz="2000" dirty="0">
                <a:latin typeface="B Nazanin" panose="00000400000000000000" pitchFamily="2" charset="-78"/>
                <a:cs typeface="B Nazanin" pitchFamily="2" charset="-78"/>
              </a:rPr>
              <a:t>بخش بسیار مهمی از مقاله علمی است؛ چون معمولاً اولین و گاهی تنها بخشی است که خواننده یا داور مطالعه </a:t>
            </a:r>
            <a:r>
              <a:rPr lang="fa-IR" sz="2000" dirty="0" err="1">
                <a:latin typeface="B Nazanin" panose="00000400000000000000" pitchFamily="2" charset="-78"/>
                <a:cs typeface="B Nazanin" pitchFamily="2" charset="-78"/>
              </a:rPr>
              <a:t>می‌کند</a:t>
            </a:r>
            <a:r>
              <a:rPr lang="fa-IR" sz="2000" dirty="0">
                <a:latin typeface="B Nazanin" panose="00000400000000000000" pitchFamily="2" charset="-78"/>
                <a:cs typeface="B Nazanin" pitchFamily="2" charset="-78"/>
              </a:rPr>
              <a:t> تا تصمیم بگیرد مقاله ارزش خواندن کامل را دارد یا نه.</a:t>
            </a:r>
          </a:p>
          <a:p>
            <a:pPr algn="r" rtl="1">
              <a:lnSpc>
                <a:spcPct val="95000"/>
              </a:lnSpc>
            </a:pPr>
            <a:endParaRPr lang="en-US" sz="2000" dirty="0">
              <a:latin typeface="B Nazanin" panose="00000400000000000000" pitchFamily="2" charset="-78"/>
              <a:cs typeface="B Nazanin" pitchFamily="2" charset="-78"/>
            </a:endParaRPr>
          </a:p>
          <a:p>
            <a:pPr algn="r" rtl="1">
              <a:lnSpc>
                <a:spcPct val="95000"/>
              </a:lnSpc>
            </a:pPr>
            <a:r>
              <a:rPr lang="fa-IR" sz="2000" dirty="0">
                <a:latin typeface="B Nazanin" pitchFamily="2" charset="-78"/>
                <a:cs typeface="B Nazanin" pitchFamily="2" charset="-78"/>
              </a:rPr>
              <a:t>ویژگی های یک چکیده مناسب:</a:t>
            </a:r>
          </a:p>
          <a:p>
            <a:pPr algn="r" rtl="1">
              <a:lnSpc>
                <a:spcPct val="95000"/>
              </a:lnSpc>
            </a:pPr>
            <a:endParaRPr lang="fa-IR" sz="2000" dirty="0">
              <a:latin typeface="B Nazanin" pitchFamily="2" charset="-78"/>
              <a:cs typeface="B Nazanin" pitchFamily="2" charset="-78"/>
            </a:endParaRP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خلاصه‌سازی</a:t>
            </a:r>
            <a:r>
              <a:rPr lang="fa-IR" sz="2000" dirty="0">
                <a:latin typeface="B Nazanin" panose="00000400000000000000" pitchFamily="2" charset="-78"/>
                <a:cs typeface="B Nazanin" pitchFamily="2" charset="-78"/>
              </a:rPr>
              <a:t> کامل: باید کل مقاله را در چند پاراگراف کوتاه (معمولاً 150 تا 250 کلمه) </a:t>
            </a:r>
            <a:r>
              <a:rPr lang="fa-IR" sz="2000" dirty="0" err="1">
                <a:latin typeface="B Nazanin" panose="00000400000000000000" pitchFamily="2" charset="-78"/>
                <a:cs typeface="B Nazanin" pitchFamily="2" charset="-78"/>
              </a:rPr>
              <a:t>جمع‌بندی</a:t>
            </a:r>
            <a:r>
              <a:rPr lang="fa-IR" sz="2000" dirty="0">
                <a:latin typeface="B Nazanin" pitchFamily="2" charset="-78"/>
                <a:cs typeface="B Nazanin" pitchFamily="2" charset="-78"/>
              </a:rPr>
              <a:t> کند.</a:t>
            </a:r>
          </a:p>
          <a:p>
            <a:pPr marL="342900" indent="-342900" algn="r" rtl="1">
              <a:buFont typeface="Arial" panose="020B0604020202020204" pitchFamily="34" charset="0"/>
              <a:buChar char="•"/>
            </a:pPr>
            <a:r>
              <a:rPr lang="fa-IR" sz="2000" dirty="0">
                <a:latin typeface="B Nazanin" pitchFamily="2" charset="-78"/>
                <a:cs typeface="B Nazanin" pitchFamily="2" charset="-78"/>
              </a:rPr>
              <a:t>ساختار مشخص: شامل هدف پژوهش، روش، نتایج اصلی و </a:t>
            </a:r>
            <a:r>
              <a:rPr lang="fa-IR" sz="2000" dirty="0" err="1">
                <a:latin typeface="B Nazanin" panose="00000400000000000000" pitchFamily="2" charset="-78"/>
                <a:cs typeface="B Nazanin" pitchFamily="2" charset="-78"/>
              </a:rPr>
              <a:t>نتیجه‌گیری</a:t>
            </a:r>
            <a:r>
              <a:rPr lang="fa-IR" sz="2000" dirty="0">
                <a:latin typeface="B Nazanin" pitchFamily="2" charset="-78"/>
                <a:cs typeface="B Nazanin" pitchFamily="2" charset="-78"/>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بیان مستقل: باید بدون نیاز به خواندن متن اصلی قابل فهم باشد.</a:t>
            </a:r>
          </a:p>
          <a:p>
            <a:pPr marL="342900" indent="-342900" algn="r" rtl="1">
              <a:buFont typeface="Arial" panose="020B0604020202020204" pitchFamily="34" charset="0"/>
              <a:buChar char="•"/>
            </a:pPr>
            <a:r>
              <a:rPr lang="fa-IR" sz="2000" dirty="0">
                <a:latin typeface="B Nazanin" pitchFamily="2" charset="-78"/>
                <a:cs typeface="B Nazanin" pitchFamily="2" charset="-78"/>
              </a:rPr>
              <a:t>دقت و وضوح: از </a:t>
            </a:r>
            <a:r>
              <a:rPr lang="fa-IR" sz="2000" dirty="0" err="1">
                <a:latin typeface="B Nazanin" panose="00000400000000000000" pitchFamily="2" charset="-78"/>
                <a:cs typeface="B Nazanin" pitchFamily="2" charset="-78"/>
              </a:rPr>
              <a:t>کلی‌گویی</a:t>
            </a:r>
            <a:r>
              <a:rPr lang="fa-IR" sz="2000" dirty="0">
                <a:latin typeface="B Nazanin" panose="00000400000000000000" pitchFamily="2" charset="-78"/>
                <a:cs typeface="B Nazanin" pitchFamily="2" charset="-78"/>
              </a:rPr>
              <a:t> یا جملات مبهم پرهیز شود.</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کلیدواژه‌ها</a:t>
            </a:r>
            <a:r>
              <a:rPr lang="fa-IR" sz="2000" dirty="0">
                <a:latin typeface="B Nazanin" panose="00000400000000000000" pitchFamily="2" charset="-78"/>
                <a:cs typeface="B Nazanin" pitchFamily="2" charset="-78"/>
              </a:rPr>
              <a:t>: معمولاً بعد از چکیده چند واژه کلیدی ذکر </a:t>
            </a:r>
            <a:r>
              <a:rPr lang="fa-IR" sz="2000" dirty="0" err="1">
                <a:latin typeface="B Nazanin" panose="00000400000000000000" pitchFamily="2" charset="-78"/>
                <a:cs typeface="B Nazanin" pitchFamily="2" charset="-78"/>
              </a:rPr>
              <a:t>می‌شود</a:t>
            </a:r>
            <a:r>
              <a:rPr lang="fa-IR" sz="2000" dirty="0">
                <a:latin typeface="B Nazanin" panose="00000400000000000000" pitchFamily="2" charset="-78"/>
                <a:cs typeface="B Nazanin" pitchFamily="2" charset="-78"/>
              </a:rPr>
              <a:t> تا مقاله در </a:t>
            </a:r>
            <a:r>
              <a:rPr lang="fa-IR" sz="2000" dirty="0" err="1">
                <a:latin typeface="B Nazanin" panose="00000400000000000000" pitchFamily="2" charset="-78"/>
                <a:cs typeface="B Nazanin" pitchFamily="2" charset="-78"/>
              </a:rPr>
              <a:t>پایگاه‌های</a:t>
            </a:r>
            <a:r>
              <a:rPr lang="fa-IR" sz="2000" dirty="0">
                <a:latin typeface="B Nazanin" pitchFamily="2" charset="-78"/>
                <a:cs typeface="B Nazanin" pitchFamily="2" charset="-78"/>
              </a:rPr>
              <a:t> علمی بهتر جستجو شود.</a:t>
            </a:r>
          </a:p>
          <a:p>
            <a:pPr marL="342900" indent="-342900" algn="r" rtl="1">
              <a:buFont typeface="Arial" panose="020B0604020202020204" pitchFamily="34" charset="0"/>
              <a:buChar char="•"/>
            </a:pP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اجزای اصلی چکیده:</a:t>
            </a:r>
          </a:p>
          <a:p>
            <a:pPr marL="342900" indent="-342900" algn="r" rtl="1">
              <a:buFont typeface="Arial" panose="020B0604020202020204" pitchFamily="34" charset="0"/>
              <a:buChar char="•"/>
            </a:pPr>
            <a:r>
              <a:rPr lang="fa-IR" sz="2000" dirty="0">
                <a:latin typeface="B Nazanin" pitchFamily="2" charset="-78"/>
                <a:cs typeface="B Nazanin" pitchFamily="2" charset="-78"/>
              </a:rPr>
              <a:t>زمینه و هدف: چرا این پژوهش انجام شد؟</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روش‌ها</a:t>
            </a:r>
            <a:r>
              <a:rPr lang="fa-IR" sz="2000" dirty="0">
                <a:latin typeface="B Nazanin" panose="00000400000000000000" pitchFamily="2" charset="-78"/>
                <a:cs typeface="B Nazanin" pitchFamily="2" charset="-78"/>
              </a:rPr>
              <a:t>: چه رویکرد یا ابزارهایی استفاده شد؟</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یافته‌ها</a:t>
            </a:r>
            <a:r>
              <a:rPr lang="fa-IR" sz="2000" dirty="0">
                <a:latin typeface="B Nazanin" panose="00000400000000000000" pitchFamily="2" charset="-78"/>
                <a:cs typeface="B Nazanin" pitchFamily="2" charset="-78"/>
              </a:rPr>
              <a:t>: </a:t>
            </a:r>
            <a:r>
              <a:rPr lang="fa-IR" sz="2000" dirty="0" err="1">
                <a:latin typeface="B Nazanin" panose="00000400000000000000" pitchFamily="2" charset="-78"/>
                <a:cs typeface="B Nazanin" pitchFamily="2" charset="-78"/>
              </a:rPr>
              <a:t>مهم‌ترین</a:t>
            </a:r>
            <a:r>
              <a:rPr lang="fa-IR" sz="2000" dirty="0">
                <a:latin typeface="B Nazanin" panose="00000400000000000000" pitchFamily="2" charset="-78"/>
                <a:cs typeface="B Nazanin" pitchFamily="2" charset="-78"/>
              </a:rPr>
              <a:t> نتایج </a:t>
            </a:r>
            <a:r>
              <a:rPr lang="fa-IR" sz="2000" dirty="0" err="1">
                <a:latin typeface="B Nazanin" panose="00000400000000000000" pitchFamily="2" charset="-78"/>
                <a:cs typeface="B Nazanin" pitchFamily="2" charset="-78"/>
              </a:rPr>
              <a:t>به‌طور</a:t>
            </a:r>
            <a:r>
              <a:rPr lang="fa-IR" sz="2000" dirty="0">
                <a:latin typeface="B Nazanin" panose="00000400000000000000" pitchFamily="2" charset="-78"/>
                <a:cs typeface="B Nazanin" pitchFamily="2" charset="-78"/>
              </a:rPr>
              <a:t> خلاصه.</a:t>
            </a:r>
          </a:p>
          <a:p>
            <a:pPr marL="342900" indent="-342900" algn="r" rtl="1">
              <a:buFont typeface="Arial" panose="020B0604020202020204" pitchFamily="34" charset="0"/>
              <a:buChar char="•"/>
            </a:pPr>
            <a:r>
              <a:rPr lang="fa-IR" sz="2000" dirty="0" err="1">
                <a:latin typeface="B Nazanin" panose="00000400000000000000" pitchFamily="2" charset="-78"/>
                <a:cs typeface="B Nazanin" pitchFamily="2" charset="-78"/>
              </a:rPr>
              <a:t>نتیجه‌گیری</a:t>
            </a:r>
            <a:r>
              <a:rPr lang="fa-IR" sz="2000" dirty="0">
                <a:latin typeface="B Nazanin" pitchFamily="2" charset="-78"/>
                <a:cs typeface="B Nazanin" pitchFamily="2" charset="-78"/>
              </a:rPr>
              <a:t>: پیام اصلی یا کاربرد نتایج.</a:t>
            </a:r>
          </a:p>
          <a:p>
            <a:pPr algn="r" rtl="1"/>
            <a:endParaRPr lang="fa-IR" sz="2000" dirty="0">
              <a:latin typeface="B Nazanin" pitchFamily="2" charset="-78"/>
              <a:cs typeface="B Nazanin" pitchFamily="2" charset="-78"/>
            </a:endParaRPr>
          </a:p>
          <a:p>
            <a:pPr algn="r" rtl="1">
              <a:lnSpc>
                <a:spcPct val="95000"/>
              </a:lnSpc>
            </a:pPr>
            <a:endParaRPr lang="en-US" sz="2000" dirty="0">
              <a:latin typeface="B Nazanin" pitchFamily="2" charset="-78"/>
              <a:cs typeface="B Nazanin" pitchFamily="2" charset="-78"/>
            </a:endParaRPr>
          </a:p>
        </p:txBody>
      </p:sp>
      <p:pic>
        <p:nvPicPr>
          <p:cNvPr id="5" name="Picture 4" descr="A white symbol with a black background">
            <a:extLst>
              <a:ext uri="{FF2B5EF4-FFF2-40B4-BE49-F238E27FC236}">
                <a16:creationId xmlns:a16="http://schemas.microsoft.com/office/drawing/2014/main" id="{F728725B-B1F3-B7E4-A5B5-5F4A195C042C}"/>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224034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CFC7A8-4541-BD64-E47D-72C0B71AB4C7}"/>
              </a:ext>
            </a:extLst>
          </p:cNvPr>
          <p:cNvSpPr>
            <a:spLocks noGrp="1"/>
          </p:cNvSpPr>
          <p:nvPr>
            <p:ph idx="1"/>
          </p:nvPr>
        </p:nvSpPr>
        <p:spPr>
          <a:xfrm>
            <a:off x="1446212" y="152400"/>
            <a:ext cx="10157354" cy="9144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Mitra" pitchFamily="2" charset="-78"/>
                <a:cs typeface="B Mitra" pitchFamily="2" charset="-78"/>
              </a:rPr>
              <a:t>۳.</a:t>
            </a:r>
            <a:r>
              <a:rPr lang="fa-IR" sz="5400" dirty="0">
                <a:solidFill>
                  <a:schemeClr val="accent2">
                    <a:lumMod val="50000"/>
                  </a:schemeClr>
                </a:solidFill>
                <a:latin typeface="Times New Roman" panose="02020603050405020304" pitchFamily="18" charset="0"/>
                <a:cs typeface="Times New Roman" panose="02020603050405020304" pitchFamily="18" charset="0"/>
              </a:rPr>
              <a:t> مقدمه</a:t>
            </a:r>
            <a:r>
              <a:rPr lang="en-US" sz="5400" dirty="0">
                <a:solidFill>
                  <a:schemeClr val="accent2">
                    <a:lumMod val="50000"/>
                  </a:schemeClr>
                </a:solidFill>
                <a:latin typeface="Times New Roman" panose="02020603050405020304" pitchFamily="18" charset="0"/>
                <a:cs typeface="Times New Roman" panose="02020603050405020304" pitchFamily="18" charset="0"/>
              </a:rPr>
              <a:t> </a:t>
            </a:r>
            <a:r>
              <a:rPr lang="en-US" sz="4800" dirty="0">
                <a:solidFill>
                  <a:schemeClr val="accent2">
                    <a:lumMod val="50000"/>
                  </a:schemeClr>
                </a:solidFill>
                <a:latin typeface="B Mitra" pitchFamily="2" charset="-78"/>
                <a:cs typeface="B Mitra" pitchFamily="2" charset="-78"/>
              </a:rPr>
              <a:t>(</a:t>
            </a:r>
            <a:r>
              <a:rPr lang="en-US" sz="5000" dirty="0">
                <a:solidFill>
                  <a:schemeClr val="accent2">
                    <a:lumMod val="50000"/>
                  </a:schemeClr>
                </a:solidFill>
                <a:latin typeface="Aptos" panose="020B0004020202020204" pitchFamily="34" charset="0"/>
                <a:cs typeface="B Mitra" pitchFamily="2" charset="-78"/>
              </a:rPr>
              <a:t>Introduction</a:t>
            </a:r>
            <a:r>
              <a:rPr lang="en-US" sz="4800" dirty="0">
                <a:solidFill>
                  <a:schemeClr val="accent2">
                    <a:lumMod val="50000"/>
                  </a:schemeClr>
                </a:solidFill>
                <a:latin typeface="B Mitra" pitchFamily="2" charset="-78"/>
                <a:cs typeface="B Mitra" pitchFamily="2" charset="-78"/>
              </a:rPr>
              <a:t>) </a:t>
            </a:r>
          </a:p>
        </p:txBody>
      </p:sp>
      <p:sp>
        <p:nvSpPr>
          <p:cNvPr id="3" name="TextBox 2">
            <a:extLst>
              <a:ext uri="{FF2B5EF4-FFF2-40B4-BE49-F238E27FC236}">
                <a16:creationId xmlns:a16="http://schemas.microsoft.com/office/drawing/2014/main" id="{696F900C-B2CA-75E9-9724-DBCC5194C21E}"/>
              </a:ext>
            </a:extLst>
          </p:cNvPr>
          <p:cNvSpPr txBox="1"/>
          <p:nvPr/>
        </p:nvSpPr>
        <p:spPr>
          <a:xfrm>
            <a:off x="455612" y="1371600"/>
            <a:ext cx="11147954" cy="5328382"/>
          </a:xfrm>
          <a:prstGeom prst="rect">
            <a:avLst/>
          </a:prstGeom>
          <a:noFill/>
        </p:spPr>
        <p:txBody>
          <a:bodyPr wrap="square" rtlCol="0">
            <a:spAutoFit/>
          </a:bodyPr>
          <a:lstStyle/>
          <a:p>
            <a:pPr algn="r" rtl="1">
              <a:lnSpc>
                <a:spcPct val="95000"/>
              </a:lnSpc>
            </a:pPr>
            <a:r>
              <a:rPr lang="fa-IR" sz="2000" dirty="0">
                <a:latin typeface="B Nazanin" panose="00000400000000000000" pitchFamily="2" charset="-78"/>
                <a:cs typeface="B Nazanin" pitchFamily="2" charset="-78"/>
              </a:rPr>
              <a:t>مقدمه </a:t>
            </a:r>
            <a:r>
              <a:rPr lang="en-US" sz="2000" dirty="0">
                <a:latin typeface="B Nazanin" panose="00000400000000000000" pitchFamily="2" charset="-78"/>
                <a:cs typeface="B Nazanin" pitchFamily="2" charset="-78"/>
              </a:rPr>
              <a:t> (</a:t>
            </a:r>
            <a:r>
              <a:rPr lang="en-US" sz="2000" dirty="0">
                <a:latin typeface="Aptos" panose="020B0004020202020204" pitchFamily="34" charset="0"/>
                <a:cs typeface="B Nazanin" pitchFamily="2" charset="-78"/>
              </a:rPr>
              <a:t>Introduction</a:t>
            </a:r>
            <a:r>
              <a:rPr lang="en-US" sz="2000" dirty="0">
                <a:latin typeface="B Nazanin" panose="00000400000000000000" pitchFamily="2" charset="-78"/>
                <a:cs typeface="B Nazanin" pitchFamily="2" charset="-78"/>
              </a:rPr>
              <a:t>)</a:t>
            </a:r>
            <a:r>
              <a:rPr lang="fa-IR" sz="2000" dirty="0">
                <a:latin typeface="B Nazanin" panose="00000400000000000000" pitchFamily="2" charset="-78"/>
                <a:cs typeface="B Nazanin" pitchFamily="2" charset="-78"/>
              </a:rPr>
              <a:t>یکی از </a:t>
            </a:r>
            <a:r>
              <a:rPr lang="fa-IR" sz="2000" dirty="0" err="1">
                <a:latin typeface="B Nazanin" panose="00000400000000000000" pitchFamily="2" charset="-78"/>
                <a:cs typeface="B Nazanin" pitchFamily="2" charset="-78"/>
              </a:rPr>
              <a:t>مهم‌ترین</a:t>
            </a:r>
            <a:r>
              <a:rPr lang="fa-IR" sz="2000" dirty="0">
                <a:latin typeface="B Nazanin" panose="00000400000000000000" pitchFamily="2" charset="-78"/>
                <a:cs typeface="B Nazanin" pitchFamily="2" charset="-78"/>
              </a:rPr>
              <a:t> </a:t>
            </a:r>
            <a:r>
              <a:rPr lang="fa-IR" sz="2000" dirty="0" err="1">
                <a:latin typeface="B Nazanin" panose="00000400000000000000" pitchFamily="2" charset="-78"/>
                <a:cs typeface="B Nazanin" pitchFamily="2" charset="-78"/>
              </a:rPr>
              <a:t>بخش‌های</a:t>
            </a:r>
            <a:r>
              <a:rPr lang="fa-IR" sz="2000" dirty="0">
                <a:latin typeface="B Nazanin" panose="00000400000000000000" pitchFamily="2" charset="-78"/>
                <a:cs typeface="B Nazanin" pitchFamily="2" charset="-78"/>
              </a:rPr>
              <a:t> مقاله علمی است؛ چون خواننده را وارد فضای پژوهش </a:t>
            </a:r>
            <a:r>
              <a:rPr lang="fa-IR" sz="2000" dirty="0" err="1">
                <a:latin typeface="B Nazanin" panose="00000400000000000000" pitchFamily="2" charset="-78"/>
                <a:cs typeface="B Nazanin" pitchFamily="2" charset="-78"/>
              </a:rPr>
              <a:t>می‌کند</a:t>
            </a:r>
            <a:r>
              <a:rPr lang="fa-IR" sz="2000" dirty="0">
                <a:latin typeface="B Nazanin" panose="00000400000000000000" pitchFamily="2" charset="-78"/>
                <a:cs typeface="B Nazanin" pitchFamily="2" charset="-78"/>
              </a:rPr>
              <a:t> و نشان </a:t>
            </a:r>
            <a:r>
              <a:rPr lang="fa-IR" sz="2000" dirty="0" err="1">
                <a:latin typeface="B Nazanin" panose="00000400000000000000" pitchFamily="2" charset="-78"/>
                <a:cs typeface="B Nazanin" pitchFamily="2" charset="-78"/>
              </a:rPr>
              <a:t>می‌دهد</a:t>
            </a:r>
            <a:r>
              <a:rPr lang="fa-IR" sz="2000" dirty="0">
                <a:latin typeface="B Nazanin" pitchFamily="2" charset="-78"/>
                <a:cs typeface="B Nazanin" pitchFamily="2" charset="-78"/>
              </a:rPr>
              <a:t> چرا موضوع ارزش بررسی دارد. اگر چکیده ویترین مقاله باشد، مقدمه دروازه ورود به محتوای اصلی است.</a:t>
            </a:r>
          </a:p>
          <a:p>
            <a:pPr algn="r" rtl="1">
              <a:lnSpc>
                <a:spcPct val="95000"/>
              </a:lnSpc>
            </a:pP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اهداف مقدمه:</a:t>
            </a:r>
          </a:p>
          <a:p>
            <a:pPr marL="342900" indent="-342900" algn="r" rtl="1">
              <a:buFont typeface="Arial" panose="020B0604020202020204" pitchFamily="34" charset="0"/>
              <a:buChar char="•"/>
            </a:pPr>
            <a:r>
              <a:rPr lang="fa-IR" sz="2000" dirty="0">
                <a:latin typeface="B Nazanin" pitchFamily="2" charset="-78"/>
                <a:cs typeface="B Nazanin" pitchFamily="2" charset="-78"/>
              </a:rPr>
              <a:t>جلب توجه خواننده: باید موضوع را جذاب و مهم نشان دهد.</a:t>
            </a:r>
          </a:p>
          <a:p>
            <a:pPr marL="342900" indent="-342900" algn="r" rtl="1">
              <a:buFont typeface="Arial" panose="020B0604020202020204" pitchFamily="34" charset="0"/>
              <a:buChar char="•"/>
            </a:pPr>
            <a:r>
              <a:rPr lang="fa-IR" sz="2000" dirty="0">
                <a:latin typeface="B Nazanin" pitchFamily="2" charset="-78"/>
                <a:cs typeface="B Nazanin" pitchFamily="2" charset="-78"/>
              </a:rPr>
              <a:t>ایجاد زمینه علمی: توضیح </a:t>
            </a:r>
            <a:r>
              <a:rPr lang="fa-IR" sz="2000" dirty="0" err="1">
                <a:latin typeface="B Nazanin" panose="00000400000000000000" pitchFamily="2" charset="-78"/>
                <a:cs typeface="B Nazanin" pitchFamily="2" charset="-78"/>
              </a:rPr>
              <a:t>می‌دهد</a:t>
            </a:r>
            <a:r>
              <a:rPr lang="fa-IR" sz="2000" dirty="0">
                <a:latin typeface="B Nazanin" pitchFamily="2" charset="-78"/>
                <a:cs typeface="B Nazanin" pitchFamily="2" charset="-78"/>
              </a:rPr>
              <a:t> پژوهش در چه بستر علمی یا اجتماعی قرار دارد.</a:t>
            </a:r>
          </a:p>
          <a:p>
            <a:pPr marL="342900" indent="-342900" algn="r" rtl="1">
              <a:buFont typeface="Arial" panose="020B0604020202020204" pitchFamily="34" charset="0"/>
              <a:buChar char="•"/>
            </a:pPr>
            <a:r>
              <a:rPr lang="fa-IR" sz="2000" dirty="0">
                <a:latin typeface="B Nazanin" pitchFamily="2" charset="-78"/>
                <a:cs typeface="B Nazanin" pitchFamily="2" charset="-78"/>
              </a:rPr>
              <a:t>بیان شکاف پژوهشی: نشان </a:t>
            </a:r>
            <a:r>
              <a:rPr lang="fa-IR" sz="2000" dirty="0" err="1">
                <a:latin typeface="B Nazanin" panose="00000400000000000000" pitchFamily="2" charset="-78"/>
                <a:cs typeface="B Nazanin" pitchFamily="2" charset="-78"/>
              </a:rPr>
              <a:t>می‌دهد</a:t>
            </a:r>
            <a:r>
              <a:rPr lang="fa-IR" sz="2000" dirty="0">
                <a:latin typeface="B Nazanin" pitchFamily="2" charset="-78"/>
                <a:cs typeface="B Nazanin" pitchFamily="2" charset="-78"/>
              </a:rPr>
              <a:t> چه چیزی تاکنون بررسی نشده یا چه مشکلی وجود دارد.</a:t>
            </a:r>
          </a:p>
          <a:p>
            <a:pPr marL="342900" indent="-342900" algn="r" rtl="1">
              <a:buFont typeface="Arial" panose="020B0604020202020204" pitchFamily="34" charset="0"/>
              <a:buChar char="•"/>
            </a:pPr>
            <a:r>
              <a:rPr lang="fa-IR" sz="2000" dirty="0">
                <a:latin typeface="B Nazanin" pitchFamily="2" charset="-78"/>
                <a:cs typeface="B Nazanin" pitchFamily="2" charset="-78"/>
              </a:rPr>
              <a:t>تعیین هدف و پرسش پژوهش: مشخص </a:t>
            </a:r>
            <a:r>
              <a:rPr lang="fa-IR" sz="2000" dirty="0" err="1">
                <a:latin typeface="B Nazanin" panose="00000400000000000000" pitchFamily="2" charset="-78"/>
                <a:cs typeface="B Nazanin" pitchFamily="2" charset="-78"/>
              </a:rPr>
              <a:t>می‌کند</a:t>
            </a:r>
            <a:r>
              <a:rPr lang="fa-IR" sz="2000" dirty="0">
                <a:latin typeface="B Nazanin" panose="00000400000000000000" pitchFamily="2" charset="-78"/>
                <a:cs typeface="B Nazanin" pitchFamily="2" charset="-78"/>
              </a:rPr>
              <a:t> مقاله دقیقاً به دنبال چه چیزی است.</a:t>
            </a:r>
          </a:p>
          <a:p>
            <a:endParaRPr lang="en-US" sz="2000" dirty="0">
              <a:cs typeface="B Nazanin" panose="00000400000000000000" pitchFamily="2" charset="-78"/>
            </a:endParaRPr>
          </a:p>
          <a:p>
            <a:pPr algn="r" rtl="1"/>
            <a:r>
              <a:rPr lang="fa-IR" sz="2000" dirty="0">
                <a:latin typeface="B Nazanin" pitchFamily="2" charset="-78"/>
                <a:cs typeface="B Nazanin" pitchFamily="2" charset="-78"/>
              </a:rPr>
              <a:t>ساختار استاندارد مقدمه:</a:t>
            </a:r>
          </a:p>
          <a:p>
            <a:pPr marL="342900" indent="-342900" algn="r" rtl="1">
              <a:buFont typeface="Arial" panose="020B0604020202020204" pitchFamily="34" charset="0"/>
              <a:buChar char="•"/>
            </a:pPr>
            <a:r>
              <a:rPr lang="fa-IR" sz="2000" dirty="0">
                <a:latin typeface="B Nazanin" pitchFamily="2" charset="-78"/>
                <a:cs typeface="B Nazanin" pitchFamily="2" charset="-78"/>
              </a:rPr>
              <a:t>زمینه کلی: معرفی موضوع و اهمیت آن.</a:t>
            </a:r>
          </a:p>
          <a:p>
            <a:pPr marL="342900" indent="-342900" algn="r" rtl="1">
              <a:buFont typeface="Arial" panose="020B0604020202020204" pitchFamily="34" charset="0"/>
              <a:buChar char="•"/>
            </a:pPr>
            <a:r>
              <a:rPr lang="fa-IR" sz="2000" dirty="0">
                <a:latin typeface="B Nazanin" pitchFamily="2" charset="-78"/>
                <a:cs typeface="B Nazanin" pitchFamily="2" charset="-78"/>
              </a:rPr>
              <a:t>مرور کوتاه ادبیات پژوهش: اشاره به مطالعات قبلی و نتایج </a:t>
            </a:r>
            <a:r>
              <a:rPr lang="fa-IR" sz="2000" dirty="0" err="1">
                <a:latin typeface="B Nazanin" panose="00000400000000000000" pitchFamily="2" charset="-78"/>
                <a:cs typeface="B Nazanin" pitchFamily="2" charset="-78"/>
              </a:rPr>
              <a:t>آن‌ها</a:t>
            </a:r>
            <a:r>
              <a:rPr lang="fa-IR" sz="2000" dirty="0">
                <a:latin typeface="B Nazanin" pitchFamily="2" charset="-78"/>
                <a:cs typeface="B Nazanin" pitchFamily="2" charset="-78"/>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شکاف یا مشکل موجود: توضیح اینکه چرا پژوهش جدید لازم است.</a:t>
            </a:r>
          </a:p>
          <a:p>
            <a:pPr marL="342900" indent="-342900" algn="r" rtl="1">
              <a:buFont typeface="Arial" panose="020B0604020202020204" pitchFamily="34" charset="0"/>
              <a:buChar char="•"/>
            </a:pPr>
            <a:r>
              <a:rPr lang="fa-IR" sz="2000" dirty="0">
                <a:latin typeface="B Nazanin" pitchFamily="2" charset="-78"/>
                <a:cs typeface="B Nazanin" pitchFamily="2" charset="-78"/>
              </a:rPr>
              <a:t>هدف و </a:t>
            </a:r>
            <a:r>
              <a:rPr lang="fa-IR" sz="2000" dirty="0" err="1">
                <a:latin typeface="B Nazanin" panose="00000400000000000000" pitchFamily="2" charset="-78"/>
                <a:cs typeface="B Nazanin" pitchFamily="2" charset="-78"/>
              </a:rPr>
              <a:t>فرضیه‌ها</a:t>
            </a:r>
            <a:r>
              <a:rPr lang="fa-IR" sz="2000" dirty="0">
                <a:latin typeface="B Nazanin" panose="00000400000000000000" pitchFamily="2" charset="-78"/>
                <a:cs typeface="B Nazanin" pitchFamily="2" charset="-78"/>
              </a:rPr>
              <a:t>: بیان روشن اهداف، </a:t>
            </a:r>
            <a:r>
              <a:rPr lang="fa-IR" sz="2000" dirty="0" err="1">
                <a:latin typeface="B Nazanin" panose="00000400000000000000" pitchFamily="2" charset="-78"/>
                <a:cs typeface="B Nazanin" pitchFamily="2" charset="-78"/>
              </a:rPr>
              <a:t>پرسش‌ها</a:t>
            </a:r>
            <a:r>
              <a:rPr lang="fa-IR" sz="2000" dirty="0">
                <a:latin typeface="B Nazanin" panose="00000400000000000000" pitchFamily="2" charset="-78"/>
                <a:cs typeface="B Nazanin" pitchFamily="2" charset="-78"/>
              </a:rPr>
              <a:t> یا </a:t>
            </a:r>
            <a:r>
              <a:rPr lang="fa-IR" sz="2000" dirty="0" err="1">
                <a:latin typeface="B Nazanin" panose="00000400000000000000" pitchFamily="2" charset="-78"/>
                <a:cs typeface="B Nazanin" pitchFamily="2" charset="-78"/>
              </a:rPr>
              <a:t>فرضیه‌های</a:t>
            </a:r>
            <a:r>
              <a:rPr lang="fa-IR" sz="2000" dirty="0">
                <a:latin typeface="B Nazanin" pitchFamily="2" charset="-78"/>
                <a:cs typeface="B Nazanin" pitchFamily="2" charset="-78"/>
              </a:rPr>
              <a:t> تحقیق.</a:t>
            </a:r>
          </a:p>
          <a:p>
            <a:pPr marL="342900" indent="-342900" algn="r" rtl="1">
              <a:buFont typeface="Arial" panose="020B0604020202020204" pitchFamily="34" charset="0"/>
              <a:buChar char="•"/>
            </a:pPr>
            <a:r>
              <a:rPr lang="fa-IR" sz="2000" dirty="0">
                <a:latin typeface="B Nazanin" pitchFamily="2" charset="-78"/>
                <a:cs typeface="B Nazanin" pitchFamily="2" charset="-78"/>
              </a:rPr>
              <a:t>اشاره به روش کلی: گاهی </a:t>
            </a:r>
            <a:r>
              <a:rPr lang="fa-IR" sz="2000" dirty="0" err="1">
                <a:latin typeface="B Nazanin" panose="00000400000000000000" pitchFamily="2" charset="-78"/>
                <a:cs typeface="B Nazanin" pitchFamily="2" charset="-78"/>
              </a:rPr>
              <a:t>به‌طور</a:t>
            </a:r>
            <a:r>
              <a:rPr lang="fa-IR" sz="2000" dirty="0">
                <a:latin typeface="B Nazanin" panose="00000400000000000000" pitchFamily="2" charset="-78"/>
                <a:cs typeface="B Nazanin" pitchFamily="2" charset="-78"/>
              </a:rPr>
              <a:t> خلاصه روش پژوهش معرفی </a:t>
            </a:r>
            <a:r>
              <a:rPr lang="fa-IR" sz="2000" dirty="0" err="1">
                <a:latin typeface="B Nazanin" panose="00000400000000000000" pitchFamily="2" charset="-78"/>
                <a:cs typeface="B Nazanin" pitchFamily="2" charset="-78"/>
              </a:rPr>
              <a:t>می‌شود</a:t>
            </a:r>
            <a:r>
              <a:rPr lang="fa-IR" sz="2000" dirty="0">
                <a:latin typeface="B Nazanin" pitchFamily="2" charset="-78"/>
                <a:cs typeface="B Nazanin" pitchFamily="2" charset="-78"/>
              </a:rPr>
              <a:t>.</a:t>
            </a:r>
          </a:p>
          <a:p>
            <a:pPr algn="r" rtl="1"/>
            <a:endParaRPr lang="fa-IR" sz="2000" dirty="0">
              <a:latin typeface="B Nazanin" pitchFamily="2" charset="-78"/>
              <a:cs typeface="B Nazanin" pitchFamily="2" charset="-78"/>
            </a:endParaRPr>
          </a:p>
          <a:p>
            <a:pPr marL="0" algn="r" defTabSz="1218987" rtl="1" eaLnBrk="1" latinLnBrk="0" hangingPunct="1">
              <a:lnSpc>
                <a:spcPct val="95000"/>
              </a:lnSpc>
            </a:pPr>
            <a:endParaRPr lang="en-US" sz="2000" dirty="0">
              <a:latin typeface="B Nazanin" panose="00000400000000000000" pitchFamily="2" charset="-78"/>
              <a:cs typeface="B Nazanin" pitchFamily="2" charset="-78"/>
            </a:endParaRPr>
          </a:p>
        </p:txBody>
      </p:sp>
      <p:pic>
        <p:nvPicPr>
          <p:cNvPr id="4" name="Picture 3" descr="A white symbol with a black background">
            <a:extLst>
              <a:ext uri="{FF2B5EF4-FFF2-40B4-BE49-F238E27FC236}">
                <a16:creationId xmlns:a16="http://schemas.microsoft.com/office/drawing/2014/main" id="{C7999298-7178-3FEC-F3DB-6772BCFBE8A5}"/>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74722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5237F8-DEDB-29ED-AE09-1A73DAEF3A4D}"/>
              </a:ext>
            </a:extLst>
          </p:cNvPr>
          <p:cNvSpPr>
            <a:spLocks noGrp="1"/>
          </p:cNvSpPr>
          <p:nvPr>
            <p:ph idx="1"/>
          </p:nvPr>
        </p:nvSpPr>
        <p:spPr>
          <a:xfrm>
            <a:off x="-2058988" y="304800"/>
            <a:ext cx="13868399" cy="4648200"/>
          </a:xfrm>
        </p:spPr>
        <p:txBody>
          <a:bodyPr>
            <a:normAutofit/>
          </a:bodyPr>
          <a:lstStyle/>
          <a:p>
            <a:pPr marL="0" indent="0" algn="r" rtl="1">
              <a:buNone/>
            </a:pPr>
            <a:r>
              <a:rPr lang="fa-IR" sz="4400" dirty="0">
                <a:solidFill>
                  <a:schemeClr val="accent2">
                    <a:lumMod val="50000"/>
                  </a:schemeClr>
                </a:solidFill>
                <a:latin typeface="B Mitra" pitchFamily="2" charset="-78"/>
                <a:cs typeface="B Mitra" pitchFamily="2" charset="-78"/>
              </a:rPr>
              <a:t>۴. </a:t>
            </a:r>
            <a:r>
              <a:rPr lang="fa-IR" sz="4000" dirty="0">
                <a:solidFill>
                  <a:schemeClr val="accent2">
                    <a:lumMod val="50000"/>
                  </a:schemeClr>
                </a:solidFill>
                <a:latin typeface="Times New Roman" panose="02020603050405020304" pitchFamily="18" charset="0"/>
                <a:cs typeface="Times New Roman" panose="02020603050405020304" pitchFamily="18" charset="0"/>
              </a:rPr>
              <a:t>روش تحقیق </a:t>
            </a:r>
            <a:r>
              <a:rPr lang="en-US" sz="4000" dirty="0">
                <a:solidFill>
                  <a:schemeClr val="accent2">
                    <a:lumMod val="50000"/>
                  </a:schemeClr>
                </a:solidFill>
                <a:latin typeface="B Mitra" pitchFamily="2" charset="-78"/>
                <a:cs typeface="B Mitra" pitchFamily="2" charset="-78"/>
              </a:rPr>
              <a:t>(</a:t>
            </a:r>
            <a:r>
              <a:rPr lang="en-US" sz="3900" dirty="0">
                <a:solidFill>
                  <a:schemeClr val="accent2">
                    <a:lumMod val="50000"/>
                  </a:schemeClr>
                </a:solidFill>
                <a:latin typeface="Aptos" panose="020B0004020202020204" pitchFamily="34" charset="0"/>
                <a:cs typeface="B Mitra" pitchFamily="2" charset="-78"/>
              </a:rPr>
              <a:t>Methodology / Materials &amp; Methods</a:t>
            </a:r>
            <a:r>
              <a:rPr lang="en-US" sz="4000" dirty="0">
                <a:solidFill>
                  <a:schemeClr val="accent2">
                    <a:lumMod val="50000"/>
                  </a:schemeClr>
                </a:solidFill>
                <a:latin typeface="B Mitra" pitchFamily="2" charset="-78"/>
                <a:cs typeface="B Mitra" pitchFamily="2" charset="-78"/>
              </a:rPr>
              <a:t>)</a:t>
            </a:r>
          </a:p>
          <a:p>
            <a:pPr marL="0" indent="0">
              <a:buNone/>
            </a:pPr>
            <a:endParaRPr lang="en-US" sz="4400" dirty="0">
              <a:latin typeface="B Mitra" pitchFamily="2" charset="-78"/>
              <a:cs typeface="B Mitra" pitchFamily="2" charset="-78"/>
            </a:endParaRPr>
          </a:p>
        </p:txBody>
      </p:sp>
      <p:sp>
        <p:nvSpPr>
          <p:cNvPr id="6" name="TextBox 5">
            <a:extLst>
              <a:ext uri="{FF2B5EF4-FFF2-40B4-BE49-F238E27FC236}">
                <a16:creationId xmlns:a16="http://schemas.microsoft.com/office/drawing/2014/main" id="{EA425FD6-A32D-49E0-CBF2-CB234191EBD4}"/>
              </a:ext>
            </a:extLst>
          </p:cNvPr>
          <p:cNvSpPr txBox="1"/>
          <p:nvPr/>
        </p:nvSpPr>
        <p:spPr>
          <a:xfrm>
            <a:off x="227012" y="1219200"/>
            <a:ext cx="11429996" cy="5201424"/>
          </a:xfrm>
          <a:prstGeom prst="rect">
            <a:avLst/>
          </a:prstGeom>
          <a:noFill/>
        </p:spPr>
        <p:txBody>
          <a:bodyPr wrap="square" rtlCol="0">
            <a:spAutoFit/>
          </a:bodyPr>
          <a:lstStyle/>
          <a:p>
            <a:pPr algn="r"/>
            <a:r>
              <a:rPr lang="fa-IR" sz="2000" dirty="0">
                <a:latin typeface="Aptos" panose="020B0004020202020204" pitchFamily="34" charset="0"/>
                <a:cs typeface="B Nazanin" pitchFamily="2" charset="-78"/>
              </a:rPr>
              <a:t>بخش روش تحقیق یا مواد و </a:t>
            </a:r>
            <a:r>
              <a:rPr lang="fa-IR" sz="2000" dirty="0" err="1">
                <a:latin typeface="Aptos" panose="020B0004020202020204" pitchFamily="34" charset="0"/>
                <a:cs typeface="B Nazanin" pitchFamily="2" charset="-78"/>
              </a:rPr>
              <a:t>روش‌ها</a:t>
            </a:r>
            <a:r>
              <a:rPr lang="fa-IR" sz="2000" dirty="0">
                <a:latin typeface="Aptos" panose="020B0004020202020204" pitchFamily="34" charset="0"/>
                <a:cs typeface="B Nazanin" pitchFamily="2" charset="-78"/>
              </a:rPr>
              <a:t> ستون فقرات مقاله علمی است؛ چون نشان </a:t>
            </a:r>
            <a:r>
              <a:rPr lang="fa-IR" sz="2000" dirty="0" err="1">
                <a:latin typeface="Aptos" panose="020B0004020202020204" pitchFamily="34" charset="0"/>
                <a:cs typeface="B Nazanin" pitchFamily="2" charset="-78"/>
              </a:rPr>
              <a:t>می‌دهد</a:t>
            </a:r>
            <a:r>
              <a:rPr lang="fa-IR" sz="2000" dirty="0">
                <a:latin typeface="Aptos" panose="020B0004020202020204" pitchFamily="34" charset="0"/>
                <a:cs typeface="B Nazanin" pitchFamily="2" charset="-78"/>
              </a:rPr>
              <a:t> پژوهش چگونه انجام شده و به خواننده امکان </a:t>
            </a:r>
            <a:r>
              <a:rPr lang="fa-IR" sz="2000" dirty="0" err="1">
                <a:latin typeface="Aptos" panose="020B0004020202020204" pitchFamily="34" charset="0"/>
                <a:cs typeface="B Nazanin" pitchFamily="2" charset="-78"/>
              </a:rPr>
              <a:t>می‌دهد</a:t>
            </a:r>
            <a:r>
              <a:rPr lang="fa-IR" sz="2000" dirty="0">
                <a:latin typeface="Aptos" panose="020B0004020202020204" pitchFamily="34" charset="0"/>
                <a:cs typeface="B Nazanin" pitchFamily="2" charset="-78"/>
              </a:rPr>
              <a:t> نتایج را ارزیابی یا حتی تکرار کند.</a:t>
            </a:r>
          </a:p>
          <a:p>
            <a:pPr algn="r"/>
            <a:endParaRPr lang="fa-IR" sz="2000" dirty="0">
              <a:latin typeface="Aptos" panose="020B0004020202020204" pitchFamily="34" charset="0"/>
              <a:cs typeface="B Nazanin" pitchFamily="2" charset="-78"/>
            </a:endParaRPr>
          </a:p>
          <a:p>
            <a:pPr algn="r"/>
            <a:r>
              <a:rPr lang="fa-IR" sz="2000" dirty="0">
                <a:latin typeface="Aptos" panose="020B0004020202020204" pitchFamily="34" charset="0"/>
                <a:cs typeface="B Nazanin" pitchFamily="2" charset="-78"/>
              </a:rPr>
              <a:t> اهداف روش تحقیق</a:t>
            </a:r>
          </a:p>
          <a:p>
            <a:pPr marL="342900" indent="-342900" algn="r" rtl="1">
              <a:buFont typeface="Arial" panose="020B0604020202020204" pitchFamily="34" charset="0"/>
              <a:buChar char="•"/>
            </a:pPr>
            <a:r>
              <a:rPr lang="fa-IR" sz="2000" dirty="0" err="1">
                <a:latin typeface="Aptos" panose="020B0004020202020204" pitchFamily="34" charset="0"/>
                <a:cs typeface="B Nazanin" pitchFamily="2" charset="-78"/>
              </a:rPr>
              <a:t>شفاف‌سازی</a:t>
            </a:r>
            <a:r>
              <a:rPr lang="fa-IR" sz="2000" dirty="0">
                <a:latin typeface="Aptos" panose="020B0004020202020204" pitchFamily="34" charset="0"/>
                <a:cs typeface="B Nazanin" pitchFamily="2" charset="-78"/>
              </a:rPr>
              <a:t> فرآیند پژوهش: توضیح دقیق مراحل انجام مطالعه.</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 قابلیت </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Reproducibility</a:t>
            </a:r>
            <a:r>
              <a:rPr lang="fa-IR" sz="2000" dirty="0">
                <a:latin typeface="Aptos" panose="020B0004020202020204" pitchFamily="34" charset="0"/>
                <a:cs typeface="B Nazanin" pitchFamily="2" charset="-78"/>
              </a:rPr>
              <a:t>(</a:t>
            </a:r>
            <a:r>
              <a:rPr lang="fa-IR" sz="2000" dirty="0" err="1">
                <a:latin typeface="Aptos" panose="020B0004020202020204" pitchFamily="34" charset="0"/>
                <a:cs typeface="B Nazanin" pitchFamily="2" charset="-78"/>
              </a:rPr>
              <a:t>بازتولید</a:t>
            </a:r>
            <a:r>
              <a:rPr lang="fa-IR" sz="2000" dirty="0">
                <a:latin typeface="Aptos" panose="020B0004020202020204" pitchFamily="34" charset="0"/>
                <a:cs typeface="B Nazanin" pitchFamily="2" charset="-78"/>
              </a:rPr>
              <a:t>)</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دیگر پژوهشگران بتوانند همان مطالعه را تکرار کنند.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اعتبار علمی: نشان دهد نتایج بر پایه </a:t>
            </a:r>
            <a:r>
              <a:rPr lang="fa-IR" sz="2000" dirty="0" err="1">
                <a:latin typeface="Aptos" panose="020B0004020202020204" pitchFamily="34" charset="0"/>
                <a:cs typeface="B Nazanin" pitchFamily="2" charset="-78"/>
              </a:rPr>
              <a:t>روش‌های</a:t>
            </a:r>
            <a:r>
              <a:rPr lang="fa-IR" sz="2000" dirty="0">
                <a:latin typeface="Aptos" panose="020B0004020202020204" pitchFamily="34" charset="0"/>
                <a:cs typeface="B Nazanin" pitchFamily="2" charset="-78"/>
              </a:rPr>
              <a:t> معتبر و استاندارد به دست </a:t>
            </a:r>
            <a:r>
              <a:rPr lang="fa-IR" sz="2000" dirty="0" err="1">
                <a:latin typeface="Aptos" panose="020B0004020202020204" pitchFamily="34" charset="0"/>
                <a:cs typeface="B Nazanin" pitchFamily="2" charset="-78"/>
              </a:rPr>
              <a:t>آمده‌اند</a:t>
            </a:r>
            <a:r>
              <a:rPr lang="fa-IR" sz="2000" dirty="0">
                <a:latin typeface="Aptos" panose="020B0004020202020204" pitchFamily="34" charset="0"/>
                <a:cs typeface="B Nazanin" pitchFamily="2" charset="-78"/>
              </a:rPr>
              <a:t>.</a:t>
            </a:r>
          </a:p>
          <a:p>
            <a:pPr algn="r" rtl="1"/>
            <a:endParaRPr lang="en-US" sz="2000" dirty="0">
              <a:latin typeface="Aptos" panose="020B0004020202020204" pitchFamily="34" charset="0"/>
              <a:cs typeface="B Nazanin" pitchFamily="2" charset="-78"/>
            </a:endParaRPr>
          </a:p>
          <a:p>
            <a:pPr algn="r" rtl="1"/>
            <a:r>
              <a:rPr lang="fa-IR" sz="2000" dirty="0" err="1">
                <a:latin typeface="Aptos" panose="020B0004020202020204" pitchFamily="34" charset="0"/>
                <a:cs typeface="B Nazanin" pitchFamily="2" charset="-78"/>
              </a:rPr>
              <a:t>ویژگی‌های</a:t>
            </a:r>
            <a:r>
              <a:rPr lang="fa-IR" sz="2000" dirty="0">
                <a:latin typeface="Aptos" panose="020B0004020202020204" pitchFamily="34" charset="0"/>
                <a:cs typeface="B Nazanin" pitchFamily="2" charset="-78"/>
              </a:rPr>
              <a:t> یک بخش روش تحقیق خوب</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جزئیات کافی: نه </a:t>
            </a:r>
            <a:r>
              <a:rPr lang="fa-IR" sz="2000" dirty="0" err="1">
                <a:latin typeface="Aptos" panose="020B0004020202020204" pitchFamily="34" charset="0"/>
                <a:cs typeface="B Nazanin" pitchFamily="2" charset="-78"/>
              </a:rPr>
              <a:t>آن‌قدر</a:t>
            </a:r>
            <a:r>
              <a:rPr lang="fa-IR" sz="2000" dirty="0">
                <a:latin typeface="Aptos" panose="020B0004020202020204" pitchFamily="34" charset="0"/>
                <a:cs typeface="B Nazanin" pitchFamily="2" charset="-78"/>
              </a:rPr>
              <a:t> کلی که مبهم باشد، نه </a:t>
            </a:r>
            <a:r>
              <a:rPr lang="fa-IR" sz="2000" dirty="0" err="1">
                <a:latin typeface="Aptos" panose="020B0004020202020204" pitchFamily="34" charset="0"/>
                <a:cs typeface="B Nazanin" pitchFamily="2" charset="-78"/>
              </a:rPr>
              <a:t>آن‌قدر</a:t>
            </a:r>
            <a:r>
              <a:rPr lang="fa-IR" sz="2000" dirty="0">
                <a:latin typeface="Aptos" panose="020B0004020202020204" pitchFamily="34" charset="0"/>
                <a:cs typeface="B Nazanin" pitchFamily="2" charset="-78"/>
              </a:rPr>
              <a:t> طولانی که </a:t>
            </a:r>
            <a:r>
              <a:rPr lang="fa-IR" sz="2000" dirty="0" err="1">
                <a:latin typeface="Aptos" panose="020B0004020202020204" pitchFamily="34" charset="0"/>
                <a:cs typeface="B Nazanin" pitchFamily="2" charset="-78"/>
              </a:rPr>
              <a:t>خسته‌کننده</a:t>
            </a:r>
            <a:r>
              <a:rPr lang="fa-IR" sz="2000" dirty="0">
                <a:latin typeface="Aptos" panose="020B0004020202020204" pitchFamily="34" charset="0"/>
                <a:cs typeface="B Nazanin" pitchFamily="2" charset="-78"/>
              </a:rPr>
              <a:t> شود.</a:t>
            </a:r>
          </a:p>
          <a:p>
            <a:pPr marL="342900" indent="-342900" algn="r" rtl="1">
              <a:buFont typeface="Arial" panose="020B0604020202020204" pitchFamily="34" charset="0"/>
              <a:buChar char="•"/>
            </a:pPr>
            <a:r>
              <a:rPr lang="fa-IR" sz="2000" dirty="0" err="1">
                <a:latin typeface="Aptos" panose="020B0004020202020204" pitchFamily="34" charset="0"/>
                <a:cs typeface="B Nazanin" pitchFamily="2" charset="-78"/>
              </a:rPr>
              <a:t>بی‌طرفی</a:t>
            </a:r>
            <a:r>
              <a:rPr lang="fa-IR" sz="2000" dirty="0">
                <a:latin typeface="Aptos" panose="020B0004020202020204" pitchFamily="34" charset="0"/>
                <a:cs typeface="B Nazanin" pitchFamily="2" charset="-78"/>
              </a:rPr>
              <a:t>: فقط توضیح </a:t>
            </a:r>
            <a:r>
              <a:rPr lang="fa-IR" sz="2000" dirty="0" err="1">
                <a:latin typeface="Aptos" panose="020B0004020202020204" pitchFamily="34" charset="0"/>
                <a:cs typeface="B Nazanin" pitchFamily="2" charset="-78"/>
              </a:rPr>
              <a:t>روش‌ها</a:t>
            </a:r>
            <a:r>
              <a:rPr lang="fa-IR" sz="2000" dirty="0">
                <a:latin typeface="Aptos" panose="020B0004020202020204" pitchFamily="34" charset="0"/>
                <a:cs typeface="B Nazanin" pitchFamily="2" charset="-78"/>
              </a:rPr>
              <a:t>، بدون تفسیر یا </a:t>
            </a:r>
            <a:r>
              <a:rPr lang="fa-IR" sz="2000" dirty="0" err="1">
                <a:latin typeface="Aptos" panose="020B0004020202020204" pitchFamily="34" charset="0"/>
                <a:cs typeface="B Nazanin" pitchFamily="2" charset="-78"/>
              </a:rPr>
              <a:t>نتیجه‌گیری</a:t>
            </a:r>
            <a:r>
              <a:rPr lang="fa-IR" sz="2000" dirty="0">
                <a:latin typeface="Aptos" panose="020B0004020202020204" pitchFamily="34" charset="0"/>
                <a:cs typeface="B Nazanin" pitchFamily="2" charset="-78"/>
              </a:rPr>
              <a:t>.</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ساختار منطقی: از طراحی پژوهش تا تحلیل </a:t>
            </a:r>
            <a:r>
              <a:rPr lang="fa-IR" sz="2000" dirty="0" err="1">
                <a:latin typeface="Aptos" panose="020B0004020202020204" pitchFamily="34" charset="0"/>
                <a:cs typeface="B Nazanin" pitchFamily="2" charset="-78"/>
              </a:rPr>
              <a:t>داده‌ها</a:t>
            </a:r>
            <a:r>
              <a:rPr lang="fa-IR" sz="2000" dirty="0">
                <a:latin typeface="Aptos" panose="020B0004020202020204" pitchFamily="34" charset="0"/>
                <a:cs typeface="B Nazanin" pitchFamily="2" charset="-78"/>
              </a:rPr>
              <a:t> به ترتیب بیان شود.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ارجاع به منابع: اگر ابزار یا روش خاصی استفاده شده، باید به منبع معتبر اشاره شود.</a:t>
            </a:r>
          </a:p>
          <a:p>
            <a:pPr marL="342900" indent="-342900" algn="r" rtl="1">
              <a:buFont typeface="Arial" panose="020B0604020202020204" pitchFamily="34" charset="0"/>
              <a:buChar char="•"/>
            </a:pPr>
            <a:endParaRPr lang="fa-IR" dirty="0">
              <a:latin typeface="Aptos" panose="020B0004020202020204" pitchFamily="34" charset="0"/>
              <a:cs typeface="B Nazanin" pitchFamily="2" charset="-78"/>
            </a:endParaRPr>
          </a:p>
          <a:p>
            <a:pPr algn="r"/>
            <a:endParaRPr lang="fa-IR" dirty="0">
              <a:latin typeface="Aptos" panose="020B0004020202020204" pitchFamily="34" charset="0"/>
              <a:cs typeface="B Nazanin" pitchFamily="2" charset="-78"/>
            </a:endParaRPr>
          </a:p>
          <a:p>
            <a:pPr algn="r"/>
            <a:endParaRPr lang="fa-IR" dirty="0">
              <a:latin typeface="Aptos" panose="020B0004020202020204" pitchFamily="34" charset="0"/>
              <a:cs typeface="B Nazanin" pitchFamily="2" charset="-78"/>
            </a:endParaRPr>
          </a:p>
        </p:txBody>
      </p:sp>
      <p:pic>
        <p:nvPicPr>
          <p:cNvPr id="4" name="Picture 3" descr="A white symbol with a black background">
            <a:extLst>
              <a:ext uri="{FF2B5EF4-FFF2-40B4-BE49-F238E27FC236}">
                <a16:creationId xmlns:a16="http://schemas.microsoft.com/office/drawing/2014/main" id="{27D3C05A-015D-04C4-8D3F-5920950D4C44}"/>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36477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44FA60-8598-C192-C1E9-A90D3BC6C7F6}"/>
              </a:ext>
            </a:extLst>
          </p:cNvPr>
          <p:cNvSpPr>
            <a:spLocks noGrp="1"/>
          </p:cNvSpPr>
          <p:nvPr>
            <p:ph idx="1"/>
          </p:nvPr>
        </p:nvSpPr>
        <p:spPr>
          <a:xfrm>
            <a:off x="1370012" y="152400"/>
            <a:ext cx="10157354" cy="838200"/>
          </a:xfrm>
        </p:spPr>
        <p:txBody>
          <a:bodyPr>
            <a:normAutofit fontScale="85000" lnSpcReduction="10000"/>
          </a:bodyPr>
          <a:lstStyle/>
          <a:p>
            <a:pPr marL="0" indent="0" algn="r" rtl="1">
              <a:buNone/>
            </a:pPr>
            <a:r>
              <a:rPr lang="fa-IR" sz="5400" dirty="0">
                <a:solidFill>
                  <a:schemeClr val="accent2">
                    <a:lumMod val="50000"/>
                  </a:schemeClr>
                </a:solidFill>
                <a:latin typeface="Aptos" panose="020B0004020202020204" pitchFamily="34" charset="0"/>
                <a:cs typeface="B Mitra" pitchFamily="2" charset="-78"/>
              </a:rPr>
              <a:t>۵. </a:t>
            </a:r>
            <a:r>
              <a:rPr lang="fa-IR" sz="4700" dirty="0">
                <a:solidFill>
                  <a:schemeClr val="accent2">
                    <a:lumMod val="50000"/>
                  </a:schemeClr>
                </a:solidFill>
                <a:latin typeface="Times New Roman" panose="02020603050405020304" pitchFamily="18" charset="0"/>
                <a:cs typeface="Times New Roman" panose="02020603050405020304" pitchFamily="18" charset="0"/>
              </a:rPr>
              <a:t>نتایج و بحث </a:t>
            </a:r>
            <a:r>
              <a:rPr lang="en-US" sz="4600" dirty="0">
                <a:solidFill>
                  <a:schemeClr val="accent2">
                    <a:lumMod val="50000"/>
                  </a:schemeClr>
                </a:solidFill>
                <a:latin typeface="Aptos" panose="020B0004020202020204" pitchFamily="34" charset="0"/>
                <a:cs typeface="B Mitra" pitchFamily="2" charset="-78"/>
              </a:rPr>
              <a:t>(Results / Results &amp; Discussion)</a:t>
            </a:r>
            <a:endParaRPr lang="fa-IR" sz="4600" dirty="0">
              <a:solidFill>
                <a:schemeClr val="accent2">
                  <a:lumMod val="50000"/>
                </a:schemeClr>
              </a:solidFill>
              <a:latin typeface="Aptos" panose="020B0004020202020204" pitchFamily="34" charset="0"/>
              <a:cs typeface="B Mitra" pitchFamily="2" charset="-78"/>
            </a:endParaRPr>
          </a:p>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endParaRPr lang="en-US" dirty="0">
              <a:latin typeface="Aptos" panose="020B0004020202020204" pitchFamily="34" charset="0"/>
            </a:endParaRPr>
          </a:p>
        </p:txBody>
      </p:sp>
      <p:sp>
        <p:nvSpPr>
          <p:cNvPr id="3" name="TextBox 2">
            <a:extLst>
              <a:ext uri="{FF2B5EF4-FFF2-40B4-BE49-F238E27FC236}">
                <a16:creationId xmlns:a16="http://schemas.microsoft.com/office/drawing/2014/main" id="{DA102A60-E485-B3E7-14EC-CC38E5C75482}"/>
              </a:ext>
            </a:extLst>
          </p:cNvPr>
          <p:cNvSpPr txBox="1"/>
          <p:nvPr/>
        </p:nvSpPr>
        <p:spPr>
          <a:xfrm>
            <a:off x="531812" y="990600"/>
            <a:ext cx="10995554" cy="5632311"/>
          </a:xfrm>
          <a:prstGeom prst="rect">
            <a:avLst/>
          </a:prstGeom>
          <a:noFill/>
        </p:spPr>
        <p:txBody>
          <a:bodyPr wrap="square" rtlCol="0">
            <a:spAutoFit/>
          </a:bodyPr>
          <a:lstStyle/>
          <a:p>
            <a:pPr algn="r" rtl="1"/>
            <a:r>
              <a:rPr lang="fa-IR" sz="2000" dirty="0">
                <a:latin typeface="Aptos" panose="020B0004020202020204" pitchFamily="34" charset="0"/>
                <a:cs typeface="B Nazanin" pitchFamily="2" charset="-78"/>
              </a:rPr>
              <a:t>نتایج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Results</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a:t>
            </a:r>
            <a:endParaRPr lang="en-US" sz="2000" dirty="0">
              <a:latin typeface="Aptos" panose="020B0004020202020204" pitchFamily="34" charset="0"/>
              <a:cs typeface="B Nazanin" pitchFamily="2" charset="-78"/>
            </a:endParaRPr>
          </a:p>
          <a:p>
            <a:pPr marL="952393" lvl="1" indent="-342900" algn="r" rtl="1">
              <a:buFont typeface="Arial" panose="020B0604020202020204" pitchFamily="34" charset="0"/>
              <a:buChar char="•"/>
            </a:pPr>
            <a:r>
              <a:rPr lang="fa-IR" sz="2000" dirty="0">
                <a:latin typeface="Aptos" panose="020B0004020202020204" pitchFamily="34" charset="0"/>
                <a:cs typeface="B Nazanin" pitchFamily="2" charset="-78"/>
              </a:rPr>
              <a:t>نمایش </a:t>
            </a:r>
            <a:r>
              <a:rPr lang="fa-IR" sz="2000" dirty="0" err="1">
                <a:latin typeface="Aptos" panose="020B0004020202020204" pitchFamily="34" charset="0"/>
                <a:cs typeface="B Nazanin" pitchFamily="2" charset="-78"/>
              </a:rPr>
              <a:t>داده‌ها</a:t>
            </a:r>
            <a:r>
              <a:rPr lang="fa-IR" sz="2000" dirty="0">
                <a:latin typeface="Aptos" panose="020B0004020202020204" pitchFamily="34" charset="0"/>
                <a:cs typeface="B Nazanin" pitchFamily="2" charset="-78"/>
              </a:rPr>
              <a:t> با جداول، نمودارها یا تصاویر.</a:t>
            </a:r>
          </a:p>
          <a:p>
            <a:pPr marL="952393" lvl="1" indent="-342900" algn="r" rtl="1">
              <a:buFont typeface="Arial" panose="020B0604020202020204" pitchFamily="34" charset="0"/>
              <a:buChar char="•"/>
            </a:pPr>
            <a:r>
              <a:rPr lang="fa-IR" sz="2000" dirty="0">
                <a:latin typeface="Aptos" panose="020B0004020202020204" pitchFamily="34" charset="0"/>
                <a:cs typeface="B Nazanin" pitchFamily="2" charset="-78"/>
              </a:rPr>
              <a:t>گزارش آماری (میانگین، انحراف معیار، </a:t>
            </a:r>
            <a:r>
              <a:rPr lang="fa-IR" sz="2000" dirty="0" err="1">
                <a:latin typeface="Aptos" panose="020B0004020202020204" pitchFamily="34" charset="0"/>
                <a:cs typeface="B Nazanin" pitchFamily="2" charset="-78"/>
              </a:rPr>
              <a:t>آزمون‌های</a:t>
            </a:r>
            <a:r>
              <a:rPr lang="fa-IR" sz="2000" dirty="0">
                <a:latin typeface="Aptos" panose="020B0004020202020204" pitchFamily="34" charset="0"/>
                <a:cs typeface="B Nazanin" pitchFamily="2" charset="-78"/>
              </a:rPr>
              <a:t> آماری و سطح معناداری).</a:t>
            </a:r>
          </a:p>
          <a:p>
            <a:pPr marL="952393" lvl="1" indent="-342900" algn="r" rtl="1">
              <a:buFont typeface="Arial" panose="020B0604020202020204" pitchFamily="34" charset="0"/>
              <a:buChar char="•"/>
            </a:pPr>
            <a:r>
              <a:rPr lang="fa-IR" sz="2000" dirty="0">
                <a:latin typeface="Aptos" panose="020B0004020202020204" pitchFamily="34" charset="0"/>
                <a:cs typeface="B Nazanin" pitchFamily="2" charset="-78"/>
              </a:rPr>
              <a:t>بیان </a:t>
            </a:r>
            <a:r>
              <a:rPr lang="fa-IR" sz="2000" dirty="0" err="1">
                <a:latin typeface="Aptos" panose="020B0004020202020204" pitchFamily="34" charset="0"/>
                <a:cs typeface="B Nazanin" pitchFamily="2" charset="-78"/>
              </a:rPr>
              <a:t>یافته‌ها</a:t>
            </a:r>
            <a:r>
              <a:rPr lang="fa-IR" sz="2000" dirty="0">
                <a:latin typeface="Aptos" panose="020B0004020202020204" pitchFamily="34" charset="0"/>
                <a:cs typeface="B Nazanin" pitchFamily="2" charset="-78"/>
              </a:rPr>
              <a:t> </a:t>
            </a:r>
            <a:r>
              <a:rPr lang="fa-IR" sz="2000" dirty="0" err="1">
                <a:latin typeface="Aptos" panose="020B0004020202020204" pitchFamily="34" charset="0"/>
                <a:cs typeface="B Nazanin" pitchFamily="2" charset="-78"/>
              </a:rPr>
              <a:t>به‌صورت</a:t>
            </a:r>
            <a:r>
              <a:rPr lang="fa-IR" sz="2000" dirty="0">
                <a:latin typeface="Aptos" panose="020B0004020202020204" pitchFamily="34" charset="0"/>
                <a:cs typeface="B Nazanin" pitchFamily="2" charset="-78"/>
              </a:rPr>
              <a:t> شفاف و </a:t>
            </a:r>
            <a:r>
              <a:rPr lang="fa-IR" sz="2000" dirty="0" err="1">
                <a:latin typeface="Aptos" panose="020B0004020202020204" pitchFamily="34" charset="0"/>
                <a:cs typeface="B Nazanin" pitchFamily="2" charset="-78"/>
              </a:rPr>
              <a:t>بی‌طرفانه</a:t>
            </a:r>
            <a:r>
              <a:rPr lang="fa-IR" sz="2000" dirty="0">
                <a:latin typeface="Aptos" panose="020B0004020202020204" pitchFamily="34" charset="0"/>
                <a:cs typeface="B Nazanin" pitchFamily="2" charset="-78"/>
              </a:rPr>
              <a:t>.</a:t>
            </a:r>
          </a:p>
          <a:p>
            <a:pPr algn="r" rtl="1"/>
            <a:r>
              <a:rPr lang="fa-IR" sz="2000" dirty="0">
                <a:latin typeface="Aptos" panose="020B0004020202020204" pitchFamily="34" charset="0"/>
                <a:cs typeface="B Nazanin" pitchFamily="2" charset="-78"/>
              </a:rPr>
              <a:t>بحث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Discussion</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a:t>
            </a:r>
            <a:endParaRPr lang="en-US" sz="2000" dirty="0">
              <a:latin typeface="Aptos" panose="020B0004020202020204" pitchFamily="34" charset="0"/>
              <a:cs typeface="B Nazanin" pitchFamily="2" charset="-78"/>
            </a:endParaRP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تفسیر نتایج: توضیح اینکه </a:t>
            </a:r>
            <a:r>
              <a:rPr lang="fa-IR" sz="2000" dirty="0" err="1">
                <a:latin typeface="Aptos" panose="020B0004020202020204" pitchFamily="34" charset="0"/>
                <a:cs typeface="B Nazanin" pitchFamily="2" charset="-78"/>
              </a:rPr>
              <a:t>یافته‌ها</a:t>
            </a:r>
            <a:r>
              <a:rPr lang="fa-IR" sz="2000" dirty="0">
                <a:latin typeface="Aptos" panose="020B0004020202020204" pitchFamily="34" charset="0"/>
                <a:cs typeface="B Nazanin" pitchFamily="2" charset="-78"/>
              </a:rPr>
              <a:t> چه معنایی دارند.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مقایسه با </a:t>
            </a:r>
            <a:r>
              <a:rPr lang="fa-IR" sz="2000" dirty="0" err="1">
                <a:latin typeface="Aptos" panose="020B0004020202020204" pitchFamily="34" charset="0"/>
                <a:cs typeface="B Nazanin" pitchFamily="2" charset="-78"/>
              </a:rPr>
              <a:t>پژوهش‌های</a:t>
            </a:r>
            <a:r>
              <a:rPr lang="fa-IR" sz="2000" dirty="0">
                <a:latin typeface="Aptos" panose="020B0004020202020204" pitchFamily="34" charset="0"/>
                <a:cs typeface="B Nazanin" pitchFamily="2" charset="-78"/>
              </a:rPr>
              <a:t> قبلی: آیا نتایج مشابه یا متفاوت هستند؟ چرا؟</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توضیح دلایل احتمالی: عوامل مؤثر، </a:t>
            </a:r>
            <a:r>
              <a:rPr lang="fa-IR" sz="2000" dirty="0" err="1">
                <a:latin typeface="Aptos" panose="020B0004020202020204" pitchFamily="34" charset="0"/>
                <a:cs typeface="B Nazanin" pitchFamily="2" charset="-78"/>
              </a:rPr>
              <a:t>محدودیت‌ها</a:t>
            </a:r>
            <a:r>
              <a:rPr lang="fa-IR" sz="2000" dirty="0">
                <a:latin typeface="Aptos" panose="020B0004020202020204" pitchFamily="34" charset="0"/>
                <a:cs typeface="B Nazanin" pitchFamily="2" charset="-78"/>
              </a:rPr>
              <a:t> یا شرایط خاص مطالعه.</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اهمیت و کاربرد: نتایج چه تأثیری بر دانش علمی یا کاربرد عملی دارند؟</a:t>
            </a:r>
          </a:p>
          <a:p>
            <a:pPr marL="342900" indent="-342900" algn="r" rtl="1">
              <a:buFont typeface="Arial" panose="020B0604020202020204" pitchFamily="34" charset="0"/>
              <a:buChar char="•"/>
            </a:pPr>
            <a:r>
              <a:rPr lang="fa-IR" sz="2000" dirty="0" err="1">
                <a:latin typeface="Aptos" panose="020B0004020202020204" pitchFamily="34" charset="0"/>
                <a:cs typeface="B Nazanin" pitchFamily="2" charset="-78"/>
              </a:rPr>
              <a:t>محدودیت‌ها</a:t>
            </a:r>
            <a:r>
              <a:rPr lang="fa-IR" sz="2000" dirty="0">
                <a:latin typeface="Aptos" panose="020B0004020202020204" pitchFamily="34" charset="0"/>
                <a:cs typeface="B Nazanin" pitchFamily="2" charset="-78"/>
              </a:rPr>
              <a:t> و پیشنهادها: اشاره به نقاط ضعف مطالعه و مسیرهای آینده پژوهش.</a:t>
            </a:r>
            <a:endParaRPr lang="en-US" sz="2000" dirty="0">
              <a:latin typeface="Aptos" panose="020B0004020202020204" pitchFamily="34" charset="0"/>
              <a:cs typeface="B Nazanin" pitchFamily="2" charset="-78"/>
            </a:endParaRPr>
          </a:p>
          <a:p>
            <a:pPr marL="342900" indent="-342900" algn="r" rtl="1">
              <a:buFont typeface="Arial" panose="020B0604020202020204" pitchFamily="34" charset="0"/>
              <a:buChar char="•"/>
            </a:pPr>
            <a:endParaRPr lang="en-US" sz="2000" dirty="0">
              <a:latin typeface="Aptos" panose="020B0004020202020204" pitchFamily="34" charset="0"/>
              <a:cs typeface="B Nazanin" pitchFamily="2" charset="-78"/>
            </a:endParaRPr>
          </a:p>
          <a:p>
            <a:pPr algn="r" rtl="1"/>
            <a:r>
              <a:rPr lang="fa-IR" sz="2000" dirty="0" err="1">
                <a:latin typeface="Aptos" panose="020B0004020202020204" pitchFamily="34" charset="0"/>
                <a:cs typeface="B Nazanin" pitchFamily="2" charset="-78"/>
              </a:rPr>
              <a:t>ویژگی‌های</a:t>
            </a:r>
            <a:r>
              <a:rPr lang="fa-IR" sz="2000" dirty="0">
                <a:latin typeface="Aptos" panose="020B0004020202020204" pitchFamily="34" charset="0"/>
                <a:cs typeface="B Nazanin" pitchFamily="2" charset="-78"/>
              </a:rPr>
              <a:t> یک بخش نتایج و بحث خوب</a:t>
            </a:r>
            <a:r>
              <a:rPr lang="en-US" sz="2000" dirty="0">
                <a:latin typeface="Aptos" panose="020B0004020202020204" pitchFamily="34" charset="0"/>
                <a:cs typeface="B Nazanin" pitchFamily="2" charset="-78"/>
              </a:rPr>
              <a:t>:</a:t>
            </a:r>
            <a:endParaRPr lang="fa-IR" sz="2000" dirty="0">
              <a:latin typeface="Aptos" panose="020B0004020202020204" pitchFamily="34" charset="0"/>
              <a:cs typeface="B Nazanin" pitchFamily="2" charset="-78"/>
            </a:endParaRP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تفکیک واضح بین داده و تفسیر: ابتدا نتایج، سپس تحلیل.</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شفافیت و دقت: استفاده از اعداد، جداول و نمودارها برای وضوح بیشتر.</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ارتباط منطقی: بحث باید مستقیماً بر اساس نتایج </a:t>
            </a:r>
            <a:r>
              <a:rPr lang="fa-IR" sz="2000" dirty="0" err="1">
                <a:latin typeface="Aptos" panose="020B0004020202020204" pitchFamily="34" charset="0"/>
                <a:cs typeface="B Nazanin" pitchFamily="2" charset="-78"/>
              </a:rPr>
              <a:t>ارائه‌شده</a:t>
            </a:r>
            <a:r>
              <a:rPr lang="fa-IR" sz="2000" dirty="0">
                <a:latin typeface="Aptos" panose="020B0004020202020204" pitchFamily="34" charset="0"/>
                <a:cs typeface="B Nazanin" pitchFamily="2" charset="-78"/>
              </a:rPr>
              <a:t> باشد.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بیان </a:t>
            </a:r>
            <a:r>
              <a:rPr lang="fa-IR" sz="2000" dirty="0" err="1">
                <a:latin typeface="Aptos" panose="020B0004020202020204" pitchFamily="34" charset="0"/>
                <a:cs typeface="B Nazanin" pitchFamily="2" charset="-78"/>
              </a:rPr>
              <a:t>محدودیت‌ها</a:t>
            </a:r>
            <a:r>
              <a:rPr lang="fa-IR" sz="2000" dirty="0">
                <a:latin typeface="Aptos" panose="020B0004020202020204" pitchFamily="34" charset="0"/>
                <a:cs typeface="B Nazanin" pitchFamily="2" charset="-78"/>
              </a:rPr>
              <a:t>: صداقت علمی در بیان نقاط ضعف پژوهش.</a:t>
            </a:r>
          </a:p>
          <a:p>
            <a:pPr marL="342900" indent="-342900" algn="r" rtl="1">
              <a:buFont typeface="Arial" panose="020B0604020202020204" pitchFamily="34" charset="0"/>
              <a:buChar char="•"/>
            </a:pPr>
            <a:r>
              <a:rPr lang="fa-IR" sz="2000" dirty="0" err="1">
                <a:latin typeface="Aptos" panose="020B0004020202020204" pitchFamily="34" charset="0"/>
                <a:cs typeface="B Nazanin" pitchFamily="2" charset="-78"/>
              </a:rPr>
              <a:t>پایان‌بندی</a:t>
            </a:r>
            <a:r>
              <a:rPr lang="fa-IR" sz="2000" dirty="0">
                <a:latin typeface="Aptos" panose="020B0004020202020204" pitchFamily="34" charset="0"/>
                <a:cs typeface="B Nazanin" pitchFamily="2" charset="-78"/>
              </a:rPr>
              <a:t> قوی: </a:t>
            </a:r>
            <a:r>
              <a:rPr lang="fa-IR" sz="2000" dirty="0" err="1">
                <a:latin typeface="Aptos" panose="020B0004020202020204" pitchFamily="34" charset="0"/>
                <a:cs typeface="B Nazanin" pitchFamily="2" charset="-78"/>
              </a:rPr>
              <a:t>جمع‌بندی</a:t>
            </a:r>
            <a:r>
              <a:rPr lang="fa-IR" sz="2000" dirty="0">
                <a:latin typeface="Aptos" panose="020B0004020202020204" pitchFamily="34" charset="0"/>
                <a:cs typeface="B Nazanin" pitchFamily="2" charset="-78"/>
              </a:rPr>
              <a:t> بحث با تأکید بر پیام اصلی پژوهش.</a:t>
            </a:r>
          </a:p>
          <a:p>
            <a:pPr algn="r" rtl="1"/>
            <a:endParaRPr lang="fa-IR" sz="2000" dirty="0">
              <a:latin typeface="Aptos" panose="020B0004020202020204" pitchFamily="34" charset="0"/>
              <a:cs typeface="B Nazanin" pitchFamily="2" charset="-78"/>
            </a:endParaRPr>
          </a:p>
        </p:txBody>
      </p:sp>
      <p:pic>
        <p:nvPicPr>
          <p:cNvPr id="5" name="Picture 4" descr="A white symbol with a black background">
            <a:extLst>
              <a:ext uri="{FF2B5EF4-FFF2-40B4-BE49-F238E27FC236}">
                <a16:creationId xmlns:a16="http://schemas.microsoft.com/office/drawing/2014/main" id="{3F414D9B-11AD-EFA4-5EF7-D49D5F2600E8}"/>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140701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FFF6A1-5107-952C-9176-0D4572BD5C4E}"/>
              </a:ext>
            </a:extLst>
          </p:cNvPr>
          <p:cNvSpPr>
            <a:spLocks noGrp="1"/>
          </p:cNvSpPr>
          <p:nvPr>
            <p:ph idx="1"/>
          </p:nvPr>
        </p:nvSpPr>
        <p:spPr>
          <a:xfrm>
            <a:off x="379412" y="228600"/>
            <a:ext cx="11277600" cy="990600"/>
          </a:xfrm>
        </p:spPr>
        <p:txBody>
          <a:bodyPr>
            <a:normAutofit/>
          </a:bodyPr>
          <a:lstStyle/>
          <a:p>
            <a:pPr marL="0" indent="0" algn="r" rtl="1">
              <a:buNone/>
            </a:pPr>
            <a:r>
              <a:rPr lang="fa-IR" sz="4500" dirty="0">
                <a:solidFill>
                  <a:schemeClr val="accent2">
                    <a:lumMod val="50000"/>
                  </a:schemeClr>
                </a:solidFill>
                <a:latin typeface="B Mitra" pitchFamily="2" charset="-78"/>
                <a:cs typeface="B Mitra" pitchFamily="2" charset="-78"/>
              </a:rPr>
              <a:t>۶</a:t>
            </a:r>
            <a:r>
              <a:rPr lang="fa-IR" sz="4500" dirty="0">
                <a:solidFill>
                  <a:schemeClr val="accent2">
                    <a:lumMod val="50000"/>
                  </a:schemeClr>
                </a:solidFill>
                <a:latin typeface="Times New Roman" panose="02020603050405020304" pitchFamily="18" charset="0"/>
                <a:cs typeface="Times New Roman" panose="02020603050405020304" pitchFamily="18" charset="0"/>
              </a:rPr>
              <a:t>. نتیجه گیری </a:t>
            </a:r>
            <a:r>
              <a:rPr lang="en-US" sz="4500" dirty="0">
                <a:solidFill>
                  <a:schemeClr val="accent2">
                    <a:lumMod val="50000"/>
                  </a:schemeClr>
                </a:solidFill>
                <a:latin typeface="Aptos" panose="020B0004020202020204" pitchFamily="34" charset="0"/>
                <a:cs typeface="B Mitra" pitchFamily="2" charset="-78"/>
              </a:rPr>
              <a:t>(Conclusion)</a:t>
            </a:r>
            <a:endParaRPr lang="fa-IR" sz="4500" dirty="0">
              <a:solidFill>
                <a:schemeClr val="accent2">
                  <a:lumMod val="50000"/>
                </a:schemeClr>
              </a:solidFill>
              <a:latin typeface="Aptos" panose="020B0004020202020204" pitchFamily="34" charset="0"/>
              <a:cs typeface="B Mitra" pitchFamily="2" charset="-78"/>
            </a:endParaRPr>
          </a:p>
          <a:p>
            <a:pPr marL="0" indent="0" algn="r" rtl="1">
              <a:buNone/>
            </a:pPr>
            <a:endParaRPr lang="fa-IR" sz="4500" dirty="0">
              <a:solidFill>
                <a:schemeClr val="accent2">
                  <a:lumMod val="50000"/>
                </a:schemeClr>
              </a:solidFill>
              <a:latin typeface="B Mitra" pitchFamily="2" charset="-78"/>
              <a:cs typeface="B Mitra" pitchFamily="2" charset="-78"/>
            </a:endParaRPr>
          </a:p>
          <a:p>
            <a:pPr marL="0" indent="0" algn="r" rtl="1">
              <a:buNone/>
            </a:pPr>
            <a:endParaRPr lang="fa-IR" sz="4500" dirty="0">
              <a:solidFill>
                <a:schemeClr val="accent2">
                  <a:lumMod val="50000"/>
                </a:schemeClr>
              </a:solidFill>
              <a:latin typeface="Aptos" panose="020B0004020202020204" pitchFamily="34" charset="0"/>
              <a:cs typeface="B Mitra" pitchFamily="2" charset="-78"/>
            </a:endParaRPr>
          </a:p>
        </p:txBody>
      </p:sp>
      <p:sp>
        <p:nvSpPr>
          <p:cNvPr id="5" name="TextBox 4">
            <a:extLst>
              <a:ext uri="{FF2B5EF4-FFF2-40B4-BE49-F238E27FC236}">
                <a16:creationId xmlns:a16="http://schemas.microsoft.com/office/drawing/2014/main" id="{4EA8A421-D8ED-6A61-25C2-12ECBA47A318}"/>
              </a:ext>
            </a:extLst>
          </p:cNvPr>
          <p:cNvSpPr txBox="1"/>
          <p:nvPr/>
        </p:nvSpPr>
        <p:spPr>
          <a:xfrm>
            <a:off x="455612" y="1249251"/>
            <a:ext cx="11201400" cy="5251438"/>
          </a:xfrm>
          <a:prstGeom prst="rect">
            <a:avLst/>
          </a:prstGeom>
          <a:noFill/>
        </p:spPr>
        <p:txBody>
          <a:bodyPr wrap="square" rtlCol="0">
            <a:spAutoFit/>
          </a:bodyPr>
          <a:lstStyle/>
          <a:p>
            <a:pPr algn="r" rtl="1">
              <a:lnSpc>
                <a:spcPct val="95000"/>
              </a:lnSpc>
            </a:pPr>
            <a:r>
              <a:rPr lang="fa-IR" sz="2000" dirty="0">
                <a:latin typeface="B Nazanin" pitchFamily="2" charset="-78"/>
                <a:cs typeface="B Nazanin" pitchFamily="2" charset="-78"/>
              </a:rPr>
              <a:t>بخش </a:t>
            </a:r>
            <a:r>
              <a:rPr lang="fa-IR" sz="2000" dirty="0" err="1">
                <a:latin typeface="B Nazanin" pitchFamily="2" charset="-78"/>
                <a:cs typeface="B Nazanin" pitchFamily="2" charset="-78"/>
              </a:rPr>
              <a:t>نتیجه‌گیری</a:t>
            </a:r>
            <a:r>
              <a:rPr lang="fa-IR" sz="2000" dirty="0">
                <a:latin typeface="B Nazanin" pitchFamily="2" charset="-78"/>
                <a:cs typeface="B Nazanin" pitchFamily="2" charset="-78"/>
              </a:rPr>
              <a:t> آخرین قسمت مقاله علمی است و باید پیام اصلی پژوهش را </a:t>
            </a:r>
            <a:r>
              <a:rPr lang="fa-IR" sz="2000" dirty="0" err="1">
                <a:latin typeface="B Nazanin" pitchFamily="2" charset="-78"/>
                <a:cs typeface="B Nazanin" pitchFamily="2" charset="-78"/>
              </a:rPr>
              <a:t>به‌طور</a:t>
            </a:r>
            <a:r>
              <a:rPr lang="fa-IR" sz="2000" dirty="0">
                <a:latin typeface="B Nazanin" pitchFamily="2" charset="-78"/>
                <a:cs typeface="B Nazanin" pitchFamily="2" charset="-78"/>
              </a:rPr>
              <a:t> خلاصه و روشن منتقل کند. این بخش فرصتی است برای تأکید بر اهمیت </a:t>
            </a:r>
            <a:r>
              <a:rPr lang="fa-IR" sz="2000" dirty="0" err="1">
                <a:latin typeface="B Nazanin" pitchFamily="2" charset="-78"/>
                <a:cs typeface="B Nazanin" pitchFamily="2" charset="-78"/>
              </a:rPr>
              <a:t>یافته‌ها</a:t>
            </a:r>
            <a:r>
              <a:rPr lang="fa-IR" sz="2000" dirty="0">
                <a:latin typeface="B Nazanin" pitchFamily="2" charset="-78"/>
                <a:cs typeface="B Nazanin" pitchFamily="2" charset="-78"/>
              </a:rPr>
              <a:t> و نشان دادن اینکه پژوهش شما چه چیزی به دانش موجود اضافه کرده است.</a:t>
            </a:r>
          </a:p>
          <a:p>
            <a:pPr marL="0" algn="r" defTabSz="1218987" rtl="1" eaLnBrk="1" latinLnBrk="0" hangingPunct="1">
              <a:lnSpc>
                <a:spcPct val="95000"/>
              </a:lnSpc>
            </a:pPr>
            <a:r>
              <a:rPr lang="fa-IR" sz="2000" dirty="0">
                <a:latin typeface="B Nazanin" pitchFamily="2" charset="-78"/>
                <a:cs typeface="B Nazanin" pitchFamily="2" charset="-78"/>
              </a:rPr>
              <a:t>نتیجه گیری باید بتواند هدف و نتیجه اصلی پژوهش را به طور مختصر و مفید بیان کند ولی از تکرار مجدد چکیده پرهیز کند.</a:t>
            </a:r>
          </a:p>
          <a:p>
            <a:pPr marL="0" algn="r" defTabSz="1218987" rtl="1" eaLnBrk="1" latinLnBrk="0" hangingPunct="1">
              <a:lnSpc>
                <a:spcPct val="95000"/>
              </a:lnSpc>
            </a:pP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اهداف </a:t>
            </a:r>
            <a:r>
              <a:rPr lang="fa-IR" sz="2000" dirty="0" err="1">
                <a:latin typeface="B Nazanin" pitchFamily="2" charset="-78"/>
                <a:cs typeface="B Nazanin" pitchFamily="2" charset="-78"/>
              </a:rPr>
              <a:t>نتیجه‌گیری</a:t>
            </a:r>
            <a:r>
              <a:rPr lang="fa-IR" sz="2000" dirty="0">
                <a:latin typeface="B Nazanin" pitchFamily="2" charset="-78"/>
                <a:cs typeface="B Nazanin" pitchFamily="2" charset="-78"/>
              </a:rPr>
              <a:t>:</a:t>
            </a:r>
          </a:p>
          <a:p>
            <a:pPr marL="342900" indent="-342900" algn="r" rtl="1">
              <a:buFont typeface="Arial" panose="020B0604020202020204" pitchFamily="34" charset="0"/>
              <a:buChar char="•"/>
            </a:pPr>
            <a:r>
              <a:rPr lang="fa-IR" sz="2000" dirty="0" err="1">
                <a:latin typeface="B Nazanin" pitchFamily="2" charset="-78"/>
                <a:cs typeface="B Nazanin" pitchFamily="2" charset="-78"/>
              </a:rPr>
              <a:t>خلاصه‌سازی</a:t>
            </a:r>
            <a:r>
              <a:rPr lang="fa-IR" sz="2000" dirty="0">
                <a:latin typeface="B Nazanin" pitchFamily="2" charset="-78"/>
                <a:cs typeface="B Nazanin" pitchFamily="2" charset="-78"/>
              </a:rPr>
              <a:t> پیام اصلی: بیان کوتاه و دقیق </a:t>
            </a:r>
            <a:r>
              <a:rPr lang="fa-IR" sz="2000" dirty="0" err="1">
                <a:latin typeface="B Nazanin" pitchFamily="2" charset="-78"/>
                <a:cs typeface="B Nazanin" pitchFamily="2" charset="-78"/>
              </a:rPr>
              <a:t>مهم‌ترین</a:t>
            </a:r>
            <a:r>
              <a:rPr lang="fa-IR" sz="2000" dirty="0">
                <a:latin typeface="B Nazanin" pitchFamily="2" charset="-78"/>
                <a:cs typeface="B Nazanin" pitchFamily="2" charset="-78"/>
              </a:rPr>
              <a:t> </a:t>
            </a:r>
            <a:r>
              <a:rPr lang="fa-IR" sz="2000" dirty="0" err="1">
                <a:latin typeface="B Nazanin" pitchFamily="2" charset="-78"/>
                <a:cs typeface="B Nazanin" pitchFamily="2" charset="-78"/>
              </a:rPr>
              <a:t>یافته‌ها</a:t>
            </a:r>
            <a:r>
              <a:rPr lang="fa-IR" sz="2000" dirty="0">
                <a:latin typeface="B Nazanin" pitchFamily="2" charset="-78"/>
                <a:cs typeface="B Nazanin" pitchFamily="2" charset="-78"/>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پاسخ به پرسش پژوهش: نشان دهد تحقیق به چه </a:t>
            </a:r>
            <a:r>
              <a:rPr lang="fa-IR" sz="2000" dirty="0" err="1">
                <a:latin typeface="B Nazanin" pitchFamily="2" charset="-78"/>
                <a:cs typeface="B Nazanin" pitchFamily="2" charset="-78"/>
              </a:rPr>
              <a:t>نتیجه‌ای</a:t>
            </a:r>
            <a:r>
              <a:rPr lang="fa-IR" sz="2000" dirty="0">
                <a:latin typeface="B Nazanin" pitchFamily="2" charset="-78"/>
                <a:cs typeface="B Nazanin" pitchFamily="2" charset="-78"/>
              </a:rPr>
              <a:t> رسیده است.</a:t>
            </a:r>
          </a:p>
          <a:p>
            <a:pPr marL="342900" indent="-342900" algn="r" rtl="1">
              <a:buFont typeface="Arial" panose="020B0604020202020204" pitchFamily="34" charset="0"/>
              <a:buChar char="•"/>
            </a:pPr>
            <a:r>
              <a:rPr lang="fa-IR" sz="2000" dirty="0">
                <a:latin typeface="B Nazanin" pitchFamily="2" charset="-78"/>
                <a:cs typeface="B Nazanin" pitchFamily="2" charset="-78"/>
              </a:rPr>
              <a:t>اهمیت علمی یا کاربردی: توضیح دهد چرا این نتایج مهم هستند.</a:t>
            </a:r>
          </a:p>
          <a:p>
            <a:pPr marL="342900" indent="-342900" algn="r" rtl="1">
              <a:buFont typeface="Arial" panose="020B0604020202020204" pitchFamily="34" charset="0"/>
              <a:buChar char="•"/>
            </a:pPr>
            <a:r>
              <a:rPr lang="fa-IR" sz="2000" dirty="0">
                <a:latin typeface="B Nazanin" pitchFamily="2" charset="-78"/>
                <a:cs typeface="B Nazanin" pitchFamily="2" charset="-78"/>
              </a:rPr>
              <a:t>پیشنهاد برای آینده: مسیرهای پژوهشی بعدی یا کاربردهای عملی را مطرح کند.</a:t>
            </a:r>
          </a:p>
          <a:p>
            <a:pPr marL="342900" indent="-342900" algn="r" rtl="1">
              <a:buFont typeface="Arial" panose="020B0604020202020204" pitchFamily="34" charset="0"/>
              <a:buChar char="•"/>
            </a:pP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ساختار استاندارد </a:t>
            </a:r>
            <a:r>
              <a:rPr lang="fa-IR" sz="2000" dirty="0" err="1">
                <a:latin typeface="B Nazanin" pitchFamily="2" charset="-78"/>
                <a:cs typeface="B Nazanin" pitchFamily="2" charset="-78"/>
              </a:rPr>
              <a:t>نتیجه‌گیری</a:t>
            </a:r>
            <a:r>
              <a:rPr lang="fa-IR" sz="2000" dirty="0">
                <a:latin typeface="B Nazanin" pitchFamily="2" charset="-78"/>
                <a:cs typeface="B Nazanin" pitchFamily="2" charset="-78"/>
              </a:rPr>
              <a:t>:</a:t>
            </a:r>
          </a:p>
          <a:p>
            <a:pPr marL="342900" indent="-342900" algn="r" rtl="1">
              <a:buFont typeface="Arial" panose="020B0604020202020204" pitchFamily="34" charset="0"/>
              <a:buChar char="•"/>
            </a:pPr>
            <a:r>
              <a:rPr lang="fa-IR" sz="2000" dirty="0">
                <a:latin typeface="B Nazanin" pitchFamily="2" charset="-78"/>
                <a:cs typeface="B Nazanin" pitchFamily="2" charset="-78"/>
              </a:rPr>
              <a:t>یادآوری هدف پژوهش: یک جمله کوتاه درباره اینکه تحقیق چه چیزی را بررسی کرد.</a:t>
            </a:r>
          </a:p>
          <a:p>
            <a:pPr marL="342900" indent="-342900" algn="r" rtl="1">
              <a:buFont typeface="Arial" panose="020B0604020202020204" pitchFamily="34" charset="0"/>
              <a:buChar char="•"/>
            </a:pPr>
            <a:r>
              <a:rPr lang="fa-IR" sz="2000" dirty="0">
                <a:latin typeface="B Nazanin" pitchFamily="2" charset="-78"/>
                <a:cs typeface="B Nazanin" pitchFamily="2" charset="-78"/>
              </a:rPr>
              <a:t>بیان </a:t>
            </a:r>
            <a:r>
              <a:rPr lang="fa-IR" sz="2000" dirty="0" err="1">
                <a:latin typeface="B Nazanin" pitchFamily="2" charset="-78"/>
                <a:cs typeface="B Nazanin" pitchFamily="2" charset="-78"/>
              </a:rPr>
              <a:t>یافته‌های</a:t>
            </a:r>
            <a:r>
              <a:rPr lang="fa-IR" sz="2000" dirty="0">
                <a:latin typeface="B Nazanin" pitchFamily="2" charset="-78"/>
                <a:cs typeface="B Nazanin" pitchFamily="2" charset="-78"/>
              </a:rPr>
              <a:t> کلیدی: </a:t>
            </a:r>
            <a:r>
              <a:rPr lang="fa-IR" sz="2000" dirty="0" err="1">
                <a:latin typeface="B Nazanin" pitchFamily="2" charset="-78"/>
                <a:cs typeface="B Nazanin" pitchFamily="2" charset="-78"/>
              </a:rPr>
              <a:t>خلاصه‌ای</a:t>
            </a:r>
            <a:r>
              <a:rPr lang="fa-IR" sz="2000" dirty="0">
                <a:latin typeface="B Nazanin" pitchFamily="2" charset="-78"/>
                <a:cs typeface="B Nazanin" pitchFamily="2" charset="-78"/>
              </a:rPr>
              <a:t> از نتایج اصلی، بدون ورود به جزئیات آماری.</a:t>
            </a:r>
          </a:p>
          <a:p>
            <a:pPr marL="342900" indent="-342900" algn="r" rtl="1">
              <a:buFont typeface="Arial" panose="020B0604020202020204" pitchFamily="34" charset="0"/>
              <a:buChar char="•"/>
            </a:pPr>
            <a:r>
              <a:rPr lang="fa-IR" sz="2000" dirty="0">
                <a:latin typeface="B Nazanin" pitchFamily="2" charset="-78"/>
                <a:cs typeface="B Nazanin" pitchFamily="2" charset="-78"/>
              </a:rPr>
              <a:t>اهمیت و کاربرد: توضیح اینکه این </a:t>
            </a:r>
            <a:r>
              <a:rPr lang="fa-IR" sz="2000" dirty="0" err="1">
                <a:latin typeface="B Nazanin" pitchFamily="2" charset="-78"/>
                <a:cs typeface="B Nazanin" pitchFamily="2" charset="-78"/>
              </a:rPr>
              <a:t>یافته‌ها</a:t>
            </a:r>
            <a:r>
              <a:rPr lang="fa-IR" sz="2000" dirty="0">
                <a:latin typeface="B Nazanin" pitchFamily="2" charset="-78"/>
                <a:cs typeface="B Nazanin" pitchFamily="2" charset="-78"/>
              </a:rPr>
              <a:t> چه تأثیری بر دانش یا عمل دارند.</a:t>
            </a:r>
          </a:p>
          <a:p>
            <a:pPr marL="342900" indent="-342900" algn="r" rtl="1">
              <a:buFont typeface="Arial" panose="020B0604020202020204" pitchFamily="34" charset="0"/>
              <a:buChar char="•"/>
            </a:pPr>
            <a:r>
              <a:rPr lang="fa-IR" sz="2000" dirty="0">
                <a:latin typeface="B Nazanin" pitchFamily="2" charset="-78"/>
                <a:cs typeface="B Nazanin" pitchFamily="2" charset="-78"/>
              </a:rPr>
              <a:t>پیشنهادها: اشاره به </a:t>
            </a:r>
            <a:r>
              <a:rPr lang="fa-IR" sz="2000" dirty="0" err="1">
                <a:latin typeface="B Nazanin" pitchFamily="2" charset="-78"/>
                <a:cs typeface="B Nazanin" pitchFamily="2" charset="-78"/>
              </a:rPr>
              <a:t>محدودیت‌ها</a:t>
            </a:r>
            <a:r>
              <a:rPr lang="fa-IR" sz="2000" dirty="0">
                <a:latin typeface="B Nazanin" pitchFamily="2" charset="-78"/>
                <a:cs typeface="B Nazanin" pitchFamily="2" charset="-78"/>
              </a:rPr>
              <a:t> و مسیرهای آینده پژوهش.</a:t>
            </a:r>
          </a:p>
          <a:p>
            <a:pPr algn="r" rtl="1"/>
            <a:endParaRPr lang="fa-IR" sz="2000" dirty="0">
              <a:latin typeface="B Nazanin" pitchFamily="2" charset="-78"/>
              <a:cs typeface="B Nazanin" pitchFamily="2" charset="-78"/>
            </a:endParaRPr>
          </a:p>
          <a:p>
            <a:pPr marL="0" algn="r" defTabSz="1218987" rtl="1" eaLnBrk="1" latinLnBrk="0" hangingPunct="1">
              <a:lnSpc>
                <a:spcPct val="95000"/>
              </a:lnSpc>
            </a:pPr>
            <a:endParaRPr lang="en-US" sz="2000" dirty="0">
              <a:latin typeface="B Nazanin" pitchFamily="2" charset="-78"/>
              <a:cs typeface="B Nazanin" pitchFamily="2" charset="-78"/>
            </a:endParaRPr>
          </a:p>
        </p:txBody>
      </p:sp>
      <p:pic>
        <p:nvPicPr>
          <p:cNvPr id="4" name="Picture 3" descr="A white symbol with a black background">
            <a:extLst>
              <a:ext uri="{FF2B5EF4-FFF2-40B4-BE49-F238E27FC236}">
                <a16:creationId xmlns:a16="http://schemas.microsoft.com/office/drawing/2014/main" id="{F9314DB9-9348-FA1F-FFED-1AE219BD938E}"/>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018198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27A063-E042-8C60-8E0E-3D1DA8498ABB}"/>
              </a:ext>
            </a:extLst>
          </p:cNvPr>
          <p:cNvSpPr txBox="1"/>
          <p:nvPr/>
        </p:nvSpPr>
        <p:spPr>
          <a:xfrm>
            <a:off x="493712" y="304800"/>
            <a:ext cx="11201400" cy="2850780"/>
          </a:xfrm>
          <a:prstGeom prst="rect">
            <a:avLst/>
          </a:prstGeom>
          <a:noFill/>
        </p:spPr>
        <p:txBody>
          <a:bodyPr wrap="square" rtlCol="0">
            <a:spAutoFit/>
          </a:bodyPr>
          <a:lstStyle/>
          <a:p>
            <a:pPr algn="r" rtl="1"/>
            <a:r>
              <a:rPr lang="fa-IR" sz="2000" dirty="0" err="1">
                <a:latin typeface="B Nazanin" pitchFamily="2" charset="-78"/>
                <a:cs typeface="B Nazanin" pitchFamily="2" charset="-78"/>
              </a:rPr>
              <a:t>ویژگی‌های</a:t>
            </a:r>
            <a:r>
              <a:rPr lang="fa-IR" sz="2000" dirty="0">
                <a:latin typeface="B Nazanin" pitchFamily="2" charset="-78"/>
                <a:cs typeface="B Nazanin" pitchFamily="2" charset="-78"/>
              </a:rPr>
              <a:t> یک </a:t>
            </a:r>
            <a:r>
              <a:rPr lang="fa-IR" sz="2000" dirty="0" err="1">
                <a:latin typeface="B Nazanin" pitchFamily="2" charset="-78"/>
                <a:cs typeface="B Nazanin" pitchFamily="2" charset="-78"/>
              </a:rPr>
              <a:t>نتیجه‌گیری</a:t>
            </a:r>
            <a:r>
              <a:rPr lang="fa-IR" sz="2000" dirty="0">
                <a:latin typeface="B Nazanin" pitchFamily="2" charset="-78"/>
                <a:cs typeface="B Nazanin" pitchFamily="2" charset="-78"/>
              </a:rPr>
              <a:t> خوب:</a:t>
            </a:r>
          </a:p>
          <a:p>
            <a:pPr marL="342900" indent="-342900" algn="r" rtl="1">
              <a:buFont typeface="Arial" panose="020B0604020202020204" pitchFamily="34" charset="0"/>
              <a:buChar char="•"/>
            </a:pPr>
            <a:r>
              <a:rPr lang="fa-IR" sz="2000" dirty="0">
                <a:latin typeface="B Nazanin" pitchFamily="2" charset="-78"/>
                <a:cs typeface="B Nazanin" pitchFamily="2" charset="-78"/>
              </a:rPr>
              <a:t>کوتاه و فشرده: معمولاً 1 تا 3 پاراگراف کافی است.</a:t>
            </a:r>
          </a:p>
          <a:p>
            <a:pPr marL="342900" indent="-342900" algn="r" rtl="1">
              <a:buFont typeface="Arial" panose="020B0604020202020204" pitchFamily="34" charset="0"/>
              <a:buChar char="•"/>
            </a:pPr>
            <a:r>
              <a:rPr lang="fa-IR" sz="2000" dirty="0">
                <a:latin typeface="B Nazanin" pitchFamily="2" charset="-78"/>
                <a:cs typeface="B Nazanin" pitchFamily="2" charset="-78"/>
              </a:rPr>
              <a:t>بدون تکرار کامل نتایج: فقط نکات کلیدی را برجسته کنید.</a:t>
            </a:r>
          </a:p>
          <a:p>
            <a:pPr marL="342900" indent="-342900" algn="r" rtl="1">
              <a:buFont typeface="Arial" panose="020B0604020202020204" pitchFamily="34" charset="0"/>
              <a:buChar char="•"/>
            </a:pPr>
            <a:r>
              <a:rPr lang="fa-IR" sz="2000" dirty="0">
                <a:latin typeface="B Nazanin" pitchFamily="2" charset="-78"/>
                <a:cs typeface="B Nazanin" pitchFamily="2" charset="-78"/>
              </a:rPr>
              <a:t>بدون داده جدید: </a:t>
            </a:r>
            <a:r>
              <a:rPr lang="fa-IR" sz="2000" dirty="0" err="1">
                <a:latin typeface="B Nazanin" pitchFamily="2" charset="-78"/>
                <a:cs typeface="B Nazanin" pitchFamily="2" charset="-78"/>
              </a:rPr>
              <a:t>نتیجه‌گیری</a:t>
            </a:r>
            <a:r>
              <a:rPr lang="fa-IR" sz="2000" dirty="0">
                <a:latin typeface="B Nazanin" pitchFamily="2" charset="-78"/>
                <a:cs typeface="B Nazanin" pitchFamily="2" charset="-78"/>
              </a:rPr>
              <a:t> جای ارائه اطلاعات تازه نیست.</a:t>
            </a:r>
          </a:p>
          <a:p>
            <a:pPr marL="342900" indent="-342900" algn="r" rtl="1">
              <a:buFont typeface="Arial" panose="020B0604020202020204" pitchFamily="34" charset="0"/>
              <a:buChar char="•"/>
            </a:pPr>
            <a:r>
              <a:rPr lang="fa-IR" sz="2000" dirty="0">
                <a:latin typeface="B Nazanin" pitchFamily="2" charset="-78"/>
                <a:cs typeface="B Nazanin" pitchFamily="2" charset="-78"/>
              </a:rPr>
              <a:t>تأکید بر ارزش پژوهش: نشان دهید مطالعه شما چه چیزی به حوزه علمی اضافه کرده است.</a:t>
            </a:r>
          </a:p>
          <a:p>
            <a:pPr algn="r" rtl="1"/>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نمونه مقایسه ای:</a:t>
            </a:r>
          </a:p>
          <a:p>
            <a:pPr algn="r" rtl="1"/>
            <a:endParaRPr lang="fa-IR" sz="2000" dirty="0">
              <a:latin typeface="B Nazanin" pitchFamily="2" charset="-78"/>
              <a:cs typeface="B Nazanin" pitchFamily="2" charset="-78"/>
            </a:endParaRPr>
          </a:p>
          <a:p>
            <a:pPr marL="0" algn="r" defTabSz="1218987" rtl="1" eaLnBrk="1" latinLnBrk="0" hangingPunct="1">
              <a:lnSpc>
                <a:spcPct val="95000"/>
              </a:lnSpc>
            </a:pPr>
            <a:endParaRPr lang="en-US" sz="2000" dirty="0">
              <a:latin typeface="B Nazanin" pitchFamily="2" charset="-78"/>
              <a:cs typeface="B Nazanin" pitchFamily="2" charset="-78"/>
            </a:endParaRPr>
          </a:p>
        </p:txBody>
      </p:sp>
      <p:graphicFrame>
        <p:nvGraphicFramePr>
          <p:cNvPr id="4" name="Table 3">
            <a:extLst>
              <a:ext uri="{FF2B5EF4-FFF2-40B4-BE49-F238E27FC236}">
                <a16:creationId xmlns:a16="http://schemas.microsoft.com/office/drawing/2014/main" id="{6A94880E-9617-1EE3-DF6F-26172BD39825}"/>
              </a:ext>
            </a:extLst>
          </p:cNvPr>
          <p:cNvGraphicFramePr>
            <a:graphicFrameLocks noGrp="1"/>
          </p:cNvGraphicFramePr>
          <p:nvPr>
            <p:extLst>
              <p:ext uri="{D42A27DB-BD31-4B8C-83A1-F6EECF244321}">
                <p14:modId xmlns:p14="http://schemas.microsoft.com/office/powerpoint/2010/main" val="70593689"/>
              </p:ext>
            </p:extLst>
          </p:nvPr>
        </p:nvGraphicFramePr>
        <p:xfrm>
          <a:off x="2031470" y="2836440"/>
          <a:ext cx="8125884" cy="3230880"/>
        </p:xfrm>
        <a:graphic>
          <a:graphicData uri="http://schemas.openxmlformats.org/drawingml/2006/table">
            <a:tbl>
              <a:tblPr firstRow="1" bandRow="1">
                <a:tableStyleId>{5A111915-BE36-4E01-A7E5-04B1672EAD32}</a:tableStyleId>
              </a:tblPr>
              <a:tblGrid>
                <a:gridCol w="4062942">
                  <a:extLst>
                    <a:ext uri="{9D8B030D-6E8A-4147-A177-3AD203B41FA5}">
                      <a16:colId xmlns:a16="http://schemas.microsoft.com/office/drawing/2014/main" val="4182234463"/>
                    </a:ext>
                  </a:extLst>
                </a:gridCol>
                <a:gridCol w="4062942">
                  <a:extLst>
                    <a:ext uri="{9D8B030D-6E8A-4147-A177-3AD203B41FA5}">
                      <a16:colId xmlns:a16="http://schemas.microsoft.com/office/drawing/2014/main" val="971164692"/>
                    </a:ext>
                  </a:extLst>
                </a:gridCol>
              </a:tblGrid>
              <a:tr h="654420">
                <a:tc>
                  <a:txBody>
                    <a:bodyPr/>
                    <a:lstStyle/>
                    <a:p>
                      <a:pPr marL="0" algn="ctr" defTabSz="1218987" rtl="1" eaLnBrk="1" latinLnBrk="0" hangingPunct="1"/>
                      <a:r>
                        <a:rPr lang="fa-IR" sz="2000" dirty="0">
                          <a:latin typeface="B Nazanin" pitchFamily="2" charset="-78"/>
                          <a:cs typeface="B Nazanin" pitchFamily="2" charset="-78"/>
                        </a:rPr>
                        <a:t>نتیجه گیری ضعیف</a:t>
                      </a:r>
                      <a:endParaRPr lang="en-US" sz="2000" dirty="0">
                        <a:latin typeface="B Nazanin" pitchFamily="2" charset="-78"/>
                        <a:cs typeface="B Nazanin" pitchFamily="2" charset="-7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50000"/>
                      </a:schemeClr>
                    </a:solidFill>
                  </a:tcPr>
                </a:tc>
                <a:tc>
                  <a:txBody>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lang="fa-IR" sz="2000" dirty="0">
                          <a:latin typeface="B Nazanin" pitchFamily="2" charset="-78"/>
                          <a:cs typeface="B Nazanin" pitchFamily="2" charset="-78"/>
                        </a:rPr>
                        <a:t>نتیجه گیری قوی</a:t>
                      </a:r>
                      <a:endParaRPr lang="en-US" sz="2000" dirty="0">
                        <a:latin typeface="B Nazanin" pitchFamily="2" charset="-78"/>
                        <a:cs typeface="B Nazanin" pitchFamily="2" charset="-78"/>
                      </a:endParaRPr>
                    </a:p>
                    <a:p>
                      <a:pPr marL="0" algn="ctr" defTabSz="1218987" rtl="0" eaLnBrk="1" latinLnBrk="0" hangingPunct="1"/>
                      <a:endParaRPr lang="en-US" sz="2000"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336675305"/>
                  </a:ext>
                </a:extLst>
              </a:tr>
              <a:tr h="1309522">
                <a:tc>
                  <a:txBody>
                    <a:bodyPr/>
                    <a:lstStyle/>
                    <a:p>
                      <a:pPr marL="0" marR="0" lvl="0" indent="0" algn="ctr" defTabSz="1218987" rtl="1" eaLnBrk="1" fontAlgn="auto" latinLnBrk="0" hangingPunct="1">
                        <a:lnSpc>
                          <a:spcPct val="100000"/>
                        </a:lnSpc>
                        <a:spcBef>
                          <a:spcPts val="0"/>
                        </a:spcBef>
                        <a:spcAft>
                          <a:spcPts val="0"/>
                        </a:spcAft>
                        <a:buClrTx/>
                        <a:buSzTx/>
                        <a:buFontTx/>
                        <a:buNone/>
                        <a:tabLst/>
                        <a:defRPr/>
                      </a:pPr>
                      <a:endParaRPr lang="fa-IR" sz="2000" kern="1200" dirty="0">
                        <a:solidFill>
                          <a:schemeClr val="tx1"/>
                        </a:solidFill>
                        <a:effectLst/>
                        <a:latin typeface="B Nazanin" pitchFamily="2" charset="-78"/>
                        <a:ea typeface="+mn-ea"/>
                        <a:cs typeface="B Nazanin" pitchFamily="2" charset="-78"/>
                      </a:endParaRPr>
                    </a:p>
                    <a:p>
                      <a:pPr marL="0" marR="0" lvl="0" indent="0" algn="ctr" defTabSz="1218987" rtl="1" eaLnBrk="1" fontAlgn="auto" latinLnBrk="0" hangingPunct="1">
                        <a:lnSpc>
                          <a:spcPct val="100000"/>
                        </a:lnSpc>
                        <a:spcBef>
                          <a:spcPts val="0"/>
                        </a:spcBef>
                        <a:spcAft>
                          <a:spcPts val="0"/>
                        </a:spcAft>
                        <a:buClrTx/>
                        <a:buSzTx/>
                        <a:buFontTx/>
                        <a:buNone/>
                        <a:tabLst/>
                        <a:defRPr/>
                      </a:pPr>
                      <a:endParaRPr lang="fa-IR" sz="2000" kern="1200" dirty="0">
                        <a:solidFill>
                          <a:schemeClr val="tx1"/>
                        </a:solidFill>
                        <a:effectLst/>
                        <a:latin typeface="B Nazanin" pitchFamily="2" charset="-78"/>
                        <a:ea typeface="+mn-ea"/>
                        <a:cs typeface="B Nazanin" pitchFamily="2" charset="-78"/>
                      </a:endParaRPr>
                    </a:p>
                    <a:p>
                      <a:pPr marL="0" marR="0" lvl="0" indent="0" algn="ctr" defTabSz="1218987" rtl="1" eaLnBrk="1" fontAlgn="auto" latinLnBrk="0" hangingPunct="1">
                        <a:lnSpc>
                          <a:spcPct val="100000"/>
                        </a:lnSpc>
                        <a:spcBef>
                          <a:spcPts val="0"/>
                        </a:spcBef>
                        <a:spcAft>
                          <a:spcPts val="0"/>
                        </a:spcAft>
                        <a:buClrTx/>
                        <a:buSzTx/>
                        <a:buFontTx/>
                        <a:buNone/>
                        <a:tabLst/>
                        <a:defRPr/>
                      </a:pPr>
                      <a:r>
                        <a:rPr lang="fa-IR" sz="2000" kern="1200" dirty="0">
                          <a:solidFill>
                            <a:schemeClr val="tx1"/>
                          </a:solidFill>
                          <a:effectLst/>
                          <a:latin typeface="B Nazanin" pitchFamily="2" charset="-78"/>
                          <a:ea typeface="+mn-ea"/>
                          <a:cs typeface="B Nazanin" pitchFamily="2" charset="-78"/>
                        </a:rPr>
                        <a:t>این تحقیق نشان داد ورزش خوب است و باید ادامه یابد.</a:t>
                      </a:r>
                    </a:p>
                    <a:p>
                      <a:pPr marL="0" algn="ctr" defTabSz="1218987" rtl="1" eaLnBrk="1" latinLnBrk="0" hangingPunct="1"/>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1218987" rtl="1" eaLnBrk="1" fontAlgn="auto" latinLnBrk="0" hangingPunct="1">
                        <a:lnSpc>
                          <a:spcPct val="100000"/>
                        </a:lnSpc>
                        <a:spcBef>
                          <a:spcPts val="0"/>
                        </a:spcBef>
                        <a:spcAft>
                          <a:spcPts val="0"/>
                        </a:spcAft>
                        <a:buClrTx/>
                        <a:buSzTx/>
                        <a:buFontTx/>
                        <a:buNone/>
                        <a:tabLst/>
                        <a:defRPr/>
                      </a:pPr>
                      <a:r>
                        <a:rPr lang="fa-IR" sz="2000" kern="1200" dirty="0">
                          <a:solidFill>
                            <a:schemeClr val="tx1"/>
                          </a:solidFill>
                          <a:effectLst/>
                          <a:latin typeface="B Nazanin" pitchFamily="2" charset="-78"/>
                          <a:ea typeface="+mn-ea"/>
                          <a:cs typeface="B Nazanin" pitchFamily="2" charset="-78"/>
                        </a:rPr>
                        <a:t>این مطالعه نشان داد ورزش هوازی </a:t>
                      </a:r>
                      <a:r>
                        <a:rPr lang="fa-IR" sz="2000" kern="1200" dirty="0" err="1">
                          <a:solidFill>
                            <a:schemeClr val="tx1"/>
                          </a:solidFill>
                          <a:effectLst/>
                          <a:latin typeface="B Nazanin" pitchFamily="2" charset="-78"/>
                          <a:ea typeface="+mn-ea"/>
                          <a:cs typeface="B Nazanin" pitchFamily="2" charset="-78"/>
                        </a:rPr>
                        <a:t>می‌تواند</a:t>
                      </a:r>
                      <a:r>
                        <a:rPr lang="fa-IR" sz="2000" kern="1200" dirty="0">
                          <a:solidFill>
                            <a:schemeClr val="tx1"/>
                          </a:solidFill>
                          <a:effectLst/>
                          <a:latin typeface="B Nazanin" pitchFamily="2" charset="-78"/>
                          <a:ea typeface="+mn-ea"/>
                          <a:cs typeface="B Nazanin" pitchFamily="2" charset="-78"/>
                        </a:rPr>
                        <a:t> فشار خون بیماران مبتلا به دیابت نوع 2 را کاهش دهد. این یافته اهمیت ورزش منظم را در مدیریت </a:t>
                      </a:r>
                      <a:r>
                        <a:rPr lang="fa-IR" sz="2000" kern="1200" dirty="0" err="1">
                          <a:solidFill>
                            <a:schemeClr val="tx1"/>
                          </a:solidFill>
                          <a:effectLst/>
                          <a:latin typeface="B Nazanin" pitchFamily="2" charset="-78"/>
                          <a:ea typeface="+mn-ea"/>
                          <a:cs typeface="B Nazanin" pitchFamily="2" charset="-78"/>
                        </a:rPr>
                        <a:t>بیماری‌های</a:t>
                      </a:r>
                      <a:r>
                        <a:rPr lang="fa-IR" sz="2000" kern="1200" dirty="0">
                          <a:solidFill>
                            <a:schemeClr val="tx1"/>
                          </a:solidFill>
                          <a:effectLst/>
                          <a:latin typeface="B Nazanin" pitchFamily="2" charset="-78"/>
                          <a:ea typeface="+mn-ea"/>
                          <a:cs typeface="B Nazanin" pitchFamily="2" charset="-78"/>
                        </a:rPr>
                        <a:t> مزمن برجسته </a:t>
                      </a:r>
                      <a:r>
                        <a:rPr lang="fa-IR" sz="2000" kern="1200" dirty="0" err="1">
                          <a:solidFill>
                            <a:schemeClr val="tx1"/>
                          </a:solidFill>
                          <a:effectLst/>
                          <a:latin typeface="B Nazanin" pitchFamily="2" charset="-78"/>
                          <a:ea typeface="+mn-ea"/>
                          <a:cs typeface="B Nazanin" pitchFamily="2" charset="-78"/>
                        </a:rPr>
                        <a:t>می‌کند</a:t>
                      </a:r>
                      <a:r>
                        <a:rPr lang="fa-IR" sz="2000" kern="1200" dirty="0">
                          <a:solidFill>
                            <a:schemeClr val="tx1"/>
                          </a:solidFill>
                          <a:effectLst/>
                          <a:latin typeface="B Nazanin" pitchFamily="2" charset="-78"/>
                          <a:ea typeface="+mn-ea"/>
                          <a:cs typeface="B Nazanin" pitchFamily="2" charset="-78"/>
                        </a:rPr>
                        <a:t>. با توجه به محدودیت حجم نمونه، پیشنهاد </a:t>
                      </a:r>
                      <a:r>
                        <a:rPr lang="fa-IR" sz="2000" kern="1200" dirty="0" err="1">
                          <a:solidFill>
                            <a:schemeClr val="tx1"/>
                          </a:solidFill>
                          <a:effectLst/>
                          <a:latin typeface="B Nazanin" pitchFamily="2" charset="-78"/>
                          <a:ea typeface="+mn-ea"/>
                          <a:cs typeface="B Nazanin" pitchFamily="2" charset="-78"/>
                        </a:rPr>
                        <a:t>می‌شود</a:t>
                      </a:r>
                      <a:r>
                        <a:rPr lang="fa-IR" sz="2000" kern="1200" dirty="0">
                          <a:solidFill>
                            <a:schemeClr val="tx1"/>
                          </a:solidFill>
                          <a:effectLst/>
                          <a:latin typeface="B Nazanin" pitchFamily="2" charset="-78"/>
                          <a:ea typeface="+mn-ea"/>
                          <a:cs typeface="B Nazanin" pitchFamily="2" charset="-78"/>
                        </a:rPr>
                        <a:t> مطالعات آینده با جمعیت </a:t>
                      </a:r>
                      <a:r>
                        <a:rPr lang="fa-IR" sz="2000" kern="1200" dirty="0" err="1">
                          <a:solidFill>
                            <a:schemeClr val="tx1"/>
                          </a:solidFill>
                          <a:effectLst/>
                          <a:latin typeface="B Nazanin" pitchFamily="2" charset="-78"/>
                          <a:ea typeface="+mn-ea"/>
                          <a:cs typeface="B Nazanin" pitchFamily="2" charset="-78"/>
                        </a:rPr>
                        <a:t>بزرگ‌تر</a:t>
                      </a:r>
                      <a:r>
                        <a:rPr lang="fa-IR" sz="2000" kern="1200" dirty="0">
                          <a:solidFill>
                            <a:schemeClr val="tx1"/>
                          </a:solidFill>
                          <a:effectLst/>
                          <a:latin typeface="B Nazanin" pitchFamily="2" charset="-78"/>
                          <a:ea typeface="+mn-ea"/>
                          <a:cs typeface="B Nazanin" pitchFamily="2" charset="-78"/>
                        </a:rPr>
                        <a:t> و دوره زمانی </a:t>
                      </a:r>
                      <a:r>
                        <a:rPr lang="fa-IR" sz="2000" kern="1200" dirty="0" err="1">
                          <a:solidFill>
                            <a:schemeClr val="tx1"/>
                          </a:solidFill>
                          <a:effectLst/>
                          <a:latin typeface="B Nazanin" pitchFamily="2" charset="-78"/>
                          <a:ea typeface="+mn-ea"/>
                          <a:cs typeface="B Nazanin" pitchFamily="2" charset="-78"/>
                        </a:rPr>
                        <a:t>طولانی‌تر</a:t>
                      </a:r>
                      <a:r>
                        <a:rPr lang="fa-IR" sz="2000" kern="1200" dirty="0">
                          <a:solidFill>
                            <a:schemeClr val="tx1"/>
                          </a:solidFill>
                          <a:effectLst/>
                          <a:latin typeface="B Nazanin" pitchFamily="2" charset="-78"/>
                          <a:ea typeface="+mn-ea"/>
                          <a:cs typeface="B Nazanin" pitchFamily="2" charset="-78"/>
                        </a:rPr>
                        <a:t> انجام شوند.</a:t>
                      </a:r>
                    </a:p>
                    <a:p>
                      <a:pPr marL="0" algn="ctr" defTabSz="1218987" rtl="1" eaLnBrk="1" latinLnBrk="0" hangingPunct="1"/>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7999609"/>
                  </a:ext>
                </a:extLst>
              </a:tr>
            </a:tbl>
          </a:graphicData>
        </a:graphic>
      </p:graphicFrame>
      <p:pic>
        <p:nvPicPr>
          <p:cNvPr id="5" name="Picture 4" descr="A white symbol with a black background">
            <a:extLst>
              <a:ext uri="{FF2B5EF4-FFF2-40B4-BE49-F238E27FC236}">
                <a16:creationId xmlns:a16="http://schemas.microsoft.com/office/drawing/2014/main" id="{87409F45-6DB8-6D5F-8EC5-251FE150CC44}"/>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1754496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55335B-C94C-25ED-113A-C0C02345D47A}"/>
              </a:ext>
            </a:extLst>
          </p:cNvPr>
          <p:cNvSpPr>
            <a:spLocks noGrp="1"/>
          </p:cNvSpPr>
          <p:nvPr>
            <p:ph idx="1"/>
          </p:nvPr>
        </p:nvSpPr>
        <p:spPr>
          <a:xfrm>
            <a:off x="1522412" y="152400"/>
            <a:ext cx="10157354" cy="10668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400" dirty="0">
                <a:solidFill>
                  <a:schemeClr val="accent2">
                    <a:lumMod val="50000"/>
                  </a:schemeClr>
                </a:solidFill>
                <a:latin typeface="B Nazanin" pitchFamily="2" charset="-78"/>
                <a:cs typeface="B Nazanin" pitchFamily="2" charset="-78"/>
              </a:rPr>
              <a:t>۷. </a:t>
            </a:r>
            <a:r>
              <a:rPr lang="fa-IR" sz="5400" dirty="0">
                <a:solidFill>
                  <a:schemeClr val="accent2">
                    <a:lumMod val="50000"/>
                  </a:schemeClr>
                </a:solidFill>
                <a:latin typeface="Times New Roman" panose="02020603050405020304" pitchFamily="18" charset="0"/>
                <a:cs typeface="Times New Roman" panose="02020603050405020304" pitchFamily="18" charset="0"/>
              </a:rPr>
              <a:t>مراجع </a:t>
            </a:r>
            <a:r>
              <a:rPr lang="en-US" sz="4800" dirty="0">
                <a:solidFill>
                  <a:schemeClr val="accent2">
                    <a:lumMod val="50000"/>
                  </a:schemeClr>
                </a:solidFill>
                <a:latin typeface="Times New Roman" panose="02020603050405020304" pitchFamily="18" charset="0"/>
                <a:cs typeface="Times New Roman" panose="02020603050405020304" pitchFamily="18" charset="0"/>
              </a:rPr>
              <a:t>(</a:t>
            </a:r>
            <a:r>
              <a:rPr lang="en-US" sz="5000" dirty="0">
                <a:solidFill>
                  <a:schemeClr val="accent2">
                    <a:lumMod val="50000"/>
                  </a:schemeClr>
                </a:solidFill>
                <a:latin typeface="Aptos" panose="020B0004020202020204" pitchFamily="34" charset="0"/>
                <a:cs typeface="Times New Roman" panose="02020603050405020304" pitchFamily="18" charset="0"/>
              </a:rPr>
              <a:t>References</a:t>
            </a:r>
            <a:r>
              <a:rPr lang="en-US" sz="4800" dirty="0">
                <a:solidFill>
                  <a:schemeClr val="accent2">
                    <a:lumMod val="50000"/>
                  </a:schemeClr>
                </a:solidFill>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C6E3D347-FA45-21DB-7047-51E4FBD30BF5}"/>
              </a:ext>
            </a:extLst>
          </p:cNvPr>
          <p:cNvSpPr txBox="1"/>
          <p:nvPr/>
        </p:nvSpPr>
        <p:spPr>
          <a:xfrm>
            <a:off x="455612" y="1066800"/>
            <a:ext cx="11224154" cy="5713102"/>
          </a:xfrm>
          <a:prstGeom prst="rect">
            <a:avLst/>
          </a:prstGeom>
          <a:noFill/>
        </p:spPr>
        <p:txBody>
          <a:bodyPr wrap="square" rtlCol="0">
            <a:spAutoFit/>
          </a:bodyPr>
          <a:lstStyle/>
          <a:p>
            <a:pPr algn="r" rtl="1">
              <a:lnSpc>
                <a:spcPct val="95000"/>
              </a:lnSpc>
            </a:pPr>
            <a:r>
              <a:rPr lang="fa-IR" sz="2000" dirty="0">
                <a:latin typeface="B Nazanin" panose="00000400000000000000" pitchFamily="2" charset="-78"/>
                <a:cs typeface="B Nazanin" pitchFamily="2" charset="-78"/>
              </a:rPr>
              <a:t>بخش مراجع یا </a:t>
            </a:r>
            <a:r>
              <a:rPr lang="en-US" sz="1900" dirty="0">
                <a:latin typeface="Aptos" panose="020B0004020202020204" pitchFamily="34" charset="0"/>
                <a:cs typeface="B Nazanin" pitchFamily="2" charset="-78"/>
              </a:rPr>
              <a:t>References</a:t>
            </a:r>
            <a:r>
              <a:rPr lang="fa-IR" sz="2000" dirty="0">
                <a:latin typeface="B Nazanin" panose="00000400000000000000" pitchFamily="2" charset="-78"/>
                <a:cs typeface="B Nazanin" pitchFamily="2" charset="-78"/>
              </a:rPr>
              <a:t> آخرین قسمت مقاله علمی است و اهمیت زیادی دارد؛ زیرا نشان </a:t>
            </a:r>
            <a:r>
              <a:rPr lang="fa-IR" sz="2000" dirty="0" err="1">
                <a:latin typeface="B Nazanin" panose="00000400000000000000" pitchFamily="2" charset="-78"/>
                <a:cs typeface="B Nazanin" pitchFamily="2" charset="-78"/>
              </a:rPr>
              <a:t>می‌دهد</a:t>
            </a:r>
            <a:r>
              <a:rPr lang="fa-IR" sz="2000" dirty="0">
                <a:latin typeface="B Nazanin" panose="00000400000000000000" pitchFamily="2" charset="-78"/>
                <a:cs typeface="B Nazanin" pitchFamily="2" charset="-78"/>
              </a:rPr>
              <a:t> پژوهش شما بر </a:t>
            </a:r>
            <a:r>
              <a:rPr lang="fa-IR" sz="2000" dirty="0" err="1">
                <a:latin typeface="B Nazanin" panose="00000400000000000000" pitchFamily="2" charset="-78"/>
                <a:cs typeface="B Nazanin" pitchFamily="2" charset="-78"/>
              </a:rPr>
              <a:t>پایه‌ی</a:t>
            </a:r>
            <a:r>
              <a:rPr lang="fa-IR" sz="2000" dirty="0">
                <a:latin typeface="B Nazanin" panose="00000400000000000000" pitchFamily="2" charset="-78"/>
                <a:cs typeface="B Nazanin" pitchFamily="2" charset="-78"/>
              </a:rPr>
              <a:t> مطالعات معتبر بنا شده و خواننده </a:t>
            </a:r>
            <a:r>
              <a:rPr lang="fa-IR" sz="2000" dirty="0" err="1">
                <a:latin typeface="B Nazanin" panose="00000400000000000000" pitchFamily="2" charset="-78"/>
                <a:cs typeface="B Nazanin" pitchFamily="2" charset="-78"/>
              </a:rPr>
              <a:t>می‌تواند</a:t>
            </a:r>
            <a:r>
              <a:rPr lang="fa-IR" sz="2000" dirty="0">
                <a:latin typeface="B Nazanin" pitchFamily="2" charset="-78"/>
                <a:cs typeface="B Nazanin" pitchFamily="2" charset="-78"/>
              </a:rPr>
              <a:t> مسیر علمی شما را دنبال کند.</a:t>
            </a:r>
          </a:p>
          <a:p>
            <a:pPr algn="r" rtl="1">
              <a:lnSpc>
                <a:spcPct val="95000"/>
              </a:lnSpc>
            </a:pP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اهداف بخش مراجع</a:t>
            </a:r>
            <a:r>
              <a:rPr lang="en-US" sz="2000" dirty="0">
                <a:latin typeface="B Nazanin" panose="00000400000000000000" pitchFamily="2" charset="-78"/>
                <a:cs typeface="B Nazanin" pitchFamily="2" charset="-78"/>
              </a:rPr>
              <a:t>:</a:t>
            </a:r>
            <a:endParaRPr lang="fa-IR" sz="2000" dirty="0">
              <a:latin typeface="B Nazanin" pitchFamily="2" charset="-78"/>
              <a:cs typeface="B Nazanin" pitchFamily="2" charset="-78"/>
            </a:endParaRPr>
          </a:p>
          <a:p>
            <a:pPr algn="r" rtl="1"/>
            <a:r>
              <a:rPr lang="fa-IR" sz="2000" dirty="0">
                <a:latin typeface="B Nazanin" pitchFamily="2" charset="-78"/>
                <a:cs typeface="B Nazanin" pitchFamily="2" charset="-78"/>
              </a:rPr>
              <a:t>ارجاع به منابع معتبر: نشان دادن پشتوانه علمی پژوهش.</a:t>
            </a:r>
          </a:p>
          <a:p>
            <a:pPr algn="r" rtl="1"/>
            <a:r>
              <a:rPr lang="fa-IR" sz="2000" dirty="0">
                <a:latin typeface="B Nazanin" pitchFamily="2" charset="-78"/>
                <a:cs typeface="B Nazanin" pitchFamily="2" charset="-78"/>
              </a:rPr>
              <a:t>جلوگیری از سرقت علمی</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Plagiarism</a:t>
            </a:r>
            <a:r>
              <a:rPr lang="en-US" sz="2000" dirty="0">
                <a:latin typeface="Aptos" panose="020B0004020202020204" pitchFamily="34" charset="0"/>
                <a:cs typeface="B Nazanin" pitchFamily="2" charset="-78"/>
              </a:rPr>
              <a:t>)</a:t>
            </a:r>
            <a:r>
              <a:rPr lang="fa-IR" sz="2000" dirty="0">
                <a:latin typeface="B Nazanin" panose="00000400000000000000" pitchFamily="2" charset="-78"/>
                <a:cs typeface="B Nazanin" pitchFamily="2" charset="-78"/>
              </a:rPr>
              <a:t>: ذکر منبع، </a:t>
            </a:r>
            <a:r>
              <a:rPr lang="fa-IR" sz="2000" dirty="0" err="1">
                <a:latin typeface="B Nazanin" panose="00000400000000000000" pitchFamily="2" charset="-78"/>
                <a:cs typeface="B Nazanin" pitchFamily="2" charset="-78"/>
              </a:rPr>
              <a:t>ایده‌ها</a:t>
            </a:r>
            <a:r>
              <a:rPr lang="fa-IR" sz="2000" dirty="0">
                <a:latin typeface="B Nazanin" panose="00000400000000000000" pitchFamily="2" charset="-78"/>
                <a:cs typeface="B Nazanin" pitchFamily="2" charset="-78"/>
              </a:rPr>
              <a:t> و </a:t>
            </a:r>
            <a:r>
              <a:rPr lang="fa-IR" sz="2000" dirty="0" err="1">
                <a:latin typeface="B Nazanin" panose="00000400000000000000" pitchFamily="2" charset="-78"/>
                <a:cs typeface="B Nazanin" pitchFamily="2" charset="-78"/>
              </a:rPr>
              <a:t>داده‌های</a:t>
            </a:r>
            <a:r>
              <a:rPr lang="fa-IR" sz="2000" dirty="0">
                <a:latin typeface="B Nazanin" panose="00000400000000000000" pitchFamily="2" charset="-78"/>
                <a:cs typeface="B Nazanin" pitchFamily="2" charset="-78"/>
              </a:rPr>
              <a:t> دیگران </a:t>
            </a:r>
            <a:r>
              <a:rPr lang="fa-IR" sz="2000" dirty="0" err="1">
                <a:latin typeface="B Nazanin" panose="00000400000000000000" pitchFamily="2" charset="-78"/>
                <a:cs typeface="B Nazanin" pitchFamily="2" charset="-78"/>
              </a:rPr>
              <a:t>به‌درستی</a:t>
            </a:r>
            <a:r>
              <a:rPr lang="fa-IR" sz="2000" dirty="0">
                <a:latin typeface="B Nazanin" panose="00000400000000000000" pitchFamily="2" charset="-78"/>
                <a:cs typeface="B Nazanin" pitchFamily="2" charset="-78"/>
              </a:rPr>
              <a:t> اعتبار داده </a:t>
            </a:r>
            <a:r>
              <a:rPr lang="fa-IR" sz="2000" dirty="0" err="1">
                <a:latin typeface="B Nazanin" panose="00000400000000000000" pitchFamily="2" charset="-78"/>
                <a:cs typeface="B Nazanin" pitchFamily="2" charset="-78"/>
              </a:rPr>
              <a:t>می‌شوند</a:t>
            </a:r>
            <a:r>
              <a:rPr lang="fa-IR" sz="2000" dirty="0">
                <a:latin typeface="B Nazanin" pitchFamily="2" charset="-78"/>
                <a:cs typeface="B Nazanin" pitchFamily="2" charset="-78"/>
              </a:rPr>
              <a:t>.</a:t>
            </a:r>
          </a:p>
          <a:p>
            <a:pPr algn="r" rtl="1"/>
            <a:r>
              <a:rPr lang="fa-IR" sz="2000" dirty="0">
                <a:latin typeface="B Nazanin" pitchFamily="2" charset="-78"/>
                <a:cs typeface="B Nazanin" pitchFamily="2" charset="-78"/>
              </a:rPr>
              <a:t>راهنمایی خواننده: امکان دسترسی به مطالعات مرتبط برای بررسی بیشتر.</a:t>
            </a:r>
          </a:p>
          <a:p>
            <a:pPr algn="r" rtl="1">
              <a:lnSpc>
                <a:spcPct val="95000"/>
              </a:lnSpc>
            </a:pPr>
            <a:endParaRPr lang="en-US" sz="2000" dirty="0">
              <a:latin typeface="B Nazanin" panose="00000400000000000000" pitchFamily="2" charset="-78"/>
              <a:cs typeface="B Nazanin" pitchFamily="2" charset="-78"/>
            </a:endParaRPr>
          </a:p>
          <a:p>
            <a:pPr algn="r" rtl="1">
              <a:lnSpc>
                <a:spcPct val="95000"/>
              </a:lnSpc>
            </a:pPr>
            <a:r>
              <a:rPr lang="fa-IR" sz="2000" dirty="0">
                <a:latin typeface="B Nazanin" panose="00000400000000000000" pitchFamily="2" charset="-78"/>
                <a:cs typeface="B Nazanin" pitchFamily="2" charset="-78"/>
              </a:rPr>
              <a:t>سبک های رایج </a:t>
            </a:r>
            <a:r>
              <a:rPr lang="fa-IR" sz="2000" dirty="0" err="1">
                <a:latin typeface="B Nazanin" panose="00000400000000000000" pitchFamily="2" charset="-78"/>
                <a:cs typeface="B Nazanin" pitchFamily="2" charset="-78"/>
              </a:rPr>
              <a:t>ارجاع‌دهی</a:t>
            </a:r>
            <a:r>
              <a:rPr lang="fa-IR" sz="2000" dirty="0">
                <a:latin typeface="B Nazanin" panose="00000400000000000000" pitchFamily="2" charset="-78"/>
                <a:cs typeface="B Nazanin" pitchFamily="2" charset="-78"/>
              </a:rPr>
              <a:t>:</a:t>
            </a:r>
          </a:p>
          <a:p>
            <a:pPr>
              <a:lnSpc>
                <a:spcPct val="95000"/>
              </a:lnSpc>
            </a:pPr>
            <a:r>
              <a:rPr lang="en-US" sz="2000" dirty="0">
                <a:latin typeface="Aptos" panose="020B0004020202020204" pitchFamily="34" charset="0"/>
                <a:cs typeface="B Nazanin" pitchFamily="2" charset="-78"/>
              </a:rPr>
              <a:t>1. </a:t>
            </a:r>
            <a:r>
              <a:rPr lang="en-US" sz="1900" dirty="0">
                <a:latin typeface="Aptos" panose="020B0004020202020204" pitchFamily="34" charset="0"/>
                <a:cs typeface="B Nazanin" pitchFamily="2" charset="-78"/>
              </a:rPr>
              <a:t>APA (American Psychological Association)</a:t>
            </a:r>
          </a:p>
          <a:p>
            <a:pPr marL="342900" indent="-342900">
              <a:lnSpc>
                <a:spcPct val="95000"/>
              </a:lnSpc>
              <a:buFont typeface="Arial" panose="020B0604020202020204" pitchFamily="34" charset="0"/>
              <a:buChar char="•"/>
            </a:pPr>
            <a:r>
              <a:rPr lang="fa-IR" sz="2000" dirty="0">
                <a:latin typeface="Aptos" panose="020B0004020202020204" pitchFamily="34" charset="0"/>
                <a:cs typeface="B Nazanin" pitchFamily="2" charset="-78"/>
              </a:rPr>
              <a:t>رایج در علوم اجتماعی و رفتاری</a:t>
            </a:r>
          </a:p>
          <a:p>
            <a:pPr marL="342900" indent="-342900">
              <a:lnSpc>
                <a:spcPct val="95000"/>
              </a:lnSpc>
              <a:buFont typeface="Arial" panose="020B0604020202020204" pitchFamily="34" charset="0"/>
              <a:buChar char="•"/>
            </a:pPr>
            <a:r>
              <a:rPr lang="fa-IR" sz="2000" dirty="0">
                <a:latin typeface="Aptos" panose="020B0004020202020204" pitchFamily="34" charset="0"/>
                <a:cs typeface="B Nazanin" pitchFamily="2" charset="-78"/>
              </a:rPr>
              <a:t>مثال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Smith, J. (2020). Effects of aerobic exercise on blood pressure. Journal of Health, 15(2), 123-130. “</a:t>
            </a:r>
            <a:r>
              <a:rPr lang="fa-IR" sz="1900" dirty="0">
                <a:latin typeface="Aptos" panose="020B0004020202020204" pitchFamily="34" charset="0"/>
                <a:cs typeface="B Nazanin" pitchFamily="2" charset="-78"/>
              </a:rPr>
              <a:t>		</a:t>
            </a:r>
            <a:endParaRPr lang="en-US" sz="1900" dirty="0">
              <a:latin typeface="Aptos" panose="020B0004020202020204" pitchFamily="34" charset="0"/>
              <a:cs typeface="B Nazanin" pitchFamily="2" charset="-78"/>
            </a:endParaRPr>
          </a:p>
          <a:p>
            <a:pPr>
              <a:lnSpc>
                <a:spcPct val="95000"/>
              </a:lnSpc>
            </a:pPr>
            <a:r>
              <a:rPr lang="en-US" sz="2000" dirty="0">
                <a:latin typeface="Aptos" panose="020B0004020202020204" pitchFamily="34" charset="0"/>
                <a:cs typeface="B Nazanin" pitchFamily="2" charset="-78"/>
              </a:rPr>
              <a:t>2. </a:t>
            </a:r>
            <a:r>
              <a:rPr lang="en-US" sz="1900" dirty="0">
                <a:latin typeface="Aptos" panose="020B0004020202020204" pitchFamily="34" charset="0"/>
                <a:cs typeface="B Nazanin" pitchFamily="2" charset="-78"/>
              </a:rPr>
              <a:t>MLA (Modern Language Association)</a:t>
            </a:r>
          </a:p>
          <a:p>
            <a:pPr marL="342900" indent="-342900">
              <a:lnSpc>
                <a:spcPct val="95000"/>
              </a:lnSpc>
              <a:buFont typeface="Arial" panose="020B0604020202020204" pitchFamily="34" charset="0"/>
              <a:buChar char="•"/>
            </a:pPr>
            <a:r>
              <a:rPr lang="fa-IR" sz="2000" dirty="0">
                <a:latin typeface="Aptos" panose="020B0004020202020204" pitchFamily="34" charset="0"/>
                <a:cs typeface="B Nazanin" pitchFamily="2" charset="-78"/>
              </a:rPr>
              <a:t>رایج در علوم انسانی</a:t>
            </a:r>
          </a:p>
          <a:p>
            <a:pPr marL="342900" indent="-342900">
              <a:lnSpc>
                <a:spcPct val="95000"/>
              </a:lnSpc>
              <a:buFont typeface="Arial" panose="020B0604020202020204" pitchFamily="34" charset="0"/>
              <a:buChar char="•"/>
            </a:pPr>
            <a:r>
              <a:rPr lang="fa-IR" sz="2000" dirty="0">
                <a:latin typeface="Aptos" panose="020B0004020202020204" pitchFamily="34" charset="0"/>
                <a:cs typeface="B Nazanin" pitchFamily="2" charset="-78"/>
              </a:rPr>
              <a:t>مثال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Smith, John. "Effects of Aerobic Exercise on Blood Pressure." Journal of Health, vol. 15, no. 2</a:t>
            </a:r>
            <a:r>
              <a:rPr lang="en-US" sz="2000" dirty="0">
                <a:latin typeface="Aptos" panose="020B0004020202020204" pitchFamily="34" charset="0"/>
                <a:cs typeface="B Nazanin" pitchFamily="2" charset="-78"/>
              </a:rPr>
              <a:t>, 2020, pp. 123-130.”</a:t>
            </a:r>
          </a:p>
          <a:p>
            <a:pPr marL="342900" indent="-342900">
              <a:lnSpc>
                <a:spcPct val="95000"/>
              </a:lnSpc>
              <a:buFont typeface="Arial" panose="020B0604020202020204" pitchFamily="34" charset="0"/>
              <a:buChar char="•"/>
            </a:pPr>
            <a:endParaRPr lang="en-US" sz="2000" dirty="0">
              <a:latin typeface="Aptos" panose="020B0004020202020204" pitchFamily="34" charset="0"/>
              <a:cs typeface="B Nazanin" pitchFamily="2" charset="-78"/>
            </a:endParaRPr>
          </a:p>
          <a:p>
            <a:pPr marL="0" algn="r" defTabSz="1218987" rtl="1" eaLnBrk="1" latinLnBrk="0" hangingPunct="1">
              <a:lnSpc>
                <a:spcPct val="95000"/>
              </a:lnSpc>
            </a:pPr>
            <a:endParaRPr lang="en-US" sz="2000" dirty="0">
              <a:latin typeface="B Nazanin" panose="00000400000000000000" pitchFamily="2" charset="-78"/>
              <a:cs typeface="B Nazanin" pitchFamily="2" charset="-78"/>
            </a:endParaRPr>
          </a:p>
        </p:txBody>
      </p:sp>
      <p:pic>
        <p:nvPicPr>
          <p:cNvPr id="5" name="Picture 4" descr="A white symbol with a black background">
            <a:extLst>
              <a:ext uri="{FF2B5EF4-FFF2-40B4-BE49-F238E27FC236}">
                <a16:creationId xmlns:a16="http://schemas.microsoft.com/office/drawing/2014/main" id="{60202BA7-938A-C5DF-C1EE-6F5E9D763117}"/>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100856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CD888D-B23D-B4BA-F6E6-61644CEAADA9}"/>
              </a:ext>
            </a:extLst>
          </p:cNvPr>
          <p:cNvSpPr txBox="1"/>
          <p:nvPr/>
        </p:nvSpPr>
        <p:spPr>
          <a:xfrm>
            <a:off x="455612" y="533400"/>
            <a:ext cx="11277600" cy="5482270"/>
          </a:xfrm>
          <a:prstGeom prst="rect">
            <a:avLst/>
          </a:prstGeom>
          <a:noFill/>
        </p:spPr>
        <p:txBody>
          <a:bodyPr wrap="square" rtlCol="0">
            <a:spAutoFit/>
          </a:bodyPr>
          <a:lstStyle/>
          <a:p>
            <a:pPr marL="0" algn="l" defTabSz="1218987" rtl="0" eaLnBrk="1" latinLnBrk="0" hangingPunct="1">
              <a:lnSpc>
                <a:spcPct val="95000"/>
              </a:lnSpc>
            </a:pPr>
            <a:r>
              <a:rPr lang="en-US" sz="2000" dirty="0">
                <a:latin typeface="Aptos" panose="020B0004020202020204" pitchFamily="34" charset="0"/>
                <a:cs typeface="B Nazanin" panose="00000400000000000000" pitchFamily="2" charset="-78"/>
              </a:rPr>
              <a:t>3. </a:t>
            </a:r>
            <a:r>
              <a:rPr lang="en-US" sz="1900" dirty="0">
                <a:latin typeface="Aptos" panose="020B0004020202020204" pitchFamily="34" charset="0"/>
                <a:cs typeface="B Nazanin" panose="00000400000000000000" pitchFamily="2" charset="-78"/>
              </a:rPr>
              <a:t>Chicago</a:t>
            </a:r>
            <a:endParaRPr lang="fa-IR" sz="1900" dirty="0">
              <a:latin typeface="Aptos" panose="020B0004020202020204" pitchFamily="34" charset="0"/>
              <a:cs typeface="B Nazanin" pitchFamily="2" charset="-78"/>
            </a:endParaRPr>
          </a:p>
          <a:p>
            <a:pPr marL="342900" indent="-342900" algn="l" defTabSz="1218987" rtl="0" eaLnBrk="1" latinLnBrk="0" hangingPunct="1">
              <a:lnSpc>
                <a:spcPct val="95000"/>
              </a:lnSpc>
              <a:buFont typeface="Arial" panose="020B0604020202020204" pitchFamily="34" charset="0"/>
              <a:buChar char="•"/>
            </a:pPr>
            <a:r>
              <a:rPr lang="fa-IR" sz="2000" dirty="0">
                <a:latin typeface="Aptos" panose="020B0004020202020204" pitchFamily="34" charset="0"/>
                <a:cs typeface="B Nazanin" pitchFamily="2" charset="-78"/>
              </a:rPr>
              <a:t>رایج در تاریخ و برخی علوم اجتماعی</a:t>
            </a:r>
          </a:p>
          <a:p>
            <a:pPr marL="342900" indent="-342900">
              <a:lnSpc>
                <a:spcPct val="95000"/>
              </a:lnSpc>
              <a:buFont typeface="Arial" panose="020B0604020202020204" pitchFamily="34" charset="0"/>
              <a:buChar char="•"/>
            </a:pPr>
            <a:r>
              <a:rPr lang="fa-IR" sz="2000" dirty="0">
                <a:latin typeface="Aptos" panose="020B0004020202020204" pitchFamily="34" charset="0"/>
                <a:cs typeface="B Nazanin" pitchFamily="2" charset="-78"/>
              </a:rPr>
              <a:t>مثال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Smith, John. "Effects of Aerobic Exercise on Blood Pressure." Journal of Health 15, no. 2 (2020): 123-130.”</a:t>
            </a:r>
          </a:p>
          <a:p>
            <a:pPr marL="342900" indent="-342900">
              <a:lnSpc>
                <a:spcPct val="95000"/>
              </a:lnSpc>
              <a:buFont typeface="Arial" panose="020B0604020202020204" pitchFamily="34" charset="0"/>
              <a:buChar char="•"/>
            </a:pPr>
            <a:endParaRPr lang="en-US" sz="2000" dirty="0">
              <a:latin typeface="Aptos" panose="020B0004020202020204" pitchFamily="34" charset="0"/>
              <a:cs typeface="B Nazanin" pitchFamily="2" charset="-78"/>
            </a:endParaRPr>
          </a:p>
          <a:p>
            <a:pPr>
              <a:lnSpc>
                <a:spcPct val="95000"/>
              </a:lnSpc>
            </a:pPr>
            <a:r>
              <a:rPr lang="en-US" sz="2000" dirty="0">
                <a:latin typeface="Aptos" panose="020B0004020202020204" pitchFamily="34" charset="0"/>
                <a:cs typeface="B Nazanin" pitchFamily="2" charset="-78"/>
              </a:rPr>
              <a:t>4. </a:t>
            </a:r>
            <a:r>
              <a:rPr lang="en-US" sz="1900" dirty="0">
                <a:latin typeface="Aptos" panose="020B0004020202020204" pitchFamily="34" charset="0"/>
                <a:cs typeface="B Nazanin" pitchFamily="2" charset="-78"/>
              </a:rPr>
              <a:t>Vancouver</a:t>
            </a:r>
          </a:p>
          <a:p>
            <a:pPr marL="285750" indent="-285750">
              <a:lnSpc>
                <a:spcPct val="95000"/>
              </a:lnSpc>
              <a:buFont typeface="Arial" panose="020B0604020202020204" pitchFamily="34" charset="0"/>
              <a:buChar char="•"/>
            </a:pPr>
            <a:r>
              <a:rPr lang="fa-IR" sz="2000" dirty="0">
                <a:latin typeface="Aptos" panose="020B0004020202020204" pitchFamily="34" charset="0"/>
                <a:cs typeface="B Nazanin" pitchFamily="2" charset="-78"/>
              </a:rPr>
              <a:t>رایج در علوم پزشکی و زیستی</a:t>
            </a:r>
          </a:p>
          <a:p>
            <a:pPr marL="285750" indent="-285750">
              <a:lnSpc>
                <a:spcPct val="95000"/>
              </a:lnSpc>
              <a:buFont typeface="Arial" panose="020B0604020202020204" pitchFamily="34" charset="0"/>
              <a:buChar char="•"/>
            </a:pPr>
            <a:r>
              <a:rPr lang="fa-IR" sz="2000" dirty="0">
                <a:latin typeface="Aptos" panose="020B0004020202020204" pitchFamily="34" charset="0"/>
                <a:cs typeface="B Nazanin" pitchFamily="2" charset="-78"/>
              </a:rPr>
              <a:t>مثال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Smith J. Effects of aerobic exercise on blood pressure. J Health. 2020;15(2):123-130.”</a:t>
            </a:r>
          </a:p>
          <a:p>
            <a:pPr marL="285750" indent="-285750">
              <a:lnSpc>
                <a:spcPct val="95000"/>
              </a:lnSpc>
              <a:buFont typeface="Arial" panose="020B0604020202020204" pitchFamily="34" charset="0"/>
              <a:buChar char="•"/>
            </a:pPr>
            <a:endParaRPr lang="en-US" sz="2000" dirty="0">
              <a:latin typeface="Aptos" panose="020B0004020202020204" pitchFamily="34" charset="0"/>
              <a:cs typeface="B Nazanin" pitchFamily="2" charset="-78"/>
            </a:endParaRPr>
          </a:p>
          <a:p>
            <a:pPr algn="r" rtl="1"/>
            <a:endParaRPr lang="en-US" sz="2000" dirty="0">
              <a:latin typeface="Aptos" panose="020B0004020202020204" pitchFamily="34" charset="0"/>
              <a:cs typeface="B Nazanin" pitchFamily="2" charset="-78"/>
            </a:endParaRPr>
          </a:p>
          <a:p>
            <a:pPr algn="r" rtl="1"/>
            <a:endParaRPr lang="en-US" sz="2000" dirty="0">
              <a:latin typeface="Aptos" panose="020B0004020202020204" pitchFamily="34" charset="0"/>
              <a:cs typeface="B Nazanin" pitchFamily="2" charset="-78"/>
            </a:endParaRPr>
          </a:p>
          <a:p>
            <a:pPr algn="r" rtl="1"/>
            <a:r>
              <a:rPr lang="fa-IR" sz="2000" dirty="0">
                <a:latin typeface="Aptos" panose="020B0004020202020204" pitchFamily="34" charset="0"/>
                <a:cs typeface="B Nazanin" pitchFamily="2" charset="-78"/>
              </a:rPr>
              <a:t>نکات کاربردی</a:t>
            </a:r>
            <a:r>
              <a:rPr lang="en-US" sz="2000" dirty="0">
                <a:latin typeface="Aptos" panose="020B0004020202020204" pitchFamily="34" charset="0"/>
                <a:cs typeface="B Nazanin" pitchFamily="2" charset="-78"/>
              </a:rPr>
              <a:t>:</a:t>
            </a:r>
            <a:endParaRPr lang="fa-IR" sz="2000" dirty="0">
              <a:latin typeface="Aptos" panose="020B0004020202020204" pitchFamily="34" charset="0"/>
              <a:cs typeface="B Nazanin" pitchFamily="2" charset="-78"/>
            </a:endParaRP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هماهنگی با دستورالعمل مجله یا کنفرانس: هر نشریه سبک خاصی را الزام </a:t>
            </a:r>
            <a:r>
              <a:rPr lang="fa-IR" sz="2000" dirty="0" err="1">
                <a:latin typeface="Aptos" panose="020B0004020202020204" pitchFamily="34" charset="0"/>
                <a:cs typeface="B Nazanin" pitchFamily="2" charset="-78"/>
              </a:rPr>
              <a:t>می‌کند</a:t>
            </a:r>
            <a:r>
              <a:rPr lang="fa-IR" sz="2000" dirty="0">
                <a:latin typeface="Aptos" panose="020B0004020202020204" pitchFamily="34" charset="0"/>
                <a:cs typeface="B Nazanin" pitchFamily="2" charset="-78"/>
              </a:rPr>
              <a:t>.</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یکنواختی: همه منابع باید با یک سبک واحد نوشته شوند.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دقت در جزئیات: نام نویسندگان، سال، عنوان، جلد، شماره و صفحات باید دقیق باشند.</a:t>
            </a:r>
          </a:p>
          <a:p>
            <a:pPr marL="342900" indent="-342900" algn="r" rtl="1">
              <a:buFont typeface="Arial" panose="020B0604020202020204" pitchFamily="34" charset="0"/>
              <a:buChar char="•"/>
            </a:pPr>
            <a:r>
              <a:rPr lang="fa-IR" sz="2000" dirty="0">
                <a:latin typeface="Aptos" panose="020B0004020202020204" pitchFamily="34" charset="0"/>
                <a:cs typeface="B Nazanin" pitchFamily="2" charset="-78"/>
              </a:rPr>
              <a:t>استفاده از </a:t>
            </a:r>
            <a:r>
              <a:rPr lang="fa-IR" sz="2000" dirty="0" err="1">
                <a:latin typeface="Aptos" panose="020B0004020202020204" pitchFamily="34" charset="0"/>
                <a:cs typeface="B Nazanin" pitchFamily="2" charset="-78"/>
              </a:rPr>
              <a:t>نرم‌افزارهای</a:t>
            </a:r>
            <a:r>
              <a:rPr lang="fa-IR" sz="2000" dirty="0">
                <a:latin typeface="Aptos" panose="020B0004020202020204" pitchFamily="34" charset="0"/>
                <a:cs typeface="B Nazanin" pitchFamily="2" charset="-78"/>
              </a:rPr>
              <a:t> مدیریت منابع: ابزارهایی مثل </a:t>
            </a:r>
            <a:r>
              <a:rPr lang="en-US" sz="1900" dirty="0">
                <a:latin typeface="Aptos" panose="020B0004020202020204" pitchFamily="34" charset="0"/>
                <a:cs typeface="B Nazanin" pitchFamily="2" charset="-78"/>
              </a:rPr>
              <a:t>EndNote، Mendeley، Zotero</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 کمک </a:t>
            </a:r>
            <a:r>
              <a:rPr lang="fa-IR" sz="2000" dirty="0" err="1">
                <a:latin typeface="Aptos" panose="020B0004020202020204" pitchFamily="34" charset="0"/>
                <a:cs typeface="B Nazanin" pitchFamily="2" charset="-78"/>
              </a:rPr>
              <a:t>می‌کنند</a:t>
            </a:r>
            <a:r>
              <a:rPr lang="fa-IR" sz="2000" dirty="0">
                <a:latin typeface="Aptos" panose="020B0004020202020204" pitchFamily="34" charset="0"/>
                <a:cs typeface="B Nazanin" pitchFamily="2" charset="-78"/>
              </a:rPr>
              <a:t> </a:t>
            </a:r>
            <a:r>
              <a:rPr lang="fa-IR" sz="2000" dirty="0" err="1">
                <a:latin typeface="Aptos" panose="020B0004020202020204" pitchFamily="34" charset="0"/>
                <a:cs typeface="B Nazanin" pitchFamily="2" charset="-78"/>
              </a:rPr>
              <a:t>ارجاع‌ها</a:t>
            </a:r>
            <a:r>
              <a:rPr lang="fa-IR" sz="2000" dirty="0">
                <a:latin typeface="Aptos" panose="020B0004020202020204" pitchFamily="34" charset="0"/>
                <a:cs typeface="B Nazanin" pitchFamily="2" charset="-78"/>
              </a:rPr>
              <a:t> سریع و دقیق مدیریت شوند</a:t>
            </a:r>
            <a:r>
              <a:rPr lang="en-US" sz="2000" dirty="0">
                <a:latin typeface="Aptos" panose="020B0004020202020204" pitchFamily="34" charset="0"/>
                <a:cs typeface="B Nazanin" pitchFamily="2" charset="-78"/>
              </a:rPr>
              <a:t>.</a:t>
            </a:r>
            <a:endParaRPr lang="fa-IR" sz="2000" dirty="0">
              <a:latin typeface="Aptos" panose="020B0004020202020204" pitchFamily="34" charset="0"/>
              <a:cs typeface="B Nazanin" pitchFamily="2" charset="-78"/>
            </a:endParaRPr>
          </a:p>
          <a:p>
            <a:pPr algn="r">
              <a:lnSpc>
                <a:spcPct val="95000"/>
              </a:lnSpc>
            </a:pPr>
            <a:endParaRPr lang="en-US" sz="2000" dirty="0">
              <a:latin typeface="Aptos" panose="020B0004020202020204" pitchFamily="34" charset="0"/>
              <a:cs typeface="B Nazanin" pitchFamily="2" charset="-78"/>
            </a:endParaRPr>
          </a:p>
        </p:txBody>
      </p:sp>
      <p:pic>
        <p:nvPicPr>
          <p:cNvPr id="4" name="Picture 3" descr="A white symbol with a black background">
            <a:extLst>
              <a:ext uri="{FF2B5EF4-FFF2-40B4-BE49-F238E27FC236}">
                <a16:creationId xmlns:a16="http://schemas.microsoft.com/office/drawing/2014/main" id="{5DCA268B-271D-CEFD-648A-90732EE26D6E}"/>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76470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7C1D22-8C89-561D-4F64-ECB8DE3BFFAB}"/>
              </a:ext>
            </a:extLst>
          </p:cNvPr>
          <p:cNvSpPr txBox="1"/>
          <p:nvPr/>
        </p:nvSpPr>
        <p:spPr>
          <a:xfrm>
            <a:off x="646112" y="152400"/>
            <a:ext cx="10896600" cy="892167"/>
          </a:xfrm>
          <a:prstGeom prst="rect">
            <a:avLst/>
          </a:prstGeom>
          <a:noFill/>
        </p:spPr>
        <p:txBody>
          <a:bodyPr wrap="square" rtlCol="0">
            <a:spAutoFit/>
          </a:bodyPr>
          <a:lstStyle/>
          <a:p>
            <a:pPr marL="0" algn="r" defTabSz="1218987" rtl="1" eaLnBrk="1" latinLnBrk="0" hangingPunct="1">
              <a:lnSpc>
                <a:spcPct val="95000"/>
              </a:lnSpc>
            </a:pPr>
            <a:r>
              <a:rPr lang="fa-IR" sz="5400" dirty="0">
                <a:solidFill>
                  <a:schemeClr val="accent2">
                    <a:lumMod val="50000"/>
                  </a:schemeClr>
                </a:solidFill>
                <a:latin typeface="Times New Roman" panose="02020603050405020304" pitchFamily="18" charset="0"/>
                <a:cs typeface="Times New Roman" panose="02020603050405020304" pitchFamily="18" charset="0"/>
              </a:rPr>
              <a:t>سایر بخش ها</a:t>
            </a:r>
            <a:endParaRPr lang="en-US" sz="54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982523D-D9E3-E13B-5C02-2BE689B279E5}"/>
              </a:ext>
            </a:extLst>
          </p:cNvPr>
          <p:cNvSpPr txBox="1"/>
          <p:nvPr/>
        </p:nvSpPr>
        <p:spPr>
          <a:xfrm>
            <a:off x="760412" y="1219200"/>
            <a:ext cx="10782300" cy="4481996"/>
          </a:xfrm>
          <a:prstGeom prst="rect">
            <a:avLst/>
          </a:prstGeom>
          <a:noFill/>
        </p:spPr>
        <p:txBody>
          <a:bodyPr wrap="square" rtlCol="0">
            <a:spAutoFit/>
          </a:bodyPr>
          <a:lstStyle/>
          <a:p>
            <a:pPr marL="457200" indent="-457200" algn="r" defTabSz="1218987" rtl="1" eaLnBrk="1" latinLnBrk="0" hangingPunct="1">
              <a:lnSpc>
                <a:spcPct val="95000"/>
              </a:lnSpc>
              <a:buAutoNum type="arabicPeriod"/>
            </a:pPr>
            <a:r>
              <a:rPr lang="fa-IR" sz="2000" dirty="0">
                <a:latin typeface="Aptos" panose="020B0004020202020204" pitchFamily="34" charset="0"/>
                <a:cs typeface="B Nazanin" pitchFamily="2" charset="-78"/>
              </a:rPr>
              <a:t>مشارکت نویسندگان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Authors Contribution</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a:t>
            </a:r>
          </a:p>
          <a:p>
            <a:pPr algn="r" rtl="1">
              <a:lnSpc>
                <a:spcPct val="95000"/>
              </a:lnSpc>
            </a:pPr>
            <a:r>
              <a:rPr lang="fa-IR" sz="2000" dirty="0">
                <a:latin typeface="Aptos" panose="020B0004020202020204" pitchFamily="34" charset="0"/>
                <a:cs typeface="B Nazanin" pitchFamily="2" charset="-78"/>
              </a:rPr>
              <a:t>این بخش توضیح </a:t>
            </a:r>
            <a:r>
              <a:rPr lang="fa-IR" sz="2000" dirty="0" err="1">
                <a:latin typeface="Aptos" panose="020B0004020202020204" pitchFamily="34" charset="0"/>
                <a:cs typeface="B Nazanin" pitchFamily="2" charset="-78"/>
              </a:rPr>
              <a:t>می‌دهد</a:t>
            </a:r>
            <a:r>
              <a:rPr lang="fa-IR" sz="2000" dirty="0">
                <a:latin typeface="Aptos" panose="020B0004020202020204" pitchFamily="34" charset="0"/>
                <a:cs typeface="B Nazanin" pitchFamily="2" charset="-78"/>
              </a:rPr>
              <a:t> هر نویسنده چه نقشی در انجام پژوهش و نگارش مقاله داشته است. بسیاری از مجلات معتبر (مثل </a:t>
            </a:r>
            <a:r>
              <a:rPr lang="en-US" sz="2000" dirty="0">
                <a:latin typeface="Aptos" panose="020B0004020202020204" pitchFamily="34" charset="0"/>
                <a:cs typeface="B Nazanin" pitchFamily="2" charset="-78"/>
              </a:rPr>
              <a:t>Elsevier، </a:t>
            </a:r>
            <a:r>
              <a:rPr lang="fa-IR" sz="2000" dirty="0">
                <a:latin typeface="Aptos" panose="020B0004020202020204" pitchFamily="34" charset="0"/>
                <a:cs typeface="B Nazanin" pitchFamily="2" charset="-78"/>
              </a:rPr>
              <a:t> </a:t>
            </a:r>
            <a:r>
              <a:rPr lang="en-US" sz="2000" dirty="0">
                <a:latin typeface="Aptos" panose="020B0004020202020204" pitchFamily="34" charset="0"/>
                <a:cs typeface="B Nazanin" pitchFamily="2" charset="-78"/>
              </a:rPr>
              <a:t>(Springer، Wiley</a:t>
            </a:r>
            <a:r>
              <a:rPr lang="fa-IR" sz="2000" dirty="0">
                <a:latin typeface="Aptos" panose="020B0004020202020204" pitchFamily="34" charset="0"/>
                <a:cs typeface="B Nazanin" pitchFamily="2" charset="-78"/>
              </a:rPr>
              <a:t> الزام </a:t>
            </a:r>
            <a:r>
              <a:rPr lang="fa-IR" sz="2000" dirty="0" err="1">
                <a:latin typeface="Aptos" panose="020B0004020202020204" pitchFamily="34" charset="0"/>
                <a:cs typeface="B Nazanin" pitchFamily="2" charset="-78"/>
              </a:rPr>
              <a:t>می‌کنند</a:t>
            </a:r>
            <a:r>
              <a:rPr lang="fa-IR" sz="2000" dirty="0">
                <a:latin typeface="Aptos" panose="020B0004020202020204" pitchFamily="34" charset="0"/>
                <a:cs typeface="B Nazanin" pitchFamily="2" charset="-78"/>
              </a:rPr>
              <a:t> که سهم هر نویسنده </a:t>
            </a:r>
            <a:r>
              <a:rPr lang="fa-IR" sz="2000" dirty="0" err="1">
                <a:latin typeface="Aptos" panose="020B0004020202020204" pitchFamily="34" charset="0"/>
                <a:cs typeface="B Nazanin" pitchFamily="2" charset="-78"/>
              </a:rPr>
              <a:t>به‌طور</a:t>
            </a:r>
            <a:r>
              <a:rPr lang="fa-IR" sz="2000" dirty="0">
                <a:latin typeface="Aptos" panose="020B0004020202020204" pitchFamily="34" charset="0"/>
                <a:cs typeface="B Nazanin" pitchFamily="2" charset="-78"/>
              </a:rPr>
              <a:t> شفاف ذکر شود تا از شفافیت علمی و </a:t>
            </a:r>
            <a:r>
              <a:rPr lang="fa-IR" sz="2000" dirty="0" err="1">
                <a:latin typeface="Aptos" panose="020B0004020202020204" pitchFamily="34" charset="0"/>
                <a:cs typeface="B Nazanin" pitchFamily="2" charset="-78"/>
              </a:rPr>
              <a:t>مسئولیت‌پذیری</a:t>
            </a:r>
            <a:r>
              <a:rPr lang="fa-IR" sz="2000" dirty="0">
                <a:latin typeface="Aptos" panose="020B0004020202020204" pitchFamily="34" charset="0"/>
                <a:cs typeface="B Nazanin" pitchFamily="2" charset="-78"/>
              </a:rPr>
              <a:t> اطمینان حاصل شود.</a:t>
            </a:r>
          </a:p>
          <a:p>
            <a:pPr algn="r" rtl="1">
              <a:lnSpc>
                <a:spcPct val="95000"/>
              </a:lnSpc>
            </a:pPr>
            <a:endParaRPr lang="fa-IR" sz="2000" dirty="0">
              <a:latin typeface="Aptos" panose="020B0004020202020204" pitchFamily="34" charset="0"/>
              <a:cs typeface="B Nazanin" pitchFamily="2" charset="-78"/>
            </a:endParaRPr>
          </a:p>
          <a:p>
            <a:pPr algn="r" rtl="1">
              <a:lnSpc>
                <a:spcPct val="95000"/>
              </a:lnSpc>
            </a:pPr>
            <a:r>
              <a:rPr lang="fa-IR" sz="2000" dirty="0">
                <a:latin typeface="Aptos" panose="020B0004020202020204" pitchFamily="34" charset="0"/>
                <a:cs typeface="B Nazanin" pitchFamily="2" charset="-78"/>
              </a:rPr>
              <a:t>۲.   بخش اطلاعات تکمیلی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Supplementary Information</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a:t>
            </a:r>
          </a:p>
          <a:p>
            <a:pPr algn="r" rtl="1">
              <a:lnSpc>
                <a:spcPct val="95000"/>
              </a:lnSpc>
            </a:pPr>
            <a:r>
              <a:rPr lang="fa-IR" sz="2000" dirty="0">
                <a:latin typeface="Aptos" panose="020B0004020202020204" pitchFamily="34" charset="0"/>
                <a:cs typeface="B Nazanin" pitchFamily="2" charset="-78"/>
              </a:rPr>
              <a:t>بخش</a:t>
            </a:r>
            <a:r>
              <a:rPr lang="en-US" sz="1900" dirty="0">
                <a:latin typeface="Aptos" panose="020B0004020202020204" pitchFamily="34" charset="0"/>
                <a:cs typeface="B Nazanin" pitchFamily="2" charset="-78"/>
              </a:rPr>
              <a:t>Supplementary Information</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 یا اطلاعات تکمیلی در مقاله علمی محلی است برای ارائه </a:t>
            </a:r>
            <a:r>
              <a:rPr lang="fa-IR" sz="2000" dirty="0" err="1">
                <a:latin typeface="Aptos" panose="020B0004020202020204" pitchFamily="34" charset="0"/>
                <a:cs typeface="B Nazanin" pitchFamily="2" charset="-78"/>
              </a:rPr>
              <a:t>داده‌ها</a:t>
            </a:r>
            <a:r>
              <a:rPr lang="fa-IR" sz="2000" dirty="0">
                <a:latin typeface="Aptos" panose="020B0004020202020204" pitchFamily="34" charset="0"/>
                <a:cs typeface="B Nazanin" pitchFamily="2" charset="-78"/>
              </a:rPr>
              <a:t>، جداول، </a:t>
            </a:r>
            <a:r>
              <a:rPr lang="fa-IR" sz="2000" dirty="0" err="1">
                <a:latin typeface="Aptos" panose="020B0004020202020204" pitchFamily="34" charset="0"/>
                <a:cs typeface="B Nazanin" pitchFamily="2" charset="-78"/>
              </a:rPr>
              <a:t>شکل‌ها</a:t>
            </a:r>
            <a:r>
              <a:rPr lang="fa-IR" sz="2000" dirty="0">
                <a:latin typeface="Aptos" panose="020B0004020202020204" pitchFamily="34" charset="0"/>
                <a:cs typeface="B Nazanin" pitchFamily="2" charset="-78"/>
              </a:rPr>
              <a:t> یا توضیحات اضافی که برای درک کامل پژوهش مهم هستند اما در متن اصلی مقاله جای </a:t>
            </a:r>
            <a:r>
              <a:rPr lang="fa-IR" sz="2000" dirty="0" err="1">
                <a:latin typeface="Aptos" panose="020B0004020202020204" pitchFamily="34" charset="0"/>
                <a:cs typeface="B Nazanin" pitchFamily="2" charset="-78"/>
              </a:rPr>
              <a:t>نمی‌گیرند</a:t>
            </a:r>
            <a:r>
              <a:rPr lang="fa-IR" sz="2000" dirty="0">
                <a:latin typeface="Aptos" panose="020B0004020202020204" pitchFamily="34" charset="0"/>
                <a:cs typeface="B Nazanin" pitchFamily="2" charset="-78"/>
              </a:rPr>
              <a:t>. این بخش معمولاً </a:t>
            </a:r>
            <a:r>
              <a:rPr lang="fa-IR" sz="2000" dirty="0" err="1">
                <a:latin typeface="Aptos" panose="020B0004020202020204" pitchFamily="34" charset="0"/>
                <a:cs typeface="B Nazanin" pitchFamily="2" charset="-78"/>
              </a:rPr>
              <a:t>به‌صورت</a:t>
            </a:r>
            <a:r>
              <a:rPr lang="fa-IR" sz="2000" dirty="0">
                <a:latin typeface="Aptos" panose="020B0004020202020204" pitchFamily="34" charset="0"/>
                <a:cs typeface="B Nazanin" pitchFamily="2" charset="-78"/>
              </a:rPr>
              <a:t> فایل جداگانه همراه مقاله منتشر </a:t>
            </a:r>
            <a:r>
              <a:rPr lang="fa-IR" sz="2000" dirty="0" err="1">
                <a:latin typeface="Aptos" panose="020B0004020202020204" pitchFamily="34" charset="0"/>
                <a:cs typeface="B Nazanin" pitchFamily="2" charset="-78"/>
              </a:rPr>
              <a:t>می‌شود</a:t>
            </a:r>
            <a:r>
              <a:rPr lang="fa-IR" sz="2000" dirty="0">
                <a:latin typeface="Aptos" panose="020B0004020202020204" pitchFamily="34" charset="0"/>
                <a:cs typeface="B Nazanin" pitchFamily="2" charset="-78"/>
              </a:rPr>
              <a:t>.</a:t>
            </a:r>
          </a:p>
          <a:p>
            <a:pPr algn="r" rtl="1">
              <a:lnSpc>
                <a:spcPct val="95000"/>
              </a:lnSpc>
            </a:pPr>
            <a:endParaRPr lang="fa-IR" sz="2000" dirty="0">
              <a:latin typeface="Aptos" panose="020B0004020202020204" pitchFamily="34" charset="0"/>
              <a:cs typeface="B Nazanin" pitchFamily="2" charset="-78"/>
            </a:endParaRPr>
          </a:p>
          <a:p>
            <a:pPr algn="r" rtl="1">
              <a:lnSpc>
                <a:spcPct val="95000"/>
              </a:lnSpc>
            </a:pPr>
            <a:r>
              <a:rPr lang="fa-IR" sz="2000" dirty="0">
                <a:latin typeface="Aptos" panose="020B0004020202020204" pitchFamily="34" charset="0"/>
                <a:cs typeface="B Nazanin" pitchFamily="2" charset="-78"/>
              </a:rPr>
              <a:t>۳.   بخش قدردانی </a:t>
            </a:r>
            <a:r>
              <a:rPr lang="en-US" sz="1900" dirty="0">
                <a:latin typeface="Aptos" panose="020B0004020202020204" pitchFamily="34" charset="0"/>
                <a:cs typeface="B Nazanin" pitchFamily="2" charset="-78"/>
              </a:rPr>
              <a:t>(Acknowledgement</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a:t>
            </a:r>
          </a:p>
          <a:p>
            <a:pPr algn="r" rtl="1">
              <a:lnSpc>
                <a:spcPct val="95000"/>
              </a:lnSpc>
            </a:pPr>
            <a:r>
              <a:rPr lang="fa-IR" sz="2000" dirty="0">
                <a:latin typeface="Aptos" panose="020B0004020202020204" pitchFamily="34" charset="0"/>
                <a:cs typeface="B Nazanin" pitchFamily="2" charset="-78"/>
              </a:rPr>
              <a:t>بخش </a:t>
            </a:r>
            <a:r>
              <a:rPr lang="en-US" sz="1900" dirty="0">
                <a:latin typeface="Aptos" panose="020B0004020202020204" pitchFamily="34" charset="0"/>
                <a:cs typeface="B Nazanin" pitchFamily="2" charset="-78"/>
              </a:rPr>
              <a:t>Acknowledgement </a:t>
            </a:r>
            <a:r>
              <a:rPr lang="fa-IR" sz="2000" dirty="0">
                <a:latin typeface="Aptos" panose="020B0004020202020204" pitchFamily="34" charset="0"/>
                <a:cs typeface="B Nazanin" pitchFamily="2" charset="-78"/>
              </a:rPr>
              <a:t> یا قدردانی در مقاله علمی فرصتی است برای نویسندگان تا از افرادی، </a:t>
            </a:r>
            <a:r>
              <a:rPr lang="fa-IR" sz="2000" dirty="0" err="1">
                <a:latin typeface="Aptos" panose="020B0004020202020204" pitchFamily="34" charset="0"/>
                <a:cs typeface="B Nazanin" pitchFamily="2" charset="-78"/>
              </a:rPr>
              <a:t>سازمان‌ها</a:t>
            </a:r>
            <a:r>
              <a:rPr lang="fa-IR" sz="2000" dirty="0">
                <a:latin typeface="Aptos" panose="020B0004020202020204" pitchFamily="34" charset="0"/>
                <a:cs typeface="B Nazanin" pitchFamily="2" charset="-78"/>
              </a:rPr>
              <a:t> یا نهادهایی که به شکل مستقیم یا غیرمستقیم در انجام پژوهش نقش </a:t>
            </a:r>
            <a:r>
              <a:rPr lang="fa-IR" sz="2000" dirty="0" err="1">
                <a:latin typeface="Aptos" panose="020B0004020202020204" pitchFamily="34" charset="0"/>
                <a:cs typeface="B Nazanin" pitchFamily="2" charset="-78"/>
              </a:rPr>
              <a:t>داشته‌اند</a:t>
            </a:r>
            <a:r>
              <a:rPr lang="fa-IR" sz="2000" dirty="0">
                <a:latin typeface="Aptos" panose="020B0004020202020204" pitchFamily="34" charset="0"/>
                <a:cs typeface="B Nazanin" pitchFamily="2" charset="-78"/>
              </a:rPr>
              <a:t>، تشکر کنند. این بخش معمولاً کوتاه است اما اهمیت زیادی دارد؛ چون </a:t>
            </a:r>
            <a:r>
              <a:rPr lang="fa-IR" sz="2000" dirty="0" err="1">
                <a:latin typeface="Aptos" panose="020B0004020202020204" pitchFamily="34" charset="0"/>
                <a:cs typeface="B Nazanin" pitchFamily="2" charset="-78"/>
              </a:rPr>
              <a:t>نشان‌دهنده‌ی</a:t>
            </a:r>
            <a:r>
              <a:rPr lang="fa-IR" sz="2000" dirty="0">
                <a:latin typeface="Aptos" panose="020B0004020202020204" pitchFamily="34" charset="0"/>
                <a:cs typeface="B Nazanin" pitchFamily="2" charset="-78"/>
              </a:rPr>
              <a:t> اخلاق علمی و شفافیت پژوهش است.</a:t>
            </a:r>
          </a:p>
          <a:p>
            <a:pPr algn="r" rtl="1">
              <a:lnSpc>
                <a:spcPct val="95000"/>
              </a:lnSpc>
            </a:pPr>
            <a:endParaRPr lang="fa-IR" sz="2000" dirty="0">
              <a:latin typeface="Aptos" panose="020B0004020202020204" pitchFamily="34" charset="0"/>
              <a:cs typeface="B Nazanin" pitchFamily="2" charset="-78"/>
            </a:endParaRPr>
          </a:p>
        </p:txBody>
      </p:sp>
      <p:pic>
        <p:nvPicPr>
          <p:cNvPr id="5" name="Picture 4" descr="A white symbol with a black background">
            <a:extLst>
              <a:ext uri="{FF2B5EF4-FFF2-40B4-BE49-F238E27FC236}">
                <a16:creationId xmlns:a16="http://schemas.microsoft.com/office/drawing/2014/main" id="{E65916E7-0870-FB47-7DA1-B952F7FEAD09}"/>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4032898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9C3DDF-B187-B1E3-56CE-5EF4E540E9C3}"/>
              </a:ext>
            </a:extLst>
          </p:cNvPr>
          <p:cNvSpPr txBox="1"/>
          <p:nvPr/>
        </p:nvSpPr>
        <p:spPr>
          <a:xfrm>
            <a:off x="684212" y="76200"/>
            <a:ext cx="11049000" cy="892167"/>
          </a:xfrm>
          <a:prstGeom prst="rect">
            <a:avLst/>
          </a:prstGeom>
          <a:noFill/>
        </p:spPr>
        <p:txBody>
          <a:bodyPr wrap="square" rtlCol="0">
            <a:spAutoFit/>
          </a:bodyPr>
          <a:lstStyle/>
          <a:p>
            <a:pPr marL="0" algn="r" defTabSz="1218987" rtl="1" eaLnBrk="1" latinLnBrk="0" hangingPunct="1">
              <a:lnSpc>
                <a:spcPct val="95000"/>
              </a:lnSpc>
            </a:pPr>
            <a:r>
              <a:rPr lang="fa-IR" sz="5400" dirty="0">
                <a:solidFill>
                  <a:schemeClr val="accent2">
                    <a:lumMod val="50000"/>
                  </a:schemeClr>
                </a:solidFill>
                <a:latin typeface="B Nazanin" pitchFamily="2" charset="-78"/>
                <a:cs typeface="B Nazanin" pitchFamily="2" charset="-78"/>
              </a:rPr>
              <a:t>شیوه صحیح مطالعه مقاله</a:t>
            </a:r>
            <a:endParaRPr lang="en-US" sz="5400" dirty="0">
              <a:solidFill>
                <a:schemeClr val="accent2">
                  <a:lumMod val="50000"/>
                </a:schemeClr>
              </a:solidFill>
              <a:latin typeface="B Nazanin" pitchFamily="2" charset="-78"/>
              <a:cs typeface="B Nazanin" pitchFamily="2" charset="-78"/>
            </a:endParaRPr>
          </a:p>
        </p:txBody>
      </p:sp>
      <p:sp>
        <p:nvSpPr>
          <p:cNvPr id="4" name="TextBox 3">
            <a:extLst>
              <a:ext uri="{FF2B5EF4-FFF2-40B4-BE49-F238E27FC236}">
                <a16:creationId xmlns:a16="http://schemas.microsoft.com/office/drawing/2014/main" id="{C1AFF6A0-8437-25E2-FAE8-D11A649EC7EA}"/>
              </a:ext>
            </a:extLst>
          </p:cNvPr>
          <p:cNvSpPr txBox="1"/>
          <p:nvPr/>
        </p:nvSpPr>
        <p:spPr>
          <a:xfrm>
            <a:off x="569912" y="1088341"/>
            <a:ext cx="11049000" cy="6205545"/>
          </a:xfrm>
          <a:prstGeom prst="rect">
            <a:avLst/>
          </a:prstGeom>
          <a:noFill/>
        </p:spPr>
        <p:txBody>
          <a:bodyPr wrap="square" rtlCol="0">
            <a:spAutoFit/>
          </a:bodyPr>
          <a:lstStyle/>
          <a:p>
            <a:pPr marL="0" algn="r" defTabSz="1218987" rtl="1" eaLnBrk="1" latinLnBrk="0" hangingPunct="1">
              <a:lnSpc>
                <a:spcPct val="95000"/>
              </a:lnSpc>
            </a:pPr>
            <a:r>
              <a:rPr lang="fa-IR" sz="2000" dirty="0">
                <a:latin typeface="Aptos" panose="020B0004020202020204" pitchFamily="34" charset="0"/>
                <a:cs typeface="B Nazanin" pitchFamily="2" charset="-78"/>
              </a:rPr>
              <a:t>یکی از روش های موثر در مطالعه مقالات، روش سه مرحله ای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Three-Pass Method</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 می باشد که توسط </a:t>
            </a:r>
            <a:r>
              <a:rPr lang="en-US" sz="1900" dirty="0">
                <a:latin typeface="Aptos" panose="020B0004020202020204" pitchFamily="34" charset="0"/>
                <a:cs typeface="B Nazanin" pitchFamily="2" charset="-78"/>
              </a:rPr>
              <a:t>S. Keshav</a:t>
            </a:r>
            <a:r>
              <a:rPr lang="fa-IR" sz="2000" dirty="0">
                <a:latin typeface="Aptos" panose="020B0004020202020204" pitchFamily="34" charset="0"/>
                <a:cs typeface="B Nazanin" pitchFamily="2" charset="-78"/>
              </a:rPr>
              <a:t> از دانشگاه </a:t>
            </a:r>
            <a:r>
              <a:rPr lang="en-US" sz="1900" dirty="0">
                <a:latin typeface="Aptos" panose="020B0004020202020204" pitchFamily="34" charset="0"/>
                <a:cs typeface="B Nazanin" pitchFamily="2" charset="-78"/>
              </a:rPr>
              <a:t>Waterloo</a:t>
            </a:r>
            <a:r>
              <a:rPr lang="fa-IR" sz="2000" dirty="0">
                <a:latin typeface="Aptos" panose="020B0004020202020204" pitchFamily="34" charset="0"/>
                <a:cs typeface="B Nazanin" pitchFamily="2" charset="-78"/>
              </a:rPr>
              <a:t> مطرح شد و هدف آن افزایش </a:t>
            </a:r>
            <a:r>
              <a:rPr lang="fa-IR" sz="2000" dirty="0" err="1">
                <a:latin typeface="Aptos" panose="020B0004020202020204" pitchFamily="34" charset="0"/>
                <a:cs typeface="B Nazanin" pitchFamily="2" charset="-78"/>
              </a:rPr>
              <a:t>بهره‌وری</a:t>
            </a:r>
            <a:r>
              <a:rPr lang="fa-IR" sz="2000" dirty="0">
                <a:latin typeface="Aptos" panose="020B0004020202020204" pitchFamily="34" charset="0"/>
                <a:cs typeface="B Nazanin" pitchFamily="2" charset="-78"/>
              </a:rPr>
              <a:t> پژوهشگران در خواندن مقالات و انجام مرور ادبیات </a:t>
            </a:r>
            <a:r>
              <a:rPr lang="fa-IR" sz="2000" dirty="0" err="1">
                <a:latin typeface="Aptos" panose="020B0004020202020204" pitchFamily="34" charset="0"/>
                <a:cs typeface="B Nazanin" pitchFamily="2" charset="-78"/>
              </a:rPr>
              <a:t>می‌باشد</a:t>
            </a:r>
            <a:r>
              <a:rPr lang="fa-IR" sz="2000" dirty="0">
                <a:latin typeface="Aptos" panose="020B0004020202020204" pitchFamily="34" charset="0"/>
                <a:cs typeface="B Nazanin" pitchFamily="2" charset="-78"/>
              </a:rPr>
              <a:t>.</a:t>
            </a:r>
          </a:p>
          <a:p>
            <a:pPr marL="0" algn="r" defTabSz="1218987" rtl="1" eaLnBrk="1" latinLnBrk="0" hangingPunct="1">
              <a:lnSpc>
                <a:spcPct val="95000"/>
              </a:lnSpc>
            </a:pPr>
            <a:endParaRPr lang="fa-IR" sz="2000" dirty="0">
              <a:latin typeface="Aptos" panose="020B0004020202020204" pitchFamily="34" charset="0"/>
              <a:cs typeface="B Nazanin" pitchFamily="2" charset="-78"/>
            </a:endParaRPr>
          </a:p>
          <a:p>
            <a:pPr algn="r" rtl="1">
              <a:lnSpc>
                <a:spcPct val="95000"/>
              </a:lnSpc>
            </a:pPr>
            <a:r>
              <a:rPr lang="fa-IR" sz="2000" dirty="0">
                <a:latin typeface="Aptos" panose="020B0004020202020204" pitchFamily="34" charset="0"/>
                <a:cs typeface="B Nazanin" pitchFamily="2" charset="-78"/>
              </a:rPr>
              <a:t>طبق این روش، به جای خواندن مقاله از ابتدا تا انتها، باید آن را در سه مرحله مطالعه کرد. هر مرحله عمق بیشتری ایجاد </a:t>
            </a:r>
            <a:r>
              <a:rPr lang="fa-IR" sz="2000" dirty="0" err="1">
                <a:latin typeface="Aptos" panose="020B0004020202020204" pitchFamily="34" charset="0"/>
                <a:cs typeface="B Nazanin" pitchFamily="2" charset="-78"/>
              </a:rPr>
              <a:t>می‌کند</a:t>
            </a:r>
            <a:r>
              <a:rPr lang="fa-IR" sz="2000" dirty="0">
                <a:latin typeface="Aptos" panose="020B0004020202020204" pitchFamily="34" charset="0"/>
                <a:cs typeface="B Nazanin" pitchFamily="2" charset="-78"/>
              </a:rPr>
              <a:t> و به تدریج فهم کامل مقاله حاصل </a:t>
            </a:r>
            <a:r>
              <a:rPr lang="fa-IR" sz="2000" dirty="0" err="1">
                <a:latin typeface="Aptos" panose="020B0004020202020204" pitchFamily="34" charset="0"/>
                <a:cs typeface="B Nazanin" pitchFamily="2" charset="-78"/>
              </a:rPr>
              <a:t>می‌شود</a:t>
            </a:r>
            <a:r>
              <a:rPr lang="fa-IR" sz="2000" dirty="0">
                <a:latin typeface="Aptos" panose="020B0004020202020204" pitchFamily="34" charset="0"/>
                <a:cs typeface="B Nazanin" pitchFamily="2" charset="-78"/>
              </a:rPr>
              <a:t>.</a:t>
            </a:r>
          </a:p>
          <a:p>
            <a:pPr marL="0" algn="r" defTabSz="1218987" rtl="1" eaLnBrk="1" latinLnBrk="0" hangingPunct="1">
              <a:lnSpc>
                <a:spcPct val="95000"/>
              </a:lnSpc>
            </a:pPr>
            <a:endParaRPr lang="fa-IR" sz="2000" dirty="0">
              <a:latin typeface="Aptos" panose="020B0004020202020204" pitchFamily="34" charset="0"/>
              <a:cs typeface="B Nazanin" pitchFamily="2" charset="-78"/>
            </a:endParaRPr>
          </a:p>
          <a:p>
            <a:pPr algn="r" rtl="1"/>
            <a:r>
              <a:rPr lang="fa-IR" sz="2000" dirty="0">
                <a:latin typeface="Aptos" panose="020B0004020202020204" pitchFamily="34" charset="0"/>
                <a:cs typeface="B Nazanin" pitchFamily="2" charset="-78"/>
              </a:rPr>
              <a:t>مراحل </a:t>
            </a:r>
            <a:r>
              <a:rPr lang="fa-IR" sz="2000" dirty="0" err="1">
                <a:latin typeface="Aptos" panose="020B0004020202020204" pitchFamily="34" charset="0"/>
                <a:cs typeface="B Nazanin" pitchFamily="2" charset="-78"/>
              </a:rPr>
              <a:t>سه‌گانه</a:t>
            </a:r>
            <a:r>
              <a:rPr lang="fa-IR" sz="2000" dirty="0">
                <a:latin typeface="Aptos" panose="020B0004020202020204" pitchFamily="34" charset="0"/>
                <a:cs typeface="B Nazanin" pitchFamily="2" charset="-78"/>
              </a:rPr>
              <a:t> مطالعه</a:t>
            </a:r>
          </a:p>
          <a:p>
            <a:pPr algn="r" rtl="1"/>
            <a:r>
              <a:rPr lang="fa-IR" sz="2000" dirty="0">
                <a:latin typeface="Aptos" panose="020B0004020202020204" pitchFamily="34" charset="0"/>
                <a:cs typeface="B Nazanin" pitchFamily="2" charset="-78"/>
              </a:rPr>
              <a:t>1. مرحله اول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First Pass</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 نگاه کلی:</a:t>
            </a:r>
          </a:p>
          <a:p>
            <a:pPr algn="r" rtl="1"/>
            <a:r>
              <a:rPr lang="fa-IR" sz="2000" dirty="0">
                <a:latin typeface="Aptos" panose="020B0004020202020204" pitchFamily="34" charset="0"/>
                <a:cs typeface="B Nazanin" pitchFamily="2" charset="-78"/>
              </a:rPr>
              <a:t>مدت زمان: ۵ تا ۱۰ دقیقه</a:t>
            </a:r>
          </a:p>
          <a:p>
            <a:pPr algn="r" rtl="1"/>
            <a:r>
              <a:rPr lang="fa-IR" sz="2000" dirty="0">
                <a:latin typeface="Aptos" panose="020B0004020202020204" pitchFamily="34" charset="0"/>
                <a:cs typeface="B Nazanin" pitchFamily="2" charset="-78"/>
              </a:rPr>
              <a:t>کارها: خواندن عنوان، چکیده، مقدمه، </a:t>
            </a:r>
            <a:r>
              <a:rPr lang="fa-IR" sz="2000" dirty="0" err="1">
                <a:latin typeface="Aptos" panose="020B0004020202020204" pitchFamily="34" charset="0"/>
                <a:cs typeface="B Nazanin" pitchFamily="2" charset="-78"/>
              </a:rPr>
              <a:t>تیترهای</a:t>
            </a:r>
            <a:r>
              <a:rPr lang="fa-IR" sz="2000" dirty="0">
                <a:latin typeface="Aptos" panose="020B0004020202020204" pitchFamily="34" charset="0"/>
                <a:cs typeface="B Nazanin" pitchFamily="2" charset="-78"/>
              </a:rPr>
              <a:t> </a:t>
            </a:r>
            <a:r>
              <a:rPr lang="fa-IR" sz="2000" dirty="0" err="1">
                <a:latin typeface="Aptos" panose="020B0004020202020204" pitchFamily="34" charset="0"/>
                <a:cs typeface="B Nazanin" pitchFamily="2" charset="-78"/>
              </a:rPr>
              <a:t>بخش‌ها</a:t>
            </a:r>
            <a:r>
              <a:rPr lang="fa-IR" sz="2000" dirty="0">
                <a:latin typeface="Aptos" panose="020B0004020202020204" pitchFamily="34" charset="0"/>
                <a:cs typeface="B Nazanin" pitchFamily="2" charset="-78"/>
              </a:rPr>
              <a:t>، </a:t>
            </a:r>
            <a:r>
              <a:rPr lang="fa-IR" sz="2000" dirty="0" err="1">
                <a:latin typeface="Aptos" panose="020B0004020202020204" pitchFamily="34" charset="0"/>
                <a:cs typeface="B Nazanin" pitchFamily="2" charset="-78"/>
              </a:rPr>
              <a:t>نتیجه‌گیری</a:t>
            </a:r>
            <a:r>
              <a:rPr lang="fa-IR" sz="2000" dirty="0">
                <a:latin typeface="Aptos" panose="020B0004020202020204" pitchFamily="34" charset="0"/>
                <a:cs typeface="B Nazanin" pitchFamily="2" charset="-78"/>
              </a:rPr>
              <a:t> و مرور سریع منابع.</a:t>
            </a:r>
          </a:p>
          <a:p>
            <a:pPr algn="r" rtl="1"/>
            <a:r>
              <a:rPr lang="fa-IR" sz="2000" dirty="0">
                <a:latin typeface="Aptos" panose="020B0004020202020204" pitchFamily="34" charset="0"/>
                <a:cs typeface="B Nazanin" pitchFamily="2" charset="-78"/>
              </a:rPr>
              <a:t>هدف: درک کلی مقاله و پاسخ به ۵ سؤال کلیدی (</a:t>
            </a:r>
            <a:r>
              <a:rPr lang="en-US" sz="1900" dirty="0">
                <a:latin typeface="Aptos" panose="020B0004020202020204" pitchFamily="34" charset="0"/>
                <a:cs typeface="B Nazanin" pitchFamily="2" charset="-78"/>
              </a:rPr>
              <a:t>Category, Context, Correctness, Contributions, Clarity</a:t>
            </a:r>
            <a:r>
              <a:rPr lang="fa-IR" sz="2000" dirty="0">
                <a:latin typeface="Aptos" panose="020B0004020202020204" pitchFamily="34" charset="0"/>
                <a:cs typeface="B Nazanin" pitchFamily="2" charset="-78"/>
              </a:rPr>
              <a:t>)</a:t>
            </a:r>
            <a:endParaRPr lang="en-US" sz="2000" dirty="0">
              <a:latin typeface="Aptos" panose="020B0004020202020204" pitchFamily="34" charset="0"/>
              <a:cs typeface="B Nazanin" pitchFamily="2" charset="-78"/>
            </a:endParaRPr>
          </a:p>
          <a:p>
            <a:pPr algn="r" rtl="1"/>
            <a:r>
              <a:rPr lang="fa-IR" sz="2000" dirty="0">
                <a:latin typeface="Aptos" panose="020B0004020202020204" pitchFamily="34" charset="0"/>
                <a:cs typeface="B Nazanin" pitchFamily="2" charset="-78"/>
              </a:rPr>
              <a:t>نتیجه: </a:t>
            </a:r>
            <a:r>
              <a:rPr lang="fa-IR" sz="2000" dirty="0" err="1">
                <a:latin typeface="Aptos" panose="020B0004020202020204" pitchFamily="34" charset="0"/>
                <a:cs typeface="B Nazanin" pitchFamily="2" charset="-78"/>
              </a:rPr>
              <a:t>تصمیم‌گیری</a:t>
            </a:r>
            <a:r>
              <a:rPr lang="fa-IR" sz="2000" dirty="0">
                <a:latin typeface="Aptos" panose="020B0004020202020204" pitchFamily="34" charset="0"/>
                <a:cs typeface="B Nazanin" pitchFamily="2" charset="-78"/>
              </a:rPr>
              <a:t> درباره ادامه مطالعه یا کنار گذاشتن مقاله.</a:t>
            </a:r>
            <a:endParaRPr lang="en-US" sz="2000" dirty="0">
              <a:latin typeface="Aptos" panose="020B0004020202020204" pitchFamily="34" charset="0"/>
              <a:cs typeface="B Nazanin" pitchFamily="2" charset="-78"/>
            </a:endParaRPr>
          </a:p>
          <a:p>
            <a:pPr algn="r" rtl="1"/>
            <a:endParaRPr lang="en-US" sz="2000" dirty="0">
              <a:latin typeface="Aptos" panose="020B0004020202020204" pitchFamily="34" charset="0"/>
              <a:cs typeface="B Nazanin" pitchFamily="2" charset="-78"/>
            </a:endParaRPr>
          </a:p>
          <a:p>
            <a:pPr algn="r" rtl="1"/>
            <a:r>
              <a:rPr lang="fa-IR" sz="2000" dirty="0">
                <a:latin typeface="Aptos" panose="020B0004020202020204" pitchFamily="34" charset="0"/>
                <a:cs typeface="B Nazanin" pitchFamily="2" charset="-78"/>
              </a:rPr>
              <a:t>2. مرحله دوم (</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Second Pass</a:t>
            </a:r>
            <a:r>
              <a:rPr lang="fa-IR" sz="2000" dirty="0">
                <a:latin typeface="Aptos" panose="020B0004020202020204" pitchFamily="34" charset="0"/>
                <a:cs typeface="B Nazanin" pitchFamily="2" charset="-78"/>
              </a:rPr>
              <a:t>فهم محتوا:</a:t>
            </a:r>
          </a:p>
          <a:p>
            <a:pPr algn="r" rtl="1"/>
            <a:r>
              <a:rPr lang="fa-IR" sz="2000" dirty="0">
                <a:latin typeface="Aptos" panose="020B0004020202020204" pitchFamily="34" charset="0"/>
                <a:cs typeface="B Nazanin" pitchFamily="2" charset="-78"/>
              </a:rPr>
              <a:t>مدت زمان: حدود یک ساعت</a:t>
            </a:r>
          </a:p>
          <a:p>
            <a:pPr algn="r" rtl="1"/>
            <a:r>
              <a:rPr lang="fa-IR" sz="2000" dirty="0">
                <a:latin typeface="Aptos" panose="020B0004020202020204" pitchFamily="34" charset="0"/>
                <a:cs typeface="B Nazanin" pitchFamily="2" charset="-78"/>
              </a:rPr>
              <a:t>کارها: مطالعه </a:t>
            </a:r>
            <a:r>
              <a:rPr lang="fa-IR" sz="2000" dirty="0" err="1">
                <a:latin typeface="Aptos" panose="020B0004020202020204" pitchFamily="34" charset="0"/>
                <a:cs typeface="B Nazanin" pitchFamily="2" charset="-78"/>
              </a:rPr>
              <a:t>دقیق‌تر</a:t>
            </a:r>
            <a:r>
              <a:rPr lang="fa-IR" sz="2000" dirty="0">
                <a:latin typeface="Aptos" panose="020B0004020202020204" pitchFamily="34" charset="0"/>
                <a:cs typeface="B Nazanin" pitchFamily="2" charset="-78"/>
              </a:rPr>
              <a:t> متن، بررسی نمودارها و جداول، </a:t>
            </a:r>
            <a:r>
              <a:rPr lang="fa-IR" sz="2000" dirty="0" err="1">
                <a:latin typeface="Aptos" panose="020B0004020202020204" pitchFamily="34" charset="0"/>
                <a:cs typeface="B Nazanin" pitchFamily="2" charset="-78"/>
              </a:rPr>
              <a:t>یادداشت‌برداری</a:t>
            </a:r>
            <a:r>
              <a:rPr lang="fa-IR" sz="2000" dirty="0">
                <a:latin typeface="Aptos" panose="020B0004020202020204" pitchFamily="34" charset="0"/>
                <a:cs typeface="B Nazanin" pitchFamily="2" charset="-78"/>
              </a:rPr>
              <a:t>، </a:t>
            </a:r>
            <a:r>
              <a:rPr lang="fa-IR" sz="2000" dirty="0" err="1">
                <a:latin typeface="Aptos" panose="020B0004020202020204" pitchFamily="34" charset="0"/>
                <a:cs typeface="B Nazanin" pitchFamily="2" charset="-78"/>
              </a:rPr>
              <a:t>علامت‌گذاری</a:t>
            </a:r>
            <a:r>
              <a:rPr lang="fa-IR" sz="2000" dirty="0">
                <a:latin typeface="Aptos" panose="020B0004020202020204" pitchFamily="34" charset="0"/>
                <a:cs typeface="B Nazanin" pitchFamily="2" charset="-78"/>
              </a:rPr>
              <a:t> منابع مهم.</a:t>
            </a:r>
          </a:p>
          <a:p>
            <a:pPr algn="r" rtl="1"/>
            <a:r>
              <a:rPr lang="fa-IR" sz="2000" dirty="0">
                <a:latin typeface="Aptos" panose="020B0004020202020204" pitchFamily="34" charset="0"/>
                <a:cs typeface="B Nazanin" pitchFamily="2" charset="-78"/>
              </a:rPr>
              <a:t>هدف: درک محتوای مقاله بدون ورود به جزئیات پیچیده مثل </a:t>
            </a:r>
            <a:r>
              <a:rPr lang="fa-IR" sz="2000" dirty="0" err="1">
                <a:latin typeface="Aptos" panose="020B0004020202020204" pitchFamily="34" charset="0"/>
                <a:cs typeface="B Nazanin" pitchFamily="2" charset="-78"/>
              </a:rPr>
              <a:t>اثبات‌ها</a:t>
            </a:r>
            <a:r>
              <a:rPr lang="fa-IR" sz="2000" dirty="0">
                <a:latin typeface="Aptos" panose="020B0004020202020204" pitchFamily="34" charset="0"/>
                <a:cs typeface="B Nazanin" pitchFamily="2" charset="-78"/>
              </a:rPr>
              <a:t>.</a:t>
            </a:r>
          </a:p>
          <a:p>
            <a:pPr algn="r" rtl="1"/>
            <a:r>
              <a:rPr lang="fa-IR" sz="2000" dirty="0">
                <a:latin typeface="Aptos" panose="020B0004020202020204" pitchFamily="34" charset="0"/>
                <a:cs typeface="B Nazanin" pitchFamily="2" charset="-78"/>
              </a:rPr>
              <a:t>نتیجه: توانایی توضیح مقاله به دیگران و تشخیص کیفیت کار (مثلاً وجود خطاهای آماری یا ضعف در طراحی).</a:t>
            </a:r>
          </a:p>
          <a:p>
            <a:pPr algn="r" rtl="1"/>
            <a:endParaRPr lang="fa-IR" sz="2000" dirty="0">
              <a:latin typeface="Aptos" panose="020B0004020202020204" pitchFamily="34" charset="0"/>
              <a:cs typeface="B Nazanin" pitchFamily="2" charset="-78"/>
            </a:endParaRPr>
          </a:p>
          <a:p>
            <a:pPr marL="0" algn="r" defTabSz="1218987" rtl="1" eaLnBrk="1" latinLnBrk="0" hangingPunct="1">
              <a:lnSpc>
                <a:spcPct val="95000"/>
              </a:lnSpc>
            </a:pPr>
            <a:endParaRPr lang="en-US" sz="2000" dirty="0">
              <a:latin typeface="Aptos" panose="020B0004020202020204" pitchFamily="34" charset="0"/>
              <a:cs typeface="B Nazanin" pitchFamily="2" charset="-78"/>
            </a:endParaRPr>
          </a:p>
        </p:txBody>
      </p:sp>
      <p:pic>
        <p:nvPicPr>
          <p:cNvPr id="5" name="Picture 4" descr="A white symbol with a black background">
            <a:extLst>
              <a:ext uri="{FF2B5EF4-FFF2-40B4-BE49-F238E27FC236}">
                <a16:creationId xmlns:a16="http://schemas.microsoft.com/office/drawing/2014/main" id="{CD9E90E7-BC8C-DD74-432E-2C72AC4E6716}"/>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61998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231710-0BBD-9D03-DCCE-5243296411C6}"/>
              </a:ext>
            </a:extLst>
          </p:cNvPr>
          <p:cNvSpPr txBox="1"/>
          <p:nvPr/>
        </p:nvSpPr>
        <p:spPr>
          <a:xfrm>
            <a:off x="646112" y="457200"/>
            <a:ext cx="10896600" cy="1927451"/>
          </a:xfrm>
          <a:prstGeom prst="rect">
            <a:avLst/>
          </a:prstGeom>
          <a:noFill/>
        </p:spPr>
        <p:txBody>
          <a:bodyPr wrap="square" rtlCol="0">
            <a:spAutoFit/>
          </a:bodyPr>
          <a:lstStyle/>
          <a:p>
            <a:pPr algn="r" rtl="1"/>
            <a:r>
              <a:rPr lang="fa-IR" sz="2000" dirty="0">
                <a:latin typeface="Aptos" panose="020B0004020202020204" pitchFamily="34" charset="0"/>
                <a:cs typeface="B Nazanin" pitchFamily="2" charset="-78"/>
              </a:rPr>
              <a:t>3. مرحله سوم </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Third Pass</a:t>
            </a:r>
            <a:r>
              <a:rPr lang="en-US" sz="2000" dirty="0">
                <a:latin typeface="Aptos" panose="020B0004020202020204" pitchFamily="34" charset="0"/>
                <a:cs typeface="B Nazanin" pitchFamily="2" charset="-78"/>
              </a:rPr>
              <a:t>)</a:t>
            </a:r>
            <a:r>
              <a:rPr lang="fa-IR" sz="2000" dirty="0">
                <a:latin typeface="Aptos" panose="020B0004020202020204" pitchFamily="34" charset="0"/>
                <a:cs typeface="B Nazanin" pitchFamily="2" charset="-78"/>
              </a:rPr>
              <a:t>درک عمیق</a:t>
            </a:r>
            <a:r>
              <a:rPr lang="en-US" sz="2000" dirty="0">
                <a:latin typeface="Aptos" panose="020B0004020202020204" pitchFamily="34" charset="0"/>
                <a:cs typeface="B Nazanin" pitchFamily="2" charset="-78"/>
              </a:rPr>
              <a:t>:</a:t>
            </a:r>
            <a:endParaRPr lang="fa-IR" sz="2000" dirty="0">
              <a:latin typeface="Aptos" panose="020B0004020202020204" pitchFamily="34" charset="0"/>
              <a:cs typeface="B Nazanin" pitchFamily="2" charset="-78"/>
            </a:endParaRPr>
          </a:p>
          <a:p>
            <a:pPr algn="r" rtl="1"/>
            <a:r>
              <a:rPr lang="fa-IR" sz="2000" dirty="0">
                <a:latin typeface="Aptos" panose="020B0004020202020204" pitchFamily="34" charset="0"/>
                <a:cs typeface="B Nazanin" pitchFamily="2" charset="-78"/>
              </a:rPr>
              <a:t>مدت زمان: ۴ تا ۵ ساعت برای </a:t>
            </a:r>
            <a:r>
              <a:rPr lang="fa-IR" sz="2000" dirty="0" err="1">
                <a:latin typeface="Aptos" panose="020B0004020202020204" pitchFamily="34" charset="0"/>
                <a:cs typeface="B Nazanin" pitchFamily="2" charset="-78"/>
              </a:rPr>
              <a:t>مبتدیان</a:t>
            </a:r>
            <a:r>
              <a:rPr lang="fa-IR" sz="2000" dirty="0">
                <a:latin typeface="Aptos" panose="020B0004020202020204" pitchFamily="34" charset="0"/>
                <a:cs typeface="B Nazanin" pitchFamily="2" charset="-78"/>
              </a:rPr>
              <a:t>، حدود یک ساعت برای افراد باتجربه.</a:t>
            </a:r>
          </a:p>
          <a:p>
            <a:pPr algn="r" rtl="1"/>
            <a:r>
              <a:rPr lang="fa-IR" sz="2000" dirty="0">
                <a:latin typeface="Aptos" panose="020B0004020202020204" pitchFamily="34" charset="0"/>
                <a:cs typeface="B Nazanin" pitchFamily="2" charset="-78"/>
              </a:rPr>
              <a:t>کارها: بازسازی مقاله در ذهن، بررسی فرضیات، نقد </a:t>
            </a:r>
            <a:r>
              <a:rPr lang="fa-IR" sz="2000" dirty="0" err="1">
                <a:latin typeface="Aptos" panose="020B0004020202020204" pitchFamily="34" charset="0"/>
                <a:cs typeface="B Nazanin" pitchFamily="2" charset="-78"/>
              </a:rPr>
              <a:t>روش‌ها</a:t>
            </a:r>
            <a:r>
              <a:rPr lang="fa-IR" sz="2000" dirty="0">
                <a:latin typeface="Aptos" panose="020B0004020202020204" pitchFamily="34" charset="0"/>
                <a:cs typeface="B Nazanin" pitchFamily="2" charset="-78"/>
              </a:rPr>
              <a:t>، شناسایی نقاط قوت و ضعف.</a:t>
            </a:r>
          </a:p>
          <a:p>
            <a:pPr algn="r" rtl="1"/>
            <a:r>
              <a:rPr lang="fa-IR" sz="2000" dirty="0">
                <a:latin typeface="Aptos" panose="020B0004020202020204" pitchFamily="34" charset="0"/>
                <a:cs typeface="B Nazanin" pitchFamily="2" charset="-78"/>
              </a:rPr>
              <a:t>هدف: فهم کامل مقاله، کشف فرضیات پنهان، ارزیابی اعتبار نتایج و استخراج </a:t>
            </a:r>
            <a:r>
              <a:rPr lang="fa-IR" sz="2000" dirty="0" err="1">
                <a:latin typeface="Aptos" panose="020B0004020202020204" pitchFamily="34" charset="0"/>
                <a:cs typeface="B Nazanin" pitchFamily="2" charset="-78"/>
              </a:rPr>
              <a:t>ایده‌های</a:t>
            </a:r>
            <a:r>
              <a:rPr lang="fa-IR" sz="2000" dirty="0">
                <a:latin typeface="Aptos" panose="020B0004020202020204" pitchFamily="34" charset="0"/>
                <a:cs typeface="B Nazanin" pitchFamily="2" charset="-78"/>
              </a:rPr>
              <a:t> پژوهشی آینده.</a:t>
            </a:r>
          </a:p>
          <a:p>
            <a:pPr algn="r" rtl="1"/>
            <a:r>
              <a:rPr lang="fa-IR" sz="2000" dirty="0">
                <a:latin typeface="Aptos" panose="020B0004020202020204" pitchFamily="34" charset="0"/>
                <a:cs typeface="B Nazanin" pitchFamily="2" charset="-78"/>
              </a:rPr>
              <a:t>نتیجه: توانایی بازسازی ساختار مقاله از حافظه و نقد علمی آن.</a:t>
            </a:r>
          </a:p>
          <a:p>
            <a:pPr marL="0" algn="r" defTabSz="1218987" rtl="1" eaLnBrk="1" latinLnBrk="0" hangingPunct="1">
              <a:lnSpc>
                <a:spcPct val="95000"/>
              </a:lnSpc>
            </a:pPr>
            <a:endParaRPr lang="en-US" sz="2000" dirty="0">
              <a:latin typeface="Aptos" panose="020B0004020202020204" pitchFamily="34" charset="0"/>
              <a:cs typeface="B Nazanin" pitchFamily="2" charset="-78"/>
            </a:endParaRPr>
          </a:p>
        </p:txBody>
      </p:sp>
      <p:sp>
        <p:nvSpPr>
          <p:cNvPr id="4" name="TextBox 3">
            <a:extLst>
              <a:ext uri="{FF2B5EF4-FFF2-40B4-BE49-F238E27FC236}">
                <a16:creationId xmlns:a16="http://schemas.microsoft.com/office/drawing/2014/main" id="{F4183B2F-5DE3-534E-F363-3257B3467CEB}"/>
              </a:ext>
            </a:extLst>
          </p:cNvPr>
          <p:cNvSpPr txBox="1"/>
          <p:nvPr/>
        </p:nvSpPr>
        <p:spPr>
          <a:xfrm>
            <a:off x="341312" y="2578477"/>
            <a:ext cx="11201400" cy="1923604"/>
          </a:xfrm>
          <a:prstGeom prst="rect">
            <a:avLst/>
          </a:prstGeom>
          <a:noFill/>
        </p:spPr>
        <p:txBody>
          <a:bodyPr wrap="square" rtlCol="0">
            <a:spAutoFit/>
          </a:bodyPr>
          <a:lstStyle/>
          <a:p>
            <a:pPr algn="r" rtl="1"/>
            <a:r>
              <a:rPr lang="fa-IR" sz="2000" dirty="0">
                <a:latin typeface="Aptos" panose="020B0004020202020204" pitchFamily="34" charset="0"/>
                <a:cs typeface="B Nazanin" pitchFamily="2" charset="-78"/>
              </a:rPr>
              <a:t>کاربرد در مرور ادبیات </a:t>
            </a:r>
            <a:r>
              <a:rPr lang="en-US" sz="2000" dirty="0">
                <a:latin typeface="Aptos" panose="020B0004020202020204" pitchFamily="34" charset="0"/>
                <a:cs typeface="B Nazanin" pitchFamily="2" charset="-78"/>
              </a:rPr>
              <a:t>:(</a:t>
            </a:r>
            <a:r>
              <a:rPr lang="en-US" sz="1900" dirty="0">
                <a:latin typeface="Aptos" panose="020B0004020202020204" pitchFamily="34" charset="0"/>
                <a:cs typeface="B Nazanin" pitchFamily="2" charset="-78"/>
              </a:rPr>
              <a:t>Literature Survey</a:t>
            </a:r>
            <a:r>
              <a:rPr lang="en-US" sz="2000" dirty="0">
                <a:latin typeface="Aptos" panose="020B0004020202020204" pitchFamily="34" charset="0"/>
                <a:cs typeface="B Nazanin" pitchFamily="2" charset="-78"/>
              </a:rPr>
              <a:t>)</a:t>
            </a:r>
          </a:p>
          <a:p>
            <a:pPr algn="r" rtl="1"/>
            <a:r>
              <a:rPr lang="fa-IR" sz="2000" dirty="0">
                <a:latin typeface="Aptos" panose="020B0004020202020204" pitchFamily="34" charset="0"/>
                <a:cs typeface="B Nazanin" pitchFamily="2" charset="-78"/>
              </a:rPr>
              <a:t>ابتدا چند مقاله اخیر مرتبط را با مرحله اول مرور کنید.</a:t>
            </a:r>
          </a:p>
          <a:p>
            <a:pPr algn="r" rtl="1"/>
            <a:r>
              <a:rPr lang="fa-IR" sz="2000" dirty="0">
                <a:latin typeface="Aptos" panose="020B0004020202020204" pitchFamily="34" charset="0"/>
                <a:cs typeface="B Nazanin" pitchFamily="2" charset="-78"/>
              </a:rPr>
              <a:t>سپس منابع مشترک و نویسندگان کلیدی را شناسایی کنید.</a:t>
            </a:r>
          </a:p>
          <a:p>
            <a:pPr algn="r" rtl="1"/>
            <a:r>
              <a:rPr lang="fa-IR" sz="2000" dirty="0">
                <a:latin typeface="Aptos" panose="020B0004020202020204" pitchFamily="34" charset="0"/>
                <a:cs typeface="B Nazanin" pitchFamily="2" charset="-78"/>
              </a:rPr>
              <a:t>مقالات مهم را دانلود کرده و با مرحله دوم بخوانید.</a:t>
            </a:r>
          </a:p>
          <a:p>
            <a:pPr algn="r" rtl="1"/>
            <a:r>
              <a:rPr lang="fa-IR" sz="2000" dirty="0">
                <a:latin typeface="Aptos" panose="020B0004020202020204" pitchFamily="34" charset="0"/>
                <a:cs typeface="B Nazanin" pitchFamily="2" charset="-78"/>
              </a:rPr>
              <a:t>در نهایت، با مرور </a:t>
            </a:r>
            <a:r>
              <a:rPr lang="fa-IR" sz="2000" dirty="0" err="1">
                <a:latin typeface="Aptos" panose="020B0004020202020204" pitchFamily="34" charset="0"/>
                <a:cs typeface="B Nazanin" pitchFamily="2" charset="-78"/>
              </a:rPr>
              <a:t>کنفرانس‌های</a:t>
            </a:r>
            <a:r>
              <a:rPr lang="fa-IR" sz="2000" dirty="0">
                <a:latin typeface="Aptos" panose="020B0004020202020204" pitchFamily="34" charset="0"/>
                <a:cs typeface="B Nazanin" pitchFamily="2" charset="-78"/>
              </a:rPr>
              <a:t> معتبر و مقالات کلیدی، یک تصویر جامع از حوزه پژوهشی به دست آورید.</a:t>
            </a:r>
          </a:p>
          <a:p>
            <a:pPr algn="r">
              <a:lnSpc>
                <a:spcPct val="95000"/>
              </a:lnSpc>
            </a:pPr>
            <a:endParaRPr lang="en-US" sz="2000" dirty="0">
              <a:latin typeface="Aptos" panose="020B0004020202020204" pitchFamily="34" charset="0"/>
              <a:cs typeface="B Nazanin" pitchFamily="2" charset="-78"/>
            </a:endParaRPr>
          </a:p>
        </p:txBody>
      </p:sp>
      <p:pic>
        <p:nvPicPr>
          <p:cNvPr id="5" name="Picture 4" descr="A white symbol with a black background">
            <a:extLst>
              <a:ext uri="{FF2B5EF4-FFF2-40B4-BE49-F238E27FC236}">
                <a16:creationId xmlns:a16="http://schemas.microsoft.com/office/drawing/2014/main" id="{365299CC-048B-7B3B-88F2-E70949B1341E}"/>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749993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B9D0F4-34FF-457E-B55D-FF33F36568BD}"/>
              </a:ext>
            </a:extLst>
          </p:cNvPr>
          <p:cNvSpPr>
            <a:spLocks noGrp="1"/>
          </p:cNvSpPr>
          <p:nvPr>
            <p:ph idx="1"/>
          </p:nvPr>
        </p:nvSpPr>
        <p:spPr>
          <a:xfrm>
            <a:off x="1446212" y="33728"/>
            <a:ext cx="10157354" cy="914400"/>
          </a:xfrm>
        </p:spPr>
        <p:txBody>
          <a:bodyPr>
            <a:normAutofit/>
          </a:bodyPr>
          <a:lstStyle/>
          <a:p>
            <a:pPr marL="0" indent="0" algn="r" defTabSz="1218987" rtl="1" eaLnBrk="1" latinLnBrk="0" hangingPunct="1">
              <a:lnSpc>
                <a:spcPct val="95000"/>
              </a:lnSpc>
              <a:spcBef>
                <a:spcPts val="1866"/>
              </a:spcBef>
              <a:buClr>
                <a:schemeClr val="accent6">
                  <a:lumMod val="50000"/>
                </a:schemeClr>
              </a:buClr>
              <a:buSzPct val="100000"/>
              <a:buFont typeface="Arial" pitchFamily="34" charset="0"/>
              <a:buNone/>
            </a:pPr>
            <a:r>
              <a:rPr lang="fa-IR" sz="5000" dirty="0">
                <a:solidFill>
                  <a:schemeClr val="accent2">
                    <a:lumMod val="50000"/>
                  </a:schemeClr>
                </a:solidFill>
                <a:latin typeface="Times New Roman" panose="02020603050405020304" pitchFamily="18" charset="0"/>
                <a:cs typeface="Times New Roman" panose="02020603050405020304" pitchFamily="18" charset="0"/>
              </a:rPr>
              <a:t>نحوه دسترسی به مقاله</a:t>
            </a:r>
            <a:endParaRPr lang="en-US" sz="50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34F5F60-018F-830E-9255-0DCE9BEA61BB}"/>
              </a:ext>
            </a:extLst>
          </p:cNvPr>
          <p:cNvSpPr txBox="1"/>
          <p:nvPr/>
        </p:nvSpPr>
        <p:spPr>
          <a:xfrm>
            <a:off x="783166" y="948128"/>
            <a:ext cx="10820400" cy="4974439"/>
          </a:xfrm>
          <a:prstGeom prst="rect">
            <a:avLst/>
          </a:prstGeom>
          <a:noFill/>
        </p:spPr>
        <p:txBody>
          <a:bodyPr wrap="square" rtlCol="0">
            <a:spAutoFit/>
          </a:bodyPr>
          <a:lstStyle/>
          <a:p>
            <a:pPr algn="r" rtl="1">
              <a:lnSpc>
                <a:spcPct val="95000"/>
              </a:lnSpc>
            </a:pPr>
            <a:r>
              <a:rPr lang="fa-IR" sz="2000" dirty="0">
                <a:latin typeface="Aptos" panose="020B0004020202020204" pitchFamily="34" charset="0"/>
                <a:cs typeface="B Nazanin" pitchFamily="2" charset="-78"/>
              </a:rPr>
              <a:t>برای دسترسی به مقاله علمی، چند مسیر اصلی وجود دارد که بسته به نوع مقاله و ناشر متفاوت است:</a:t>
            </a:r>
          </a:p>
          <a:p>
            <a:pPr algn="r" rtl="1">
              <a:lnSpc>
                <a:spcPct val="95000"/>
              </a:lnSpc>
            </a:pPr>
            <a:endParaRPr lang="fa-IR" sz="2000" dirty="0">
              <a:latin typeface="Aptos" panose="020B0004020202020204" pitchFamily="34" charset="0"/>
              <a:cs typeface="B Nazanin" pitchFamily="2" charset="-78"/>
            </a:endParaRPr>
          </a:p>
          <a:p>
            <a:pPr algn="r" rtl="1"/>
            <a:r>
              <a:rPr lang="fa-IR" sz="2000" b="1" dirty="0" err="1">
                <a:latin typeface="Aptos" panose="020B0004020202020204" pitchFamily="34" charset="0"/>
                <a:cs typeface="B Nazanin" pitchFamily="2" charset="-78"/>
              </a:rPr>
              <a:t>وب‌سایت</a:t>
            </a:r>
            <a:r>
              <a:rPr lang="fa-IR" sz="2000" b="1" dirty="0">
                <a:latin typeface="Aptos" panose="020B0004020202020204" pitchFamily="34" charset="0"/>
                <a:cs typeface="B Nazanin" pitchFamily="2" charset="-78"/>
              </a:rPr>
              <a:t> ناشر یا مجله: </a:t>
            </a:r>
          </a:p>
          <a:p>
            <a:pPr algn="r" rtl="1"/>
            <a:r>
              <a:rPr lang="fa-IR" sz="2000" dirty="0">
                <a:latin typeface="Aptos" panose="020B0004020202020204" pitchFamily="34" charset="0"/>
                <a:cs typeface="B Nazanin" pitchFamily="2" charset="-78"/>
              </a:rPr>
              <a:t>اگر مقاله در </a:t>
            </a:r>
            <a:r>
              <a:rPr lang="fa-IR" sz="2000" dirty="0" err="1">
                <a:latin typeface="Aptos" panose="020B0004020202020204" pitchFamily="34" charset="0"/>
                <a:cs typeface="B Nazanin" pitchFamily="2" charset="-78"/>
              </a:rPr>
              <a:t>مجلاتی</a:t>
            </a:r>
            <a:r>
              <a:rPr lang="fa-IR" sz="2000" dirty="0">
                <a:latin typeface="Aptos" panose="020B0004020202020204" pitchFamily="34" charset="0"/>
                <a:cs typeface="B Nazanin" pitchFamily="2" charset="-78"/>
              </a:rPr>
              <a:t> مثل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Elsevier, Springer, IEEE, Wiley </a:t>
            </a:r>
            <a:r>
              <a:rPr lang="fa-IR" sz="2000" dirty="0">
                <a:latin typeface="Aptos" panose="020B0004020202020204" pitchFamily="34" charset="0"/>
                <a:cs typeface="B Nazanin" pitchFamily="2" charset="-78"/>
              </a:rPr>
              <a:t>منتشر شده باشد، </a:t>
            </a:r>
            <a:r>
              <a:rPr lang="fa-IR" sz="2000" dirty="0" err="1">
                <a:latin typeface="Aptos" panose="020B0004020202020204" pitchFamily="34" charset="0"/>
                <a:cs typeface="B Nazanin" pitchFamily="2" charset="-78"/>
              </a:rPr>
              <a:t>می‌توانید</a:t>
            </a:r>
            <a:r>
              <a:rPr lang="fa-IR" sz="2000" dirty="0">
                <a:latin typeface="Aptos" panose="020B0004020202020204" pitchFamily="34" charset="0"/>
                <a:cs typeface="B Nazanin" pitchFamily="2" charset="-78"/>
              </a:rPr>
              <a:t> از </a:t>
            </a:r>
            <a:r>
              <a:rPr lang="fa-IR" sz="2000" dirty="0" err="1">
                <a:latin typeface="Aptos" panose="020B0004020202020204" pitchFamily="34" charset="0"/>
                <a:cs typeface="B Nazanin" pitchFamily="2" charset="-78"/>
              </a:rPr>
              <a:t>وب‌سایت</a:t>
            </a:r>
            <a:r>
              <a:rPr lang="fa-IR" sz="2000" dirty="0">
                <a:latin typeface="Aptos" panose="020B0004020202020204" pitchFamily="34" charset="0"/>
                <a:cs typeface="B Nazanin" pitchFamily="2" charset="-78"/>
              </a:rPr>
              <a:t> رسمی مجله یا ناشر آن را دانلود کنید. معمولاً نیاز به اشتراک یا پرداخت هزینه دارد.</a:t>
            </a:r>
          </a:p>
          <a:p>
            <a:pPr algn="r" rtl="1"/>
            <a:endParaRPr lang="fa-IR" sz="2000" dirty="0">
              <a:latin typeface="Aptos" panose="020B0004020202020204" pitchFamily="34" charset="0"/>
              <a:cs typeface="B Nazanin" pitchFamily="2" charset="-78"/>
            </a:endParaRPr>
          </a:p>
          <a:p>
            <a:pPr algn="r" rtl="1"/>
            <a:r>
              <a:rPr lang="fa-IR" sz="2000" b="1" dirty="0">
                <a:latin typeface="Aptos" panose="020B0004020202020204" pitchFamily="34" charset="0"/>
                <a:cs typeface="B Nazanin" pitchFamily="2" charset="-78"/>
              </a:rPr>
              <a:t>دانشگاه یا کتابخانه:  </a:t>
            </a:r>
          </a:p>
          <a:p>
            <a:pPr algn="r" rtl="1"/>
            <a:r>
              <a:rPr lang="fa-IR" sz="2000" dirty="0">
                <a:latin typeface="Aptos" panose="020B0004020202020204" pitchFamily="34" charset="0"/>
                <a:cs typeface="B Nazanin" pitchFamily="2" charset="-78"/>
              </a:rPr>
              <a:t>بسیاری از </a:t>
            </a:r>
            <a:r>
              <a:rPr lang="fa-IR" sz="2000" dirty="0" err="1">
                <a:latin typeface="Aptos" panose="020B0004020202020204" pitchFamily="34" charset="0"/>
                <a:cs typeface="B Nazanin" pitchFamily="2" charset="-78"/>
              </a:rPr>
              <a:t>دانشگاه‌ها</a:t>
            </a:r>
            <a:r>
              <a:rPr lang="fa-IR" sz="2000" dirty="0">
                <a:latin typeface="Aptos" panose="020B0004020202020204" pitchFamily="34" charset="0"/>
                <a:cs typeface="B Nazanin" pitchFamily="2" charset="-78"/>
              </a:rPr>
              <a:t> و مؤسسات پژوهشی دسترسی رایگان یا اشتراکی به </a:t>
            </a:r>
            <a:r>
              <a:rPr lang="fa-IR" sz="2000" dirty="0" err="1">
                <a:latin typeface="Aptos" panose="020B0004020202020204" pitchFamily="34" charset="0"/>
                <a:cs typeface="B Nazanin" pitchFamily="2" charset="-78"/>
              </a:rPr>
              <a:t>پایگاه‌های</a:t>
            </a:r>
            <a:r>
              <a:rPr lang="fa-IR" sz="2000" dirty="0">
                <a:latin typeface="Aptos" panose="020B0004020202020204" pitchFamily="34" charset="0"/>
                <a:cs typeface="B Nazanin" pitchFamily="2" charset="-78"/>
              </a:rPr>
              <a:t> علمی دارند. اگر عضو دانشگاه هستید، </a:t>
            </a:r>
            <a:r>
              <a:rPr lang="fa-IR" sz="2000" dirty="0" err="1">
                <a:latin typeface="Aptos" panose="020B0004020202020204" pitchFamily="34" charset="0"/>
                <a:cs typeface="B Nazanin" pitchFamily="2" charset="-78"/>
              </a:rPr>
              <a:t>می‌توانید</a:t>
            </a:r>
            <a:r>
              <a:rPr lang="fa-IR" sz="2000" dirty="0">
                <a:latin typeface="Aptos" panose="020B0004020202020204" pitchFamily="34" charset="0"/>
                <a:cs typeface="B Nazanin" pitchFamily="2" charset="-78"/>
              </a:rPr>
              <a:t> از طریق کتابخانه دیجیتال یا </a:t>
            </a:r>
            <a:r>
              <a:rPr lang="en-US" sz="1900" dirty="0">
                <a:latin typeface="Aptos" panose="020B0004020202020204" pitchFamily="34" charset="0"/>
                <a:cs typeface="B Nazanin" pitchFamily="2" charset="-78"/>
              </a:rPr>
              <a:t>VPN</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 دانشگاه وارد شوید.</a:t>
            </a:r>
          </a:p>
          <a:p>
            <a:pPr algn="r" rtl="1"/>
            <a:endParaRPr lang="fa-IR" sz="2000" dirty="0">
              <a:latin typeface="Aptos" panose="020B0004020202020204" pitchFamily="34" charset="0"/>
              <a:cs typeface="B Nazanin" pitchFamily="2" charset="-78"/>
            </a:endParaRPr>
          </a:p>
          <a:p>
            <a:pPr algn="r" rtl="1"/>
            <a:r>
              <a:rPr lang="fa-IR" sz="2000" b="1" dirty="0" err="1">
                <a:latin typeface="Aptos" panose="020B0004020202020204" pitchFamily="34" charset="0"/>
                <a:cs typeface="B Nazanin" pitchFamily="2" charset="-78"/>
              </a:rPr>
              <a:t>پایگاه‌های</a:t>
            </a:r>
            <a:r>
              <a:rPr lang="fa-IR" sz="2000" b="1" dirty="0">
                <a:latin typeface="Aptos" panose="020B0004020202020204" pitchFamily="34" charset="0"/>
                <a:cs typeface="B Nazanin" pitchFamily="2" charset="-78"/>
              </a:rPr>
              <a:t> علمی آزاد:</a:t>
            </a:r>
          </a:p>
          <a:p>
            <a:pPr algn="r" rtl="1"/>
            <a:r>
              <a:rPr lang="fa-IR" sz="2000" dirty="0">
                <a:latin typeface="Aptos" panose="020B0004020202020204" pitchFamily="34" charset="0"/>
                <a:cs typeface="B Nazanin" pitchFamily="2" charset="-78"/>
              </a:rPr>
              <a:t>پایگاه علمی مقالات فارسی </a:t>
            </a:r>
            <a:r>
              <a:rPr lang="en-US" sz="1900" dirty="0" err="1">
                <a:latin typeface="Aptos" panose="020B0004020202020204" pitchFamily="34" charset="0"/>
                <a:cs typeface="B Nazanin" pitchFamily="2" charset="-78"/>
                <a:hlinkClick r:id="rId2"/>
              </a:rPr>
              <a:t>Civilica</a:t>
            </a:r>
            <a:endParaRPr lang="fa-IR" sz="1900" dirty="0">
              <a:latin typeface="Aptos" panose="020B0004020202020204" pitchFamily="34" charset="0"/>
              <a:cs typeface="B Nazanin" pitchFamily="2" charset="-78"/>
            </a:endParaRPr>
          </a:p>
          <a:p>
            <a:pPr lvl="1" algn="r"/>
            <a:r>
              <a:rPr lang="en-US" sz="1900" dirty="0">
                <a:latin typeface="Aptos" panose="020B0004020202020204" pitchFamily="34" charset="0"/>
                <a:cs typeface="B Nazanin" pitchFamily="2" charset="-78"/>
                <a:hlinkClick r:id="rId3"/>
              </a:rPr>
              <a:t>Google Scholar</a:t>
            </a:r>
            <a:r>
              <a:rPr lang="en-US" sz="19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برای جستجوی </a:t>
            </a:r>
            <a:r>
              <a:rPr lang="fa-IR" sz="2000" dirty="0" err="1">
                <a:latin typeface="Aptos" panose="020B0004020202020204" pitchFamily="34" charset="0"/>
                <a:cs typeface="B Nazanin" pitchFamily="2" charset="-78"/>
              </a:rPr>
              <a:t>مقاله‌ها</a:t>
            </a:r>
            <a:endParaRPr lang="fa-IR" sz="2000" dirty="0">
              <a:latin typeface="Aptos" panose="020B0004020202020204" pitchFamily="34" charset="0"/>
              <a:cs typeface="B Nazanin" pitchFamily="2" charset="-78"/>
            </a:endParaRPr>
          </a:p>
          <a:p>
            <a:pPr lvl="1" algn="r"/>
            <a:r>
              <a:rPr lang="en-US" sz="1900" dirty="0">
                <a:latin typeface="Aptos" panose="020B0004020202020204" pitchFamily="34" charset="0"/>
                <a:cs typeface="B Nazanin" pitchFamily="2" charset="-78"/>
                <a:hlinkClick r:id="rId4"/>
              </a:rPr>
              <a:t>PubMed</a:t>
            </a:r>
            <a:r>
              <a:rPr lang="fa-IR" sz="2000" dirty="0">
                <a:latin typeface="Aptos" panose="020B0004020202020204" pitchFamily="34" charset="0"/>
                <a:cs typeface="B Nazanin" pitchFamily="2" charset="-78"/>
              </a:rPr>
              <a:t>برای مقالات پزشکی و زیستی </a:t>
            </a:r>
          </a:p>
          <a:p>
            <a:pPr lvl="1" algn="r"/>
            <a:r>
              <a:rPr lang="en-US" sz="1900" dirty="0">
                <a:latin typeface="Aptos" panose="020B0004020202020204" pitchFamily="34" charset="0"/>
                <a:cs typeface="B Nazanin" pitchFamily="2" charset="-78"/>
                <a:hlinkClick r:id="rId5"/>
              </a:rPr>
              <a:t>arXiv</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برای مقالات رایگان در </a:t>
            </a:r>
            <a:r>
              <a:rPr lang="fa-IR" sz="2000" dirty="0" err="1">
                <a:latin typeface="Aptos" panose="020B0004020202020204" pitchFamily="34" charset="0"/>
                <a:cs typeface="B Nazanin" pitchFamily="2" charset="-78"/>
              </a:rPr>
              <a:t>حوزه‌های</a:t>
            </a:r>
            <a:r>
              <a:rPr lang="fa-IR" sz="2000" dirty="0">
                <a:latin typeface="Aptos" panose="020B0004020202020204" pitchFamily="34" charset="0"/>
                <a:cs typeface="B Nazanin" pitchFamily="2" charset="-78"/>
              </a:rPr>
              <a:t> ریاضی، فیزیک، کامپیوتر و علوم داده </a:t>
            </a:r>
          </a:p>
          <a:p>
            <a:pPr marL="0" algn="r" defTabSz="1218987" rtl="1" eaLnBrk="1" latinLnBrk="0" hangingPunct="1">
              <a:lnSpc>
                <a:spcPct val="95000"/>
              </a:lnSpc>
            </a:pPr>
            <a:endParaRPr lang="en-US" sz="2000" dirty="0">
              <a:latin typeface="Aptos" panose="020B0004020202020204" pitchFamily="34" charset="0"/>
              <a:cs typeface="B Nazanin" pitchFamily="2" charset="-78"/>
            </a:endParaRPr>
          </a:p>
        </p:txBody>
      </p:sp>
      <p:pic>
        <p:nvPicPr>
          <p:cNvPr id="5" name="Picture 4" descr="A white symbol with a black background">
            <a:extLst>
              <a:ext uri="{FF2B5EF4-FFF2-40B4-BE49-F238E27FC236}">
                <a16:creationId xmlns:a16="http://schemas.microsoft.com/office/drawing/2014/main" id="{49C3F8B3-EE9E-0148-F179-5FA033297AC8}"/>
              </a:ext>
            </a:extLst>
          </p:cNvPr>
          <p:cNvPicPr>
            <a:picLocks noChangeAspect="1"/>
          </p:cNvPicPr>
          <p:nvPr/>
        </p:nvPicPr>
        <p:blipFill>
          <a:blip r:embed="rId6" cstate="print">
            <a:alphaModFix amt="12000"/>
            <a:extLst>
              <a:ext uri="{BEBA8EAE-BF5A-486C-A8C5-ECC9F3942E4B}">
                <a14:imgProps xmlns:a14="http://schemas.microsoft.com/office/drawing/2010/main">
                  <a14:imgLayer r:embed="rId7">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3804346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C547B5-7A2C-C8EB-1707-D8FBA08965D7}"/>
              </a:ext>
            </a:extLst>
          </p:cNvPr>
          <p:cNvSpPr>
            <a:spLocks noGrp="1"/>
          </p:cNvSpPr>
          <p:nvPr>
            <p:ph idx="1"/>
          </p:nvPr>
        </p:nvSpPr>
        <p:spPr/>
        <p:txBody>
          <a:bodyPr/>
          <a:lstStyle/>
          <a:p>
            <a:pPr marL="0" indent="0" algn="r" rtl="1">
              <a:buNone/>
            </a:pPr>
            <a:r>
              <a:rPr lang="fa-IR" sz="2000" b="1" dirty="0" err="1">
                <a:latin typeface="Aptos" panose="020B0004020202020204" pitchFamily="34" charset="0"/>
                <a:cs typeface="B Nazanin" pitchFamily="2" charset="-78"/>
              </a:rPr>
              <a:t>شبکه‌های</a:t>
            </a:r>
            <a:r>
              <a:rPr lang="fa-IR" sz="2000" b="1" dirty="0">
                <a:latin typeface="Aptos" panose="020B0004020202020204" pitchFamily="34" charset="0"/>
                <a:cs typeface="B Nazanin" pitchFamily="2" charset="-78"/>
              </a:rPr>
              <a:t> پژوهشی:  </a:t>
            </a:r>
          </a:p>
          <a:p>
            <a:pPr marL="0" indent="0" algn="r" rtl="1">
              <a:buNone/>
            </a:pPr>
            <a:r>
              <a:rPr lang="fa-IR" sz="2000" dirty="0" err="1">
                <a:latin typeface="Aptos" panose="020B0004020202020204" pitchFamily="34" charset="0"/>
                <a:cs typeface="B Nazanin" pitchFamily="2" charset="-78"/>
              </a:rPr>
              <a:t>وب‌سایت‌هایی</a:t>
            </a:r>
            <a:r>
              <a:rPr lang="fa-IR" sz="2000" dirty="0">
                <a:latin typeface="Aptos" panose="020B0004020202020204" pitchFamily="34" charset="0"/>
                <a:cs typeface="B Nazanin" pitchFamily="2" charset="-78"/>
              </a:rPr>
              <a:t> مثل</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ResearchGate</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یا </a:t>
            </a:r>
            <a:r>
              <a:rPr lang="en-US" sz="2000" dirty="0">
                <a:latin typeface="Aptos" panose="020B0004020202020204" pitchFamily="34" charset="0"/>
                <a:cs typeface="B Nazanin" pitchFamily="2" charset="-78"/>
              </a:rPr>
              <a:t> </a:t>
            </a:r>
            <a:r>
              <a:rPr lang="en-US" sz="1900" dirty="0">
                <a:latin typeface="Aptos" panose="020B0004020202020204" pitchFamily="34" charset="0"/>
                <a:cs typeface="B Nazanin" pitchFamily="2" charset="-78"/>
              </a:rPr>
              <a:t>Academia.edu</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جایی هستند که نویسندگان مقاله </a:t>
            </a:r>
            <a:r>
              <a:rPr lang="fa-IR" sz="2000" dirty="0" err="1">
                <a:latin typeface="Aptos" panose="020B0004020202020204" pitchFamily="34" charset="0"/>
                <a:cs typeface="B Nazanin" pitchFamily="2" charset="-78"/>
              </a:rPr>
              <a:t>نسخه‌ای</a:t>
            </a:r>
            <a:r>
              <a:rPr lang="fa-IR" sz="2000" dirty="0">
                <a:latin typeface="Aptos" panose="020B0004020202020204" pitchFamily="34" charset="0"/>
                <a:cs typeface="B Nazanin" pitchFamily="2" charset="-78"/>
              </a:rPr>
              <a:t> از کارشان را به اشتراک </a:t>
            </a:r>
            <a:r>
              <a:rPr lang="fa-IR" sz="2000" dirty="0" err="1">
                <a:latin typeface="Aptos" panose="020B0004020202020204" pitchFamily="34" charset="0"/>
                <a:cs typeface="B Nazanin" pitchFamily="2" charset="-78"/>
              </a:rPr>
              <a:t>می‌گذارند</a:t>
            </a:r>
            <a:r>
              <a:rPr lang="fa-IR" sz="2000" dirty="0">
                <a:latin typeface="Aptos" panose="020B0004020202020204" pitchFamily="34" charset="0"/>
                <a:cs typeface="B Nazanin" pitchFamily="2" charset="-78"/>
              </a:rPr>
              <a:t>.</a:t>
            </a:r>
          </a:p>
          <a:p>
            <a:pPr marL="0" indent="0" algn="r" rtl="1">
              <a:buNone/>
            </a:pPr>
            <a:r>
              <a:rPr lang="fa-IR" sz="2000" dirty="0">
                <a:latin typeface="Aptos" panose="020B0004020202020204" pitchFamily="34" charset="0"/>
                <a:cs typeface="B Nazanin" pitchFamily="2" charset="-78"/>
              </a:rPr>
              <a:t>ارتباط مستقیم با نویسنده  </a:t>
            </a:r>
          </a:p>
          <a:p>
            <a:pPr marL="0" indent="0" algn="r" rtl="1">
              <a:buNone/>
            </a:pPr>
            <a:r>
              <a:rPr lang="fa-IR" sz="2000" dirty="0">
                <a:latin typeface="Aptos" panose="020B0004020202020204" pitchFamily="34" charset="0"/>
                <a:cs typeface="B Nazanin" pitchFamily="2" charset="-78"/>
              </a:rPr>
              <a:t>اگر مقاله پشت دیوار پرداخت باشد، </a:t>
            </a:r>
            <a:r>
              <a:rPr lang="fa-IR" sz="2000" dirty="0" err="1">
                <a:latin typeface="Aptos" panose="020B0004020202020204" pitchFamily="34" charset="0"/>
                <a:cs typeface="B Nazanin" pitchFamily="2" charset="-78"/>
              </a:rPr>
              <a:t>می‌توانید</a:t>
            </a:r>
            <a:r>
              <a:rPr lang="fa-IR" sz="2000" dirty="0">
                <a:latin typeface="Aptos" panose="020B0004020202020204" pitchFamily="34" charset="0"/>
                <a:cs typeface="B Nazanin" pitchFamily="2" charset="-78"/>
              </a:rPr>
              <a:t> به نویسنده ایمیل بزنید. بسیاری از پژوهشگران نسخه</a:t>
            </a:r>
            <a:r>
              <a:rPr lang="en-US" sz="1900" dirty="0">
                <a:latin typeface="Aptos" panose="020B0004020202020204" pitchFamily="34" charset="0"/>
                <a:cs typeface="B Nazanin" pitchFamily="2" charset="-78"/>
              </a:rPr>
              <a:t>PDF</a:t>
            </a:r>
            <a:r>
              <a:rPr lang="en-US" sz="2000" dirty="0">
                <a:latin typeface="Aptos" panose="020B0004020202020204" pitchFamily="34" charset="0"/>
                <a:cs typeface="B Nazanin" pitchFamily="2" charset="-78"/>
              </a:rPr>
              <a:t> </a:t>
            </a:r>
            <a:r>
              <a:rPr lang="fa-IR" sz="2000" dirty="0">
                <a:latin typeface="Aptos" panose="020B0004020202020204" pitchFamily="34" charset="0"/>
                <a:cs typeface="B Nazanin" pitchFamily="2" charset="-78"/>
              </a:rPr>
              <a:t> مقاله را </a:t>
            </a:r>
            <a:r>
              <a:rPr lang="fa-IR" sz="2000" dirty="0" err="1">
                <a:latin typeface="Aptos" panose="020B0004020202020204" pitchFamily="34" charset="0"/>
                <a:cs typeface="B Nazanin" pitchFamily="2" charset="-78"/>
              </a:rPr>
              <a:t>به‌صورت</a:t>
            </a:r>
            <a:r>
              <a:rPr lang="fa-IR" sz="2000" dirty="0">
                <a:latin typeface="Aptos" panose="020B0004020202020204" pitchFamily="34" charset="0"/>
                <a:cs typeface="B Nazanin" pitchFamily="2" charset="-78"/>
              </a:rPr>
              <a:t> رایگان در اختیار </a:t>
            </a:r>
            <a:r>
              <a:rPr lang="fa-IR" sz="2000" dirty="0" err="1">
                <a:latin typeface="Aptos" panose="020B0004020202020204" pitchFamily="34" charset="0"/>
                <a:cs typeface="B Nazanin" pitchFamily="2" charset="-78"/>
              </a:rPr>
              <a:t>علاقه‌مندان</a:t>
            </a:r>
            <a:r>
              <a:rPr lang="fa-IR" sz="2000" dirty="0">
                <a:latin typeface="Aptos" panose="020B0004020202020204" pitchFamily="34" charset="0"/>
                <a:cs typeface="B Nazanin" pitchFamily="2" charset="-78"/>
              </a:rPr>
              <a:t> قرار </a:t>
            </a:r>
            <a:r>
              <a:rPr lang="fa-IR" sz="2000" dirty="0" err="1">
                <a:latin typeface="Aptos" panose="020B0004020202020204" pitchFamily="34" charset="0"/>
                <a:cs typeface="B Nazanin" pitchFamily="2" charset="-78"/>
              </a:rPr>
              <a:t>می‌دهند</a:t>
            </a:r>
            <a:r>
              <a:rPr lang="fa-IR" sz="2000" dirty="0">
                <a:latin typeface="Aptos" panose="020B0004020202020204" pitchFamily="34" charset="0"/>
                <a:cs typeface="B Nazanin" pitchFamily="2" charset="-78"/>
              </a:rPr>
              <a:t>.</a:t>
            </a:r>
          </a:p>
          <a:p>
            <a:pPr marL="0" indent="0" algn="r" rtl="1">
              <a:buNone/>
            </a:pPr>
            <a:endParaRPr lang="en-US" sz="2000" dirty="0">
              <a:latin typeface="Aptos" panose="020B0004020202020204" pitchFamily="34" charset="0"/>
            </a:endParaRPr>
          </a:p>
        </p:txBody>
      </p:sp>
      <p:pic>
        <p:nvPicPr>
          <p:cNvPr id="5" name="Picture 4" descr="A white symbol with a black background">
            <a:extLst>
              <a:ext uri="{FF2B5EF4-FFF2-40B4-BE49-F238E27FC236}">
                <a16:creationId xmlns:a16="http://schemas.microsoft.com/office/drawing/2014/main" id="{AF295E8C-DDF7-2B9B-0D7D-8DBE2016194F}"/>
              </a:ext>
            </a:extLst>
          </p:cNvPr>
          <p:cNvPicPr>
            <a:picLocks noChangeAspect="1"/>
          </p:cNvPicPr>
          <p:nvPr/>
        </p:nvPicPr>
        <p:blipFill>
          <a:blip r:embed="rId2" cstate="print">
            <a:alphaModFix amt="12000"/>
            <a:extLst>
              <a:ext uri="{BEBA8EAE-BF5A-486C-A8C5-ECC9F3942E4B}">
                <a14:imgProps xmlns:a14="http://schemas.microsoft.com/office/drawing/2010/main">
                  <a14:imgLayer r:embed="rId3">
                    <a14:imgEffect>
                      <a14:colorTemperature colorTemp="47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418481" y="152400"/>
            <a:ext cx="11351862" cy="6300741"/>
          </a:xfrm>
          <a:prstGeom prst="rect">
            <a:avLst/>
          </a:prstGeom>
        </p:spPr>
      </p:pic>
    </p:spTree>
    <p:extLst>
      <p:ext uri="{BB962C8B-B14F-4D97-AF65-F5344CB8AC3E}">
        <p14:creationId xmlns:p14="http://schemas.microsoft.com/office/powerpoint/2010/main" val="2834937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elcome back to school presentat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Welcome back to school presentation.potx" id="{CE426E4B-AEF0-4DB0-AA06-9B9EF2E62E1A}" vid="{EB2D3276-CBF5-48AD-B47E-C2D79CA4C86F}"/>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Welcome back to school</Template>
  <TotalTime>2013</TotalTime>
  <Words>3952</Words>
  <Application>Microsoft Office PowerPoint</Application>
  <PresentationFormat>Custom</PresentationFormat>
  <Paragraphs>266</Paragraphs>
  <Slides>27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Aptos</vt:lpstr>
      <vt:lpstr>Arial</vt:lpstr>
      <vt:lpstr>B Mitra</vt:lpstr>
      <vt:lpstr>B Nazanin</vt:lpstr>
      <vt:lpstr>Cambria Math</vt:lpstr>
      <vt:lpstr>Century Gothic</vt:lpstr>
      <vt:lpstr>Times New Roman</vt:lpstr>
      <vt:lpstr>X Nazanin</vt:lpstr>
      <vt:lpstr>Welcome back to school presentation</vt:lpstr>
      <vt:lpstr>کارگاه مقاله نویسی بخش اول</vt:lpstr>
      <vt:lpstr>سرفصل ها</vt:lpstr>
      <vt:lpstr>مقدمه</vt:lpstr>
      <vt:lpstr>PowerPoint Presentation</vt:lpstr>
      <vt:lpstr>انواع مقاله</vt:lpstr>
      <vt:lpstr>PowerPoint Presentation</vt:lpstr>
      <vt:lpstr>PowerPoint Presentation</vt:lpstr>
      <vt:lpstr>PowerPoint Presentation</vt:lpstr>
      <vt:lpstr>رده بندی انواع مقاله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riza ahmadi</dc:creator>
  <cp:lastModifiedBy>riza ahmadi</cp:lastModifiedBy>
  <cp:revision>72</cp:revision>
  <dcterms:created xsi:type="dcterms:W3CDTF">2025-10-24T17:41:00Z</dcterms:created>
  <dcterms:modified xsi:type="dcterms:W3CDTF">2025-12-07T09:44:27Z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